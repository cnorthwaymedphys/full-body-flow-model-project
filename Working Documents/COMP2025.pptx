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0" r:id="rId2"/>
    <p:sldId id="258" r:id="rId3"/>
    <p:sldId id="274" r:id="rId4"/>
    <p:sldId id="259" r:id="rId5"/>
    <p:sldId id="279" r:id="rId6"/>
    <p:sldId id="264" r:id="rId7"/>
    <p:sldId id="271" r:id="rId8"/>
    <p:sldId id="281" r:id="rId9"/>
    <p:sldId id="272" r:id="rId10"/>
    <p:sldId id="282" r:id="rId11"/>
    <p:sldId id="290" r:id="rId12"/>
    <p:sldId id="280" r:id="rId13"/>
    <p:sldId id="284" r:id="rId14"/>
    <p:sldId id="268" r:id="rId15"/>
    <p:sldId id="286" r:id="rId16"/>
    <p:sldId id="287" r:id="rId17"/>
    <p:sldId id="269" r:id="rId18"/>
    <p:sldId id="276" r:id="rId19"/>
    <p:sldId id="289" r:id="rId20"/>
    <p:sldId id="277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6E9"/>
    <a:srgbClr val="FF0000"/>
    <a:srgbClr val="0DBFD5"/>
    <a:srgbClr val="905AA6"/>
    <a:srgbClr val="0000FF"/>
    <a:srgbClr val="FFBC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TuningResul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TuningResul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Tuning Results</c:v>
                </c:pt>
              </c:strCache>
            </c:strRef>
          </c:tx>
          <c:spPr>
            <a:solidFill>
              <a:srgbClr val="905AA6"/>
            </a:solidFill>
            <a:ln>
              <a:noFill/>
            </a:ln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Brain</c:v>
                </c:pt>
                <c:pt idx="1">
                  <c:v> Stomach</c:v>
                </c:pt>
                <c:pt idx="2">
                  <c:v> S. Intestine</c:v>
                </c:pt>
                <c:pt idx="3">
                  <c:v> L. Intestine</c:v>
                </c:pt>
                <c:pt idx="4">
                  <c:v> Heart</c:v>
                </c:pt>
                <c:pt idx="5">
                  <c:v>Kidneys</c:v>
                </c:pt>
                <c:pt idx="6">
                  <c:v> Liver</c:v>
                </c:pt>
                <c:pt idx="7">
                  <c:v>Pulmonary</c:v>
                </c:pt>
                <c:pt idx="8">
                  <c:v> Pancreas</c:v>
                </c:pt>
                <c:pt idx="9">
                  <c:v> Spleen</c:v>
                </c:pt>
                <c:pt idx="10">
                  <c:v> Aorta and L. Arteries</c:v>
                </c:pt>
                <c:pt idx="11">
                  <c:v> L. Veins</c:v>
                </c:pt>
                <c:pt idx="12">
                  <c:v> Distributed Tissues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0.20899999999999999</c:v>
                </c:pt>
                <c:pt idx="1">
                  <c:v>1.968</c:v>
                </c:pt>
                <c:pt idx="2">
                  <c:v>2.1680000000000001</c:v>
                </c:pt>
                <c:pt idx="3">
                  <c:v>0.69699999999999995</c:v>
                </c:pt>
                <c:pt idx="4">
                  <c:v>1.9929999999999899</c:v>
                </c:pt>
                <c:pt idx="5">
                  <c:v>0.89700000000000002</c:v>
                </c:pt>
                <c:pt idx="6">
                  <c:v>4.7190000000000003</c:v>
                </c:pt>
                <c:pt idx="7">
                  <c:v>13.215999999999999</c:v>
                </c:pt>
                <c:pt idx="8">
                  <c:v>0.34499999999999997</c:v>
                </c:pt>
                <c:pt idx="9">
                  <c:v>0.75800000000000001</c:v>
                </c:pt>
                <c:pt idx="10">
                  <c:v>4.0979999999999999</c:v>
                </c:pt>
                <c:pt idx="11">
                  <c:v>38.191000000000003</c:v>
                </c:pt>
                <c:pt idx="12">
                  <c:v>30.741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A9-4934-8E5D-39B53C4F65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Modified Reference Man Values</c:v>
                </c:pt>
              </c:strCache>
            </c:strRef>
          </c:tx>
          <c:spPr>
            <a:solidFill>
              <a:srgbClr val="0DBFD5"/>
            </a:solidFill>
            <a:ln>
              <a:noFill/>
            </a:ln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Brain</c:v>
                </c:pt>
                <c:pt idx="1">
                  <c:v> Stomach</c:v>
                </c:pt>
                <c:pt idx="2">
                  <c:v> S. Intestine</c:v>
                </c:pt>
                <c:pt idx="3">
                  <c:v> L. Intestine</c:v>
                </c:pt>
                <c:pt idx="4">
                  <c:v> Heart</c:v>
                </c:pt>
                <c:pt idx="5">
                  <c:v>Kidneys</c:v>
                </c:pt>
                <c:pt idx="6">
                  <c:v> Liver</c:v>
                </c:pt>
                <c:pt idx="7">
                  <c:v>Pulmonary</c:v>
                </c:pt>
                <c:pt idx="8">
                  <c:v> Pancreas</c:v>
                </c:pt>
                <c:pt idx="9">
                  <c:v> Spleen</c:v>
                </c:pt>
                <c:pt idx="10">
                  <c:v> Aorta and L. Arteries</c:v>
                </c:pt>
                <c:pt idx="11">
                  <c:v> L. Veins</c:v>
                </c:pt>
                <c:pt idx="12">
                  <c:v> Distributed Tissues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1.24</c:v>
                </c:pt>
                <c:pt idx="1">
                  <c:v>1.03</c:v>
                </c:pt>
                <c:pt idx="2">
                  <c:v>3.93</c:v>
                </c:pt>
                <c:pt idx="3">
                  <c:v>2.27</c:v>
                </c:pt>
                <c:pt idx="4">
                  <c:v>9.3000000000000007</c:v>
                </c:pt>
                <c:pt idx="5">
                  <c:v>2.0699999999999998</c:v>
                </c:pt>
                <c:pt idx="6">
                  <c:v>10.34</c:v>
                </c:pt>
                <c:pt idx="7">
                  <c:v>10.85</c:v>
                </c:pt>
                <c:pt idx="8">
                  <c:v>0.62</c:v>
                </c:pt>
                <c:pt idx="9">
                  <c:v>1.45</c:v>
                </c:pt>
                <c:pt idx="10">
                  <c:v>6.2</c:v>
                </c:pt>
                <c:pt idx="11">
                  <c:v>18.61</c:v>
                </c:pt>
                <c:pt idx="12">
                  <c:v>32.090000000000003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A9-4934-8E5D-39B53C4F65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85952639"/>
        <c:axId val="1885963199"/>
      </c:barChart>
      <c:catAx>
        <c:axId val="18859526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85963199"/>
        <c:crosses val="autoZero"/>
        <c:auto val="1"/>
        <c:lblAlgn val="ctr"/>
        <c:lblOffset val="100"/>
        <c:noMultiLvlLbl val="0"/>
      </c:catAx>
      <c:valAx>
        <c:axId val="1885963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BV Distribution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859526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Tuning Results</c:v>
                </c:pt>
              </c:strCache>
            </c:strRef>
          </c:tx>
          <c:spPr>
            <a:solidFill>
              <a:srgbClr val="905AA6"/>
            </a:solidFill>
            <a:ln>
              <a:noFill/>
            </a:ln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Brain</c:v>
                </c:pt>
                <c:pt idx="1">
                  <c:v> Stomach</c:v>
                </c:pt>
                <c:pt idx="2">
                  <c:v> S. Intestine</c:v>
                </c:pt>
                <c:pt idx="3">
                  <c:v> L. Intestine</c:v>
                </c:pt>
                <c:pt idx="4">
                  <c:v> Heart</c:v>
                </c:pt>
                <c:pt idx="5">
                  <c:v>Kidneys</c:v>
                </c:pt>
                <c:pt idx="6">
                  <c:v> Liver</c:v>
                </c:pt>
                <c:pt idx="7">
                  <c:v>Pulmonary</c:v>
                </c:pt>
                <c:pt idx="8">
                  <c:v> Pancreas</c:v>
                </c:pt>
                <c:pt idx="9">
                  <c:v> Spleen</c:v>
                </c:pt>
                <c:pt idx="10">
                  <c:v> Aorta and L. Arteries</c:v>
                </c:pt>
                <c:pt idx="11">
                  <c:v> L. Veins</c:v>
                </c:pt>
                <c:pt idx="12">
                  <c:v> Distributed Tissues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0.20899999999999999</c:v>
                </c:pt>
                <c:pt idx="1">
                  <c:v>1.968</c:v>
                </c:pt>
                <c:pt idx="2">
                  <c:v>2.1680000000000001</c:v>
                </c:pt>
                <c:pt idx="3">
                  <c:v>0.69699999999999995</c:v>
                </c:pt>
                <c:pt idx="4">
                  <c:v>1.9929999999999899</c:v>
                </c:pt>
                <c:pt idx="5">
                  <c:v>0.89700000000000002</c:v>
                </c:pt>
                <c:pt idx="6">
                  <c:v>4.7190000000000003</c:v>
                </c:pt>
                <c:pt idx="7">
                  <c:v>13.215999999999999</c:v>
                </c:pt>
                <c:pt idx="8">
                  <c:v>0.34499999999999997</c:v>
                </c:pt>
                <c:pt idx="9">
                  <c:v>0.75800000000000001</c:v>
                </c:pt>
                <c:pt idx="10">
                  <c:v>4.0979999999999999</c:v>
                </c:pt>
                <c:pt idx="11">
                  <c:v>38.191000000000003</c:v>
                </c:pt>
                <c:pt idx="12">
                  <c:v>30.741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A9-4934-8E5D-39B53C4F65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Modified Reference Man Values</c:v>
                </c:pt>
              </c:strCache>
            </c:strRef>
          </c:tx>
          <c:spPr>
            <a:solidFill>
              <a:srgbClr val="0DBFD5"/>
            </a:solidFill>
            <a:ln>
              <a:noFill/>
            </a:ln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Brain</c:v>
                </c:pt>
                <c:pt idx="1">
                  <c:v> Stomach</c:v>
                </c:pt>
                <c:pt idx="2">
                  <c:v> S. Intestine</c:v>
                </c:pt>
                <c:pt idx="3">
                  <c:v> L. Intestine</c:v>
                </c:pt>
                <c:pt idx="4">
                  <c:v> Heart</c:v>
                </c:pt>
                <c:pt idx="5">
                  <c:v>Kidneys</c:v>
                </c:pt>
                <c:pt idx="6">
                  <c:v> Liver</c:v>
                </c:pt>
                <c:pt idx="7">
                  <c:v>Pulmonary</c:v>
                </c:pt>
                <c:pt idx="8">
                  <c:v> Pancreas</c:v>
                </c:pt>
                <c:pt idx="9">
                  <c:v> Spleen</c:v>
                </c:pt>
                <c:pt idx="10">
                  <c:v> Aorta and L. Arteries</c:v>
                </c:pt>
                <c:pt idx="11">
                  <c:v> L. Veins</c:v>
                </c:pt>
                <c:pt idx="12">
                  <c:v> Distributed Tissues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1.24</c:v>
                </c:pt>
                <c:pt idx="1">
                  <c:v>1.03</c:v>
                </c:pt>
                <c:pt idx="2">
                  <c:v>3.93</c:v>
                </c:pt>
                <c:pt idx="3">
                  <c:v>2.27</c:v>
                </c:pt>
                <c:pt idx="4">
                  <c:v>9.3000000000000007</c:v>
                </c:pt>
                <c:pt idx="5">
                  <c:v>2.0699999999999998</c:v>
                </c:pt>
                <c:pt idx="6">
                  <c:v>10.34</c:v>
                </c:pt>
                <c:pt idx="7">
                  <c:v>10.85</c:v>
                </c:pt>
                <c:pt idx="8">
                  <c:v>0.62</c:v>
                </c:pt>
                <c:pt idx="9">
                  <c:v>1.45</c:v>
                </c:pt>
                <c:pt idx="10">
                  <c:v>6.2</c:v>
                </c:pt>
                <c:pt idx="11">
                  <c:v>18.61</c:v>
                </c:pt>
                <c:pt idx="12">
                  <c:v>32.090000000000003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A9-4934-8E5D-39B53C4F65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85952639"/>
        <c:axId val="1885963199"/>
      </c:barChart>
      <c:catAx>
        <c:axId val="18859526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85963199"/>
        <c:crosses val="autoZero"/>
        <c:auto val="1"/>
        <c:lblAlgn val="ctr"/>
        <c:lblOffset val="100"/>
        <c:noMultiLvlLbl val="0"/>
      </c:catAx>
      <c:valAx>
        <c:axId val="1885963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BV Distribution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859526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DBBB50-28C2-4259-8A6E-8511330E65C5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2A1542-6F33-408E-AC39-5232C11A66F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194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637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FF99E-A9A8-197F-C249-04EB0ED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E01A9-C51D-F4C3-9A68-5CABDCD64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484B3-BF8A-7A92-E483-88E1BAC9D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Want to add actual mesh subset image from 3d mesh, also indicate what info we actually extracted from the mesh files for the purposes of the sim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25217-D794-A84B-8913-69DDF811F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0074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an illustration that contains both arteries and veins with an indication of compartments that is based on the illustrations from the paper. Promise we will go on a BVs journey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11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0482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5C9EE-F12C-7DFF-4031-4E791FF6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0F874-4D21-BDB5-19C1-1DBDB1B30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C727A-AB6D-AD20-48DE-056BA2E8F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CC1AA-86B1-2D05-44F4-7226E242BB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7712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happens when the BV reaches a compartment,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11606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AB25-5F88-4F69-F96C-C62AA8965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B2799-BB92-7B57-9EA6-3311BA800E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90380-7A54-A474-24AD-9DC040A2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6059F-F75B-AF85-4E68-556EA8A19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5857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CD6D2-A7E6-FEE0-23BA-D1471B6E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172CC-907E-8E64-344D-7564423D8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05DCD-6F06-375E-5143-447698B31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92EE2-850B-62C8-2372-0D398F4AE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7384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9FF4-7456-1C00-39B0-8E0BCC91A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372C21-177C-7784-8835-BA72759EA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B9B3F-E923-EFFB-95C6-08218DCED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FA52B-8CF4-CE2C-FB49-056B14DB33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8274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EFE3-04C5-2107-2D82-93B824CF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3100FF-A29E-A96E-98AF-E2DE5B49E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875F4-6651-58C2-4DFF-A0F15446FF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C671-0F6D-6848-E1B2-5FAF5273F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479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94984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38523-FB8D-563B-242F-1670D87C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D289D-5489-3829-263C-93D1973CD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C4A82-2C6A-F648-183E-15D966D14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3AACB-D536-42EA-E660-F758553DB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348565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9551-FC57-7CC0-E7FF-A1BE0F102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84A94D-CA8B-8128-CF98-638D26C90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9C22D-26CB-277F-8D94-EE865B76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</a:t>
            </a:r>
            <a:r>
              <a:rPr lang="en-US"/>
              <a:t>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482A2-9D57-BF3D-D60D-7FCE42538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33439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54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F1420-3D68-2722-81F9-5F5E6DC19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9A1D92-8909-57EB-9674-913973C5F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6B2F1-6B58-E988-A19E-0571703A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95741-4C45-16FA-8F77-FFC36B1BC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281A9-6AAE-4F68-B3BA-56CE3150A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437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1ECA5-567E-8F04-BE38-E1366845A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3AD8B-0511-D617-8F6A-F5F35B47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B4BD7-7008-0E3F-204E-AC67CA68D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D38B7-DEB6-4AE8-9817-28A01ABF5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2D498-6DC9-4560-C64A-A19F058A2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3364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9966-D8B7-D2C1-FD3A-8C73DA0A9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26DF8-1F6B-0587-1C89-E040C28DB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40930-A47C-5C4D-72D5-3B0F2EA0C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AFE1E-5D98-C168-3E47-F94DD36BA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111424-4E31-3724-D91D-2FE580309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52472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F06C-38B5-89D4-412C-D58EA3BB0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366CB-7F3D-B164-B37F-706D56082B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EC15F-BD67-D86E-D75A-B9199EBB0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B4B8E-B9FE-3B23-AB6F-212F404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433FF7-3189-65D8-BD3F-91DF52E2A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B018DD-145E-A4BB-0C6A-E77A234A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347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25FD-5E06-332A-FCC1-3D1717FEA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7CC9C-CEA4-2520-A183-83437946C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3F89CD-54B0-E568-54BE-FCBAB4633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9E7CE6-15C7-7395-887E-995B500ECB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E39460-D35F-A714-D474-9EDAC8A3AA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566F6F-7F32-6725-974A-AB633591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E24B5-3B2C-EE0B-F4C4-0A3B5D2C4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76C6E-B24E-7BE6-7498-5801FC6F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69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F8931-F21F-4EB3-B63B-A806F0D37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BA9A1-B971-C6AC-6D0B-1514B6F27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3BD318-CB75-917A-378D-64614DA7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6880B8-F8AB-2ECE-656C-01574A056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0920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4BB93A-1B53-65F6-A2B7-70E41D7D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745D0-A308-FBC9-32E0-F4D7B2E1E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C1E2A-9752-BE39-D019-4C5ECB9ED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047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EC6C2-D45F-3A08-703A-8976DE777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A39B3-F448-E673-E0DC-EC52690B5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BA41D-B163-189E-2EF5-6D042493A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A4EA8-B7C4-97FA-E05D-9D876A59C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51F3D4-5776-F813-2599-A7306355A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BF0CC-CE98-78D5-6760-4468B7543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50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9A904-5B55-809B-54B6-2D296967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B5FEE6-04C6-C076-D980-FDD272C45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AAB5CB-F9AA-779F-A116-8A2904A4B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831FF-4EE1-E0EF-C896-D3580713C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234AC3-0609-8A3C-4A07-1AE599842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ECABD-EA35-F80A-4452-47261132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312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F2C-668F-35E3-EA7E-9612E3000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DBE48D-4B55-25A9-4B35-06912B10C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3CD3D-7A76-B7A3-5C71-35D9B12E7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7E12A-F35C-60C0-5D48-5F2D3CA2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80F08-D5E2-839D-4FBA-8150FF57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2893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A2A23C-0DA9-5C5D-59D6-0DDBE6F2C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253144-AF77-25FA-E93A-484521FBD6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D8B7-304E-30E4-C7A9-042246239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E33DD-C8E5-30E7-BC59-2B589F068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EBF13-F97A-6A6A-83E4-EDEDF8D3E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6395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D17FC-5155-4F55-784C-33135A68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ED76A5-DB2F-3174-AE74-2966436FED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F7AF0-2DBD-7041-569A-328AF0D7C0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0AE50A-D16A-47CD-AF47-75A773AE29BA}" type="datetimeFigureOut">
              <a:rPr lang="en-CA" smtClean="0"/>
              <a:t>2025-05-20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08C6E-1282-603A-D57D-F3D9D90E6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DCC2E-633F-B58C-A35C-6F0960525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88098A-8B56-4A9E-BDC1-F2E5BF7C4F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4189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6.xml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92C-DEB9-F5EF-85CA-5B691A4FC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629" y="1925729"/>
            <a:ext cx="11168743" cy="2387600"/>
          </a:xfrm>
        </p:spPr>
        <p:txBody>
          <a:bodyPr>
            <a:norm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entury Gothic" panose="020B0502020202020204" pitchFamily="34" charset="0"/>
              </a:rPr>
              <a:t>A Full Body Blood Flow Simulation for TBI Dosimetry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69522D-5F4E-5C96-F8F9-83A6C49E6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97289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Cassidy Northway, MSc.</a:t>
            </a:r>
          </a:p>
          <a:p>
            <a:r>
              <a:rPr lang="en-US" dirty="0"/>
              <a:t>PhD Candidate</a:t>
            </a:r>
          </a:p>
          <a:p>
            <a:r>
              <a:rPr lang="en-US" dirty="0"/>
              <a:t>University of British Columbia</a:t>
            </a:r>
          </a:p>
          <a:p>
            <a:r>
              <a:rPr lang="en-US" dirty="0"/>
              <a:t>BC Cancer Centre – Vancouver</a:t>
            </a:r>
          </a:p>
          <a:p>
            <a:r>
              <a:rPr lang="en-US" dirty="0"/>
              <a:t>Supervised by Dr. Ingrid </a:t>
            </a:r>
            <a:r>
              <a:rPr lang="en-US" dirty="0" err="1"/>
              <a:t>Spadinger</a:t>
            </a:r>
            <a:endParaRPr lang="en-CA" dirty="0"/>
          </a:p>
        </p:txBody>
      </p:sp>
      <p:pic>
        <p:nvPicPr>
          <p:cNvPr id="4" name="Picture 3" descr="A blue and purple text&#10;&#10;Description automatically generated">
            <a:extLst>
              <a:ext uri="{FF2B5EF4-FFF2-40B4-BE49-F238E27FC236}">
                <a16:creationId xmlns:a16="http://schemas.microsoft.com/office/drawing/2014/main" id="{DAD171C3-E83E-A2A6-678D-0C7012C0D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27192D-A216-3622-5404-4806DAE7B324}"/>
              </a:ext>
            </a:extLst>
          </p:cNvPr>
          <p:cNvCxnSpPr>
            <a:cxnSpLocks/>
          </p:cNvCxnSpPr>
          <p:nvPr/>
        </p:nvCxnSpPr>
        <p:spPr>
          <a:xfrm>
            <a:off x="166007" y="4494893"/>
            <a:ext cx="11859986" cy="0"/>
          </a:xfrm>
          <a:prstGeom prst="line">
            <a:avLst/>
          </a:prstGeom>
          <a:ln w="5715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2F079529-7D3A-A414-EB65-0E0B3F78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1" y="51361"/>
            <a:ext cx="7315200" cy="150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52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78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</a:t>
            </a:r>
            <a:r>
              <a:rPr lang="en-CA" sz="2400" dirty="0" err="1"/>
              <a:t>otivation</a:t>
            </a:r>
            <a:endParaRPr lang="en-CA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rgbClr val="0DBFD5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28575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009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0FDE35D2-D892-292C-8227-070A4B676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02DE99-58DC-A321-6824-77A50E0C508E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42AAF5-052D-39E4-8A99-B7EA99B9A90A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B9CE32B8-A329-E5D7-2ADB-F274470203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5A6F8DE3-62F5-9D43-9240-6C33776E88B5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rgbClr val="0DB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F80E1B-132F-5538-F758-261075BABD2D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 </a:t>
            </a:r>
            <a:r>
              <a:rPr lang="en-CA" sz="2000" dirty="0">
                <a:solidFill>
                  <a:schemeClr val="bg1"/>
                </a:solidFill>
              </a:rPr>
              <a:t>n</a:t>
            </a:r>
            <a:r>
              <a:rPr lang="en-CA" sz="2000" dirty="0"/>
              <a:t> 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1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917552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1342C-52E4-E269-E51D-DEC71FD4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B6B3A-8689-9515-5BF3-FEE1CE628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E873DF6-14F6-4E5C-6CBD-9A8A916D7334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F4D68013-495E-3968-2ACD-E4E2734CADBC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12C1DA-18CC-9F8F-407E-C0162982FDA8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D0B17008-3273-E7D9-E8E6-DB2C01209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B89845-1344-CB73-1A72-C65AE0C6F8AA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CF56B6-B5D3-5ACE-058D-679ED5912405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CBC60490-3D2C-DF7E-0323-AB27F2F901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96B5303-BD1E-F229-9797-0EC117B3138A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rgbClr val="0DB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F76603-4621-15F4-E70A-9B767D8C72A7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 </a:t>
            </a:r>
            <a:r>
              <a:rPr lang="en-CA" sz="2000" dirty="0">
                <a:solidFill>
                  <a:schemeClr val="bg1"/>
                </a:solidFill>
              </a:rPr>
              <a:t>n</a:t>
            </a:r>
            <a:r>
              <a:rPr lang="en-CA" sz="2000" dirty="0"/>
              <a:t> 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1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  <p:pic>
        <p:nvPicPr>
          <p:cNvPr id="14" name="Picture 13" descr="A diagram of a human body&#10;&#10;AI-generated content may be incorrect.">
            <a:extLst>
              <a:ext uri="{FF2B5EF4-FFF2-40B4-BE49-F238E27FC236}">
                <a16:creationId xmlns:a16="http://schemas.microsoft.com/office/drawing/2014/main" id="{AEEC3C7E-EA88-FB06-DA21-7E16105AC2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684" y="98730"/>
            <a:ext cx="3293097" cy="610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81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</a:t>
            </a:r>
            <a:endParaRPr lang="en-CA" sz="2400" dirty="0"/>
          </a:p>
        </p:txBody>
      </p:sp>
      <p:pic>
        <p:nvPicPr>
          <p:cNvPr id="3" name="Picture 2" descr="A diagram of a human body&#10;&#10;AI-generated content may be incorrect.">
            <a:extLst>
              <a:ext uri="{FF2B5EF4-FFF2-40B4-BE49-F238E27FC236}">
                <a16:creationId xmlns:a16="http://schemas.microsoft.com/office/drawing/2014/main" id="{C0BE0F0D-BFFE-3186-794E-C1A60F005D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1649"/>
            <a:ext cx="3068908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4BBA65-642F-12FE-08F2-32F50921AC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2568" y="114299"/>
            <a:ext cx="2796653" cy="51847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3DDC53-58FC-A6CE-15F7-E98B30706D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89" y="162735"/>
            <a:ext cx="2770527" cy="51362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24B96F-D02F-FA2C-0755-8348A0EA9A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4414" y="162735"/>
            <a:ext cx="2770527" cy="51362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A928D-3CE3-B737-1CF4-18E7DE10A3D4}"/>
              </a:ext>
            </a:extLst>
          </p:cNvPr>
          <p:cNvSpPr txBox="1"/>
          <p:nvPr/>
        </p:nvSpPr>
        <p:spPr>
          <a:xfrm>
            <a:off x="2683192" y="1345721"/>
            <a:ext cx="7873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rgbClr val="905AA6"/>
                </a:solidFill>
              </a:rPr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B21DAE-0A17-20F9-12B0-DE541CD7081F}"/>
              </a:ext>
            </a:extLst>
          </p:cNvPr>
          <p:cNvSpPr txBox="1"/>
          <p:nvPr/>
        </p:nvSpPr>
        <p:spPr>
          <a:xfrm>
            <a:off x="5501476" y="1260113"/>
            <a:ext cx="7873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rgbClr val="905AA6"/>
                </a:solidFill>
              </a:rPr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69129F-386C-69A8-14DF-9E6BC09DA428}"/>
              </a:ext>
            </a:extLst>
          </p:cNvPr>
          <p:cNvSpPr txBox="1"/>
          <p:nvPr/>
        </p:nvSpPr>
        <p:spPr>
          <a:xfrm>
            <a:off x="8369925" y="1345721"/>
            <a:ext cx="7873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rgbClr val="905AA6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649479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B216E-347B-7E58-666D-2C23B6E20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2001889-6846-5F46-6E2F-13EE9E8F35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190337"/>
              </p:ext>
            </p:extLst>
          </p:nvPr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0390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D0C3D028-B6F3-DDAF-4858-3219E26763F0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4042FC0-0FFD-5F9F-0C5F-993889910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89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893EC-3CD6-7204-C3D3-95F688F11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FC597-C5D4-1D44-231C-7CB1D59F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97A975-106B-FD1A-0F83-D8B1E7014868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EAE2F9C-4268-0893-0454-C3B58E7CC4F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78EB-1717-8816-024D-A3918226EE22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F7B5EC-99C7-7DE2-4D92-7566F04CC0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4094AFB-B100-DC90-F1D1-D0ACE0CDB885}"/>
              </a:ext>
            </a:extLst>
          </p:cNvPr>
          <p:cNvGraphicFramePr>
            <a:graphicFrameLocks/>
          </p:cNvGraphicFramePr>
          <p:nvPr/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559284-E6D8-1047-379A-02A84FEE425A}"/>
              </a:ext>
            </a:extLst>
          </p:cNvPr>
          <p:cNvCxnSpPr/>
          <p:nvPr/>
        </p:nvCxnSpPr>
        <p:spPr>
          <a:xfrm>
            <a:off x="7606348" y="3134958"/>
            <a:ext cx="0" cy="1265208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9D1FA0-F366-1036-646E-C095AE55650D}"/>
              </a:ext>
            </a:extLst>
          </p:cNvPr>
          <p:cNvCxnSpPr>
            <a:cxnSpLocks/>
          </p:cNvCxnSpPr>
          <p:nvPr/>
        </p:nvCxnSpPr>
        <p:spPr>
          <a:xfrm flipH="1">
            <a:off x="6920180" y="4400166"/>
            <a:ext cx="655607" cy="114374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BDDC75-AE24-3F5C-E1AD-03D2A16A3396}"/>
              </a:ext>
            </a:extLst>
          </p:cNvPr>
          <p:cNvCxnSpPr>
            <a:cxnSpLocks/>
          </p:cNvCxnSpPr>
          <p:nvPr/>
        </p:nvCxnSpPr>
        <p:spPr>
          <a:xfrm>
            <a:off x="7617849" y="4400166"/>
            <a:ext cx="626853" cy="105817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243C1564-906C-A8D8-8E44-34A86F156EC0}"/>
              </a:ext>
            </a:extLst>
          </p:cNvPr>
          <p:cNvSpPr/>
          <p:nvPr/>
        </p:nvSpPr>
        <p:spPr>
          <a:xfrm>
            <a:off x="7540215" y="4339781"/>
            <a:ext cx="132265" cy="12077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0390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/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/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99395B6-4C55-6DA3-D5CF-B8B8F3989562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rgbClr val="666666"/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rgbClr val="666666"/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6CF774D-E0DB-3505-EDB7-9E41389AF8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164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8DD4C8-2BAE-0CCC-636D-64822F1D8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E75B4-202A-171C-5BE9-115758F35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95BCD4-BD2B-5581-B5FA-1E3599946FE2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1DE22EA-E6D5-A4CA-5670-1E54DCD5B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B41D34-9435-2D80-614E-5F283E8BC6C4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45741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42C9C-921E-8952-0B37-77DE1F3EE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B47B3-89E7-A1CB-324A-91B53589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699951-79D7-0809-2837-360FA3B741CC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455AB62-91AC-F944-CFE4-E699B34E01B2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42F391-DA1F-E2ED-C011-6763F4A8D3B3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E45FF-1286-75AF-8E1F-DE7576F53C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DA46F-7147-5E50-CFF8-C8893986C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AF1B80-E5DB-4FE2-E946-3D9176730C61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5EEC87-C5F5-4D11-FB2E-781B5E5E39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D304C3-CB54-2A18-93F2-C729251D3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277B84-812A-0B80-C38E-6CDCBC02700A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69020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DE72-0E0B-90F4-F339-0C2CEC4F9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237B6-DE2F-F465-165F-BFB85AB44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5EA2A5-488E-F27F-750C-996C462E7A5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DDC68BC3-6D16-DA1E-5FD3-BBE18D4B1ED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48761-3FB9-238A-9406-218949DEE56F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9963AD-26A0-E57F-0678-417CE4B0F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1C4775-1598-4839-0F1D-4CEB9428C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E67556-4F1C-3EB0-8DB9-663420671866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9C75EBD-FB90-846F-8710-CF6D5317C8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E848A20-9ED0-8439-0689-975F532F1E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44AE7D-EBC8-1BA2-E0B9-5A44E56A4E3E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0057B9-121F-3377-5F0C-EDCF2CBDD9EA}"/>
              </a:ext>
            </a:extLst>
          </p:cNvPr>
          <p:cNvSpPr/>
          <p:nvPr/>
        </p:nvSpPr>
        <p:spPr>
          <a:xfrm>
            <a:off x="3163824" y="2697479"/>
            <a:ext cx="877824" cy="1828057"/>
          </a:xfrm>
          <a:prstGeom prst="rect">
            <a:avLst/>
          </a:prstGeom>
          <a:noFill/>
          <a:ln w="76200">
            <a:solidFill>
              <a:srgbClr val="0DB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D9E28-4969-4AEC-D6A1-1D8BCD060410}"/>
              </a:ext>
            </a:extLst>
          </p:cNvPr>
          <p:cNvSpPr/>
          <p:nvPr/>
        </p:nvSpPr>
        <p:spPr>
          <a:xfrm>
            <a:off x="7635240" y="3172968"/>
            <a:ext cx="722376" cy="362772"/>
          </a:xfrm>
          <a:prstGeom prst="rect">
            <a:avLst/>
          </a:prstGeom>
          <a:noFill/>
          <a:ln w="76200">
            <a:solidFill>
              <a:srgbClr val="0DB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5419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6374D-2E8A-DCE0-5E2B-6F3D5D2F8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83E86-2010-6D1A-EF0A-ED662CC9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9F399C-09C3-7269-6916-06E0A82E65B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2031726B-9129-41F4-B2B2-423F49A78D1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4E863E-BB63-9212-3060-82E75D78B745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55774-18EE-4CCC-8792-9BAE46502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43D9EEA-A403-45DA-5F1E-02C4F5686E61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</p:spTree>
    <p:extLst>
      <p:ext uri="{BB962C8B-B14F-4D97-AF65-F5344CB8AC3E}">
        <p14:creationId xmlns:p14="http://schemas.microsoft.com/office/powerpoint/2010/main" val="755844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7FF2-F17D-17C3-8328-472EAB1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8F184-6774-62A5-C28B-7FC26736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9DE24A-0BDC-3198-69DE-0EB949F42CC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A7451DB-B557-5ECD-67EC-0AA480BD6BE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6406EB-31C0-7E46-EC53-F205A17289D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B6C16B-C74D-64D0-2285-730E7920A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ED6EB8-4694-F23D-17D1-F35128E0AC0C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D04CEF93-766E-0A4D-64EA-2638E9F9E0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53904641"/>
              </p:ext>
            </p:extLst>
          </p:nvPr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66711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EA2FD-7C02-8015-FE3F-6D2753BF3C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CF2927-6D1A-8464-0A5C-D11172ED7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701" y="741203"/>
            <a:ext cx="5285354" cy="4015147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101E08B3-AE1E-940E-45FF-14DF6F9DC286}"/>
              </a:ext>
            </a:extLst>
          </p:cNvPr>
          <p:cNvSpPr/>
          <p:nvPr/>
        </p:nvSpPr>
        <p:spPr>
          <a:xfrm>
            <a:off x="5020056" y="3326652"/>
            <a:ext cx="932688" cy="378720"/>
          </a:xfrm>
          <a:prstGeom prst="rect">
            <a:avLst/>
          </a:prstGeom>
          <a:noFill/>
          <a:ln w="76200">
            <a:solidFill>
              <a:srgbClr val="0DB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97808-DB44-6728-8F76-0B702CE269AE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Blanco, P.J., Watanabe, S.M., Dari, E.A. et al. Blood flow distribution in an anatomically detailed arterial network model: criteria and algorithms. 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Biomech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Model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Mechanobiol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 13, 1303–1330 (2014).</a:t>
            </a:r>
          </a:p>
        </p:txBody>
      </p:sp>
    </p:spTree>
    <p:extLst>
      <p:ext uri="{BB962C8B-B14F-4D97-AF65-F5344CB8AC3E}">
        <p14:creationId xmlns:p14="http://schemas.microsoft.com/office/powerpoint/2010/main" val="12118934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4CF63-8908-3047-371E-3B6057B92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E22E0-82B6-3C90-E669-ED0C4064C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56FBBD-9A8E-F48D-6467-EE65C78B5BF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4686CEC1-707F-42EE-356D-95CECADE8F76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89DA6-E321-7F11-2474-0234A0048E2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73CC16-D1F2-0AEC-9530-7B04C1C05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6811886-F8AC-B233-317A-8D9BA073F5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8538316"/>
              </p:ext>
            </p:extLst>
          </p:nvPr>
        </p:nvGraphicFramePr>
        <p:xfrm>
          <a:off x="3771987" y="1107864"/>
          <a:ext cx="7802880" cy="4590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8903723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4F43-C940-5B4C-2C98-0C009FFE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043D3-3984-403D-E672-FEBAFB7F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770288-6DCB-1CC6-F152-5AAD17F3FC09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3A8A7A7-BA9D-101C-459A-1CF75ECDC32D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24F357-AAD0-DE56-501D-45D84BDD294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FED38C-9124-AF29-8FD0-5015C7501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0C560E7-B353-5377-7859-E701356704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1283328"/>
              </p:ext>
            </p:extLst>
          </p:nvPr>
        </p:nvGraphicFramePr>
        <p:xfrm>
          <a:off x="3771987" y="1107864"/>
          <a:ext cx="7802880" cy="4590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85DE488-F020-4E7E-4AB8-32E725BC769A}"/>
              </a:ext>
            </a:extLst>
          </p:cNvPr>
          <p:cNvSpPr/>
          <p:nvPr/>
        </p:nvSpPr>
        <p:spPr>
          <a:xfrm>
            <a:off x="4421172" y="1107864"/>
            <a:ext cx="7153696" cy="461665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90DB17-EDD7-7FC2-EC7A-89609D16AFE2}"/>
              </a:ext>
            </a:extLst>
          </p:cNvPr>
          <p:cNvSpPr/>
          <p:nvPr/>
        </p:nvSpPr>
        <p:spPr>
          <a:xfrm>
            <a:off x="4421171" y="1569529"/>
            <a:ext cx="5769205" cy="1712445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1F8515-29C6-A4F1-9103-183C1FA74CCE}"/>
              </a:ext>
            </a:extLst>
          </p:cNvPr>
          <p:cNvSpPr/>
          <p:nvPr/>
        </p:nvSpPr>
        <p:spPr>
          <a:xfrm>
            <a:off x="4421171" y="3281974"/>
            <a:ext cx="2135077" cy="1444985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5645F9-3C6A-A530-1535-A8D9E0403432}"/>
              </a:ext>
            </a:extLst>
          </p:cNvPr>
          <p:cNvSpPr/>
          <p:nvPr/>
        </p:nvSpPr>
        <p:spPr>
          <a:xfrm>
            <a:off x="7205432" y="3281974"/>
            <a:ext cx="2984944" cy="1444984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5A69C6-8CD8-DF73-40F6-33417E46EB90}"/>
              </a:ext>
            </a:extLst>
          </p:cNvPr>
          <p:cNvSpPr/>
          <p:nvPr/>
        </p:nvSpPr>
        <p:spPr>
          <a:xfrm>
            <a:off x="10953946" y="1569529"/>
            <a:ext cx="620921" cy="3157429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8560288-653D-5828-696B-6C2F4E61A716}"/>
              </a:ext>
            </a:extLst>
          </p:cNvPr>
          <p:cNvSpPr/>
          <p:nvPr/>
        </p:nvSpPr>
        <p:spPr>
          <a:xfrm>
            <a:off x="4421172" y="4726959"/>
            <a:ext cx="7153696" cy="561509"/>
          </a:xfrm>
          <a:prstGeom prst="rect">
            <a:avLst/>
          </a:prstGeom>
          <a:solidFill>
            <a:srgbClr val="E3D6E9">
              <a:alpha val="55000"/>
            </a:srgbClr>
          </a:solidFill>
          <a:ln w="7620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46614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6537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Future Applications</a:t>
            </a:r>
            <a:endParaRPr lang="en-CA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8EA863-7E8F-007B-E2E1-B8B1EFE93EC2}"/>
              </a:ext>
            </a:extLst>
          </p:cNvPr>
          <p:cNvSpPr txBox="1"/>
          <p:nvPr/>
        </p:nvSpPr>
        <p:spPr>
          <a:xfrm>
            <a:off x="166007" y="6464819"/>
            <a:ext cx="11531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Su, S et al. “A new </a:t>
            </a:r>
            <a:r>
              <a:rPr lang="en-US" sz="1200" b="0" i="0" dirty="0" err="1">
                <a:solidFill>
                  <a:srgbClr val="212121"/>
                </a:solidFill>
                <a:effectLst/>
                <a:latin typeface="BlinkMacSystemFont"/>
              </a:rPr>
              <a:t>DOSXYZnrc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 method for Monte Carlo simulations of 4D dose distributions.” </a:t>
            </a:r>
            <a:r>
              <a:rPr lang="en-US" sz="1200" b="0" i="1" dirty="0">
                <a:solidFill>
                  <a:srgbClr val="212121"/>
                </a:solidFill>
                <a:effectLst/>
                <a:latin typeface="BlinkMacSystemFont"/>
              </a:rPr>
              <a:t>Physics in medicine and biology</a:t>
            </a:r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 vol. 66, 24 2021.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761B5-2779-3E52-EACC-A22D04FD8A93}"/>
              </a:ext>
            </a:extLst>
          </p:cNvPr>
          <p:cNvSpPr txBox="1"/>
          <p:nvPr/>
        </p:nvSpPr>
        <p:spPr>
          <a:xfrm>
            <a:off x="3699075" y="4675556"/>
            <a:ext cx="8328146" cy="1572326"/>
          </a:xfrm>
          <a:prstGeom prst="rect">
            <a:avLst/>
          </a:prstGeom>
          <a:solidFill>
            <a:srgbClr val="E3D6E9"/>
          </a:solidFill>
        </p:spPr>
        <p:txBody>
          <a:bodyPr wrap="square" tIns="108000" bIns="108000" rtlCol="0">
            <a:spAutoFit/>
          </a:bodyPr>
          <a:lstStyle/>
          <a:p>
            <a:pPr algn="ctr"/>
            <a:r>
              <a:rPr lang="en-CA" sz="8800" dirty="0">
                <a:solidFill>
                  <a:schemeClr val="bg1"/>
                </a:solidFill>
              </a:rPr>
              <a:t>Thank you</a:t>
            </a:r>
          </a:p>
        </p:txBody>
      </p:sp>
      <p:pic>
        <p:nvPicPr>
          <p:cNvPr id="7" name="Picture 6" descr="A blue and purple text&#10;&#10;Description automatically generated">
            <a:extLst>
              <a:ext uri="{FF2B5EF4-FFF2-40B4-BE49-F238E27FC236}">
                <a16:creationId xmlns:a16="http://schemas.microsoft.com/office/drawing/2014/main" id="{DA164899-3FF9-1A2C-3286-418579F45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1361"/>
            <a:ext cx="1443769" cy="16389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AF3920-8B76-2005-4767-75AD620D9AF0}"/>
              </a:ext>
            </a:extLst>
          </p:cNvPr>
          <p:cNvSpPr txBox="1"/>
          <p:nvPr/>
        </p:nvSpPr>
        <p:spPr>
          <a:xfrm>
            <a:off x="166007" y="914400"/>
            <a:ext cx="5539849" cy="2308324"/>
          </a:xfrm>
          <a:prstGeom prst="rect">
            <a:avLst/>
          </a:prstGeom>
          <a:solidFill>
            <a:srgbClr val="E3D6E9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dirty="0"/>
              <a:t>Determine average travel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Further tuning?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dirty="0"/>
              <a:t>4D Monte Carlo simulations of: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Co-60 TBI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POP TBI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VMAT TBI</a:t>
            </a:r>
          </a:p>
        </p:txBody>
      </p:sp>
      <p:pic>
        <p:nvPicPr>
          <p:cNvPr id="1026" name="Picture 2" descr="Lymphoma Canada Research Grants - Deadline April 23, 2021 - Canadian Centre  for Applied Research in Cancer Control">
            <a:extLst>
              <a:ext uri="{FF2B5EF4-FFF2-40B4-BE49-F238E27FC236}">
                <a16:creationId xmlns:a16="http://schemas.microsoft.com/office/drawing/2014/main" id="{706EA0A8-0C34-FACA-2779-DBDF7A6AF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972" y="51360"/>
            <a:ext cx="4006432" cy="1638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9414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21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1046</Words>
  <Application>Microsoft Office PowerPoint</Application>
  <PresentationFormat>Widescreen</PresentationFormat>
  <Paragraphs>150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BlinkMacSystemFont</vt:lpstr>
      <vt:lpstr>Cambria Math</vt:lpstr>
      <vt:lpstr>Century Gothic</vt:lpstr>
      <vt:lpstr>Nexus Sans Pro</vt:lpstr>
      <vt:lpstr>Office Theme</vt:lpstr>
      <vt:lpstr>A Full Body Blood Flow Simulation for TBI Dosimetry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cbn@student.ubc.ca</cp:lastModifiedBy>
  <cp:revision>48</cp:revision>
  <dcterms:created xsi:type="dcterms:W3CDTF">2025-05-13T18:41:50Z</dcterms:created>
  <dcterms:modified xsi:type="dcterms:W3CDTF">2025-05-20T16:24:38Z</dcterms:modified>
</cp:coreProperties>
</file>