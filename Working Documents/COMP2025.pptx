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58" r:id="rId3"/>
    <p:sldId id="274" r:id="rId4"/>
    <p:sldId id="259" r:id="rId5"/>
    <p:sldId id="279" r:id="rId6"/>
    <p:sldId id="264" r:id="rId7"/>
    <p:sldId id="271" r:id="rId8"/>
    <p:sldId id="281" r:id="rId9"/>
    <p:sldId id="272" r:id="rId10"/>
    <p:sldId id="282" r:id="rId11"/>
    <p:sldId id="290" r:id="rId12"/>
    <p:sldId id="280" r:id="rId13"/>
    <p:sldId id="284" r:id="rId14"/>
    <p:sldId id="268" r:id="rId15"/>
    <p:sldId id="286" r:id="rId16"/>
    <p:sldId id="287" r:id="rId17"/>
    <p:sldId id="291" r:id="rId18"/>
    <p:sldId id="292" r:id="rId19"/>
    <p:sldId id="269" r:id="rId20"/>
    <p:sldId id="276" r:id="rId21"/>
    <p:sldId id="289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BFD5"/>
    <a:srgbClr val="905AA6"/>
    <a:srgbClr val="E3D6E9"/>
    <a:srgbClr val="FF0000"/>
    <a:srgbClr val="0000FF"/>
    <a:srgbClr val="FF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983" autoAdjust="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616688707440078E-2"/>
          <c:y val="3.1040567822418621E-2"/>
          <c:w val="0.88467555577124513"/>
          <c:h val="0.79091277933733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Results</c:v>
                </c:pt>
              </c:strCache>
            </c:strRef>
          </c:tx>
          <c:spPr>
            <a:solidFill>
              <a:srgbClr val="0DBFD5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</c:v>
                </c:pt>
                <c:pt idx="1">
                  <c:v>2.56</c:v>
                </c:pt>
                <c:pt idx="2">
                  <c:v>3.52</c:v>
                </c:pt>
                <c:pt idx="3">
                  <c:v>2.04</c:v>
                </c:pt>
                <c:pt idx="4">
                  <c:v>10.09</c:v>
                </c:pt>
                <c:pt idx="5">
                  <c:v>2.08</c:v>
                </c:pt>
                <c:pt idx="6">
                  <c:v>11.79</c:v>
                </c:pt>
                <c:pt idx="7">
                  <c:v>9.4499999999999993</c:v>
                </c:pt>
                <c:pt idx="8">
                  <c:v>0.78</c:v>
                </c:pt>
                <c:pt idx="9">
                  <c:v>1.85</c:v>
                </c:pt>
                <c:pt idx="10">
                  <c:v>9.4</c:v>
                </c:pt>
                <c:pt idx="11">
                  <c:v>8.98</c:v>
                </c:pt>
                <c:pt idx="12">
                  <c:v>36.58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B-4FCA-B088-80FBA6E39C9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Modified Reference Man Values</c:v>
                </c:pt>
              </c:strCache>
            </c:strRef>
          </c:tx>
          <c:spPr>
            <a:solidFill>
              <a:srgbClr val="905AA6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Sheet1!$F$2:$F$14</c:f>
                <c:numCache>
                  <c:formatCode>General</c:formatCode>
                  <c:ptCount val="13"/>
                  <c:pt idx="0">
                    <c:v>0.15999999999999992</c:v>
                  </c:pt>
                  <c:pt idx="1">
                    <c:v>0.27</c:v>
                  </c:pt>
                  <c:pt idx="2">
                    <c:v>0.4700000000000002</c:v>
                  </c:pt>
                  <c:pt idx="3">
                    <c:v>0.22999999999999998</c:v>
                  </c:pt>
                  <c:pt idx="4">
                    <c:v>4.1999999999999993</c:v>
                  </c:pt>
                  <c:pt idx="5">
                    <c:v>0.83000000000000007</c:v>
                  </c:pt>
                  <c:pt idx="6">
                    <c:v>1.6600000000000001</c:v>
                  </c:pt>
                  <c:pt idx="7">
                    <c:v>2.1500000000000004</c:v>
                  </c:pt>
                  <c:pt idx="8">
                    <c:v>7.999999999999996E-2</c:v>
                  </c:pt>
                  <c:pt idx="9">
                    <c:v>0.44999999999999996</c:v>
                  </c:pt>
                  <c:pt idx="10">
                    <c:v>2.8</c:v>
                  </c:pt>
                  <c:pt idx="11">
                    <c:v>6.3900000000000006</c:v>
                  </c:pt>
                  <c:pt idx="12">
                    <c:v>10.909999999999997</c:v>
                  </c:pt>
                </c:numCache>
              </c:numRef>
            </c:plus>
            <c:minus>
              <c:numRef>
                <c:f>Sheet1!$E$2:$E$14</c:f>
                <c:numCache>
                  <c:formatCode>General</c:formatCode>
                  <c:ptCount val="13"/>
                  <c:pt idx="0">
                    <c:v>0.43999999999999995</c:v>
                  </c:pt>
                  <c:pt idx="1">
                    <c:v>0.83000000000000007</c:v>
                  </c:pt>
                  <c:pt idx="2">
                    <c:v>3.0300000000000002</c:v>
                  </c:pt>
                  <c:pt idx="3">
                    <c:v>1.77</c:v>
                  </c:pt>
                  <c:pt idx="4">
                    <c:v>2.8000000000000007</c:v>
                  </c:pt>
                  <c:pt idx="5">
                    <c:v>0.7699999999999998</c:v>
                  </c:pt>
                  <c:pt idx="6">
                    <c:v>6.34</c:v>
                  </c:pt>
                  <c:pt idx="7">
                    <c:v>2.8499999999999996</c:v>
                  </c:pt>
                  <c:pt idx="8">
                    <c:v>0.52</c:v>
                  </c:pt>
                  <c:pt idx="9">
                    <c:v>0.25</c:v>
                  </c:pt>
                  <c:pt idx="10">
                    <c:v>3.2</c:v>
                  </c:pt>
                  <c:pt idx="11">
                    <c:v>7.6099999999999994</c:v>
                  </c:pt>
                  <c:pt idx="12">
                    <c:v>15.090000000000003</c:v>
                  </c:pt>
                </c:numCache>
              </c:numRef>
            </c:minus>
            <c:spPr>
              <a:noFill/>
              <a:ln w="222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1.24</c:v>
                </c:pt>
                <c:pt idx="1">
                  <c:v>1.03</c:v>
                </c:pt>
                <c:pt idx="2">
                  <c:v>3.93</c:v>
                </c:pt>
                <c:pt idx="3">
                  <c:v>2.27</c:v>
                </c:pt>
                <c:pt idx="4">
                  <c:v>9.3000000000000007</c:v>
                </c:pt>
                <c:pt idx="5">
                  <c:v>2.0699999999999998</c:v>
                </c:pt>
                <c:pt idx="6">
                  <c:v>10.34</c:v>
                </c:pt>
                <c:pt idx="7">
                  <c:v>10.85</c:v>
                </c:pt>
                <c:pt idx="8">
                  <c:v>0.62</c:v>
                </c:pt>
                <c:pt idx="9">
                  <c:v>1.45</c:v>
                </c:pt>
                <c:pt idx="10">
                  <c:v>6.2</c:v>
                </c:pt>
                <c:pt idx="11">
                  <c:v>18.61</c:v>
                </c:pt>
                <c:pt idx="12">
                  <c:v>32.090000000000003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BB-4FCA-B088-80FBA6E39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952639"/>
        <c:axId val="1885963199"/>
      </c:barChart>
      <c:catAx>
        <c:axId val="188595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63199"/>
        <c:crosses val="autoZero"/>
        <c:auto val="1"/>
        <c:lblAlgn val="ctr"/>
        <c:lblOffset val="100"/>
        <c:noMultiLvlLbl val="0"/>
      </c:catAx>
      <c:valAx>
        <c:axId val="188596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800"/>
                  <a:t>BV Distribution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5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616688707440078E-2"/>
          <c:y val="3.1040567822418621E-2"/>
          <c:w val="0.88467555577124513"/>
          <c:h val="0.79091277933733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Results</c:v>
                </c:pt>
              </c:strCache>
            </c:strRef>
          </c:tx>
          <c:spPr>
            <a:solidFill>
              <a:srgbClr val="0DBFD5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</c:v>
                </c:pt>
                <c:pt idx="1">
                  <c:v>2.56</c:v>
                </c:pt>
                <c:pt idx="2">
                  <c:v>3.52</c:v>
                </c:pt>
                <c:pt idx="3">
                  <c:v>2.04</c:v>
                </c:pt>
                <c:pt idx="4">
                  <c:v>10.09</c:v>
                </c:pt>
                <c:pt idx="5">
                  <c:v>2.08</c:v>
                </c:pt>
                <c:pt idx="6">
                  <c:v>11.79</c:v>
                </c:pt>
                <c:pt idx="7">
                  <c:v>9.4499999999999993</c:v>
                </c:pt>
                <c:pt idx="8">
                  <c:v>0.78</c:v>
                </c:pt>
                <c:pt idx="9">
                  <c:v>1.85</c:v>
                </c:pt>
                <c:pt idx="10">
                  <c:v>9.4</c:v>
                </c:pt>
                <c:pt idx="11">
                  <c:v>8.98</c:v>
                </c:pt>
                <c:pt idx="12">
                  <c:v>36.58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B-4B7C-B075-63F4EFE78A1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Modified Reference Man Values</c:v>
                </c:pt>
              </c:strCache>
            </c:strRef>
          </c:tx>
          <c:spPr>
            <a:solidFill>
              <a:srgbClr val="905AA6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Sheet1!$F$2:$F$14</c:f>
                <c:numCache>
                  <c:formatCode>General</c:formatCode>
                  <c:ptCount val="13"/>
                  <c:pt idx="0">
                    <c:v>0.15999999999999992</c:v>
                  </c:pt>
                  <c:pt idx="1">
                    <c:v>0.27</c:v>
                  </c:pt>
                  <c:pt idx="2">
                    <c:v>0.4700000000000002</c:v>
                  </c:pt>
                  <c:pt idx="3">
                    <c:v>0.22999999999999998</c:v>
                  </c:pt>
                  <c:pt idx="4">
                    <c:v>4.1999999999999993</c:v>
                  </c:pt>
                  <c:pt idx="5">
                    <c:v>0.83000000000000007</c:v>
                  </c:pt>
                  <c:pt idx="6">
                    <c:v>1.6600000000000001</c:v>
                  </c:pt>
                  <c:pt idx="7">
                    <c:v>2.1500000000000004</c:v>
                  </c:pt>
                  <c:pt idx="8">
                    <c:v>7.999999999999996E-2</c:v>
                  </c:pt>
                  <c:pt idx="9">
                    <c:v>0.44999999999999996</c:v>
                  </c:pt>
                  <c:pt idx="10">
                    <c:v>2.8</c:v>
                  </c:pt>
                  <c:pt idx="11">
                    <c:v>6.3900000000000006</c:v>
                  </c:pt>
                  <c:pt idx="12">
                    <c:v>10.909999999999997</c:v>
                  </c:pt>
                </c:numCache>
              </c:numRef>
            </c:plus>
            <c:minus>
              <c:numRef>
                <c:f>Sheet1!$E$2:$E$14</c:f>
                <c:numCache>
                  <c:formatCode>General</c:formatCode>
                  <c:ptCount val="13"/>
                  <c:pt idx="0">
                    <c:v>0.43999999999999995</c:v>
                  </c:pt>
                  <c:pt idx="1">
                    <c:v>0.83000000000000007</c:v>
                  </c:pt>
                  <c:pt idx="2">
                    <c:v>3.0300000000000002</c:v>
                  </c:pt>
                  <c:pt idx="3">
                    <c:v>1.77</c:v>
                  </c:pt>
                  <c:pt idx="4">
                    <c:v>2.8000000000000007</c:v>
                  </c:pt>
                  <c:pt idx="5">
                    <c:v>0.7699999999999998</c:v>
                  </c:pt>
                  <c:pt idx="6">
                    <c:v>6.34</c:v>
                  </c:pt>
                  <c:pt idx="7">
                    <c:v>2.8499999999999996</c:v>
                  </c:pt>
                  <c:pt idx="8">
                    <c:v>0.52</c:v>
                  </c:pt>
                  <c:pt idx="9">
                    <c:v>0.25</c:v>
                  </c:pt>
                  <c:pt idx="10">
                    <c:v>3.2</c:v>
                  </c:pt>
                  <c:pt idx="11">
                    <c:v>7.6099999999999994</c:v>
                  </c:pt>
                  <c:pt idx="12">
                    <c:v>15.090000000000003</c:v>
                  </c:pt>
                </c:numCache>
              </c:numRef>
            </c:minus>
            <c:spPr>
              <a:noFill/>
              <a:ln w="222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1.24</c:v>
                </c:pt>
                <c:pt idx="1">
                  <c:v>1.03</c:v>
                </c:pt>
                <c:pt idx="2">
                  <c:v>3.93</c:v>
                </c:pt>
                <c:pt idx="3">
                  <c:v>2.27</c:v>
                </c:pt>
                <c:pt idx="4">
                  <c:v>9.3000000000000007</c:v>
                </c:pt>
                <c:pt idx="5">
                  <c:v>2.0699999999999998</c:v>
                </c:pt>
                <c:pt idx="6">
                  <c:v>10.34</c:v>
                </c:pt>
                <c:pt idx="7">
                  <c:v>10.85</c:v>
                </c:pt>
                <c:pt idx="8">
                  <c:v>0.62</c:v>
                </c:pt>
                <c:pt idx="9">
                  <c:v>1.45</c:v>
                </c:pt>
                <c:pt idx="10">
                  <c:v>6.2</c:v>
                </c:pt>
                <c:pt idx="11">
                  <c:v>18.61</c:v>
                </c:pt>
                <c:pt idx="12">
                  <c:v>32.090000000000003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B-4B7C-B075-63F4EFE78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952639"/>
        <c:axId val="1885963199"/>
      </c:barChart>
      <c:catAx>
        <c:axId val="188595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63199"/>
        <c:crosses val="autoZero"/>
        <c:auto val="1"/>
        <c:lblAlgn val="ctr"/>
        <c:lblOffset val="100"/>
        <c:noMultiLvlLbl val="0"/>
      </c:catAx>
      <c:valAx>
        <c:axId val="188596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800"/>
                  <a:t>BV Distribution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5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BBB50-28C2-4259-8A6E-8511330E65C5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A1542-6F33-408E-AC39-5232C11A66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94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63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F99E-A9A8-197F-C249-04EB0ED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01A9-C51D-F4C3-9A68-5CABDCD6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484B3-BF8A-7A92-E483-88E1BAC9D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to add actual mesh subset image from 3d mesh, also indicate what info we actually extracted from the mesh files for the purposes of the sim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25217-D794-A84B-8913-69DDF811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07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an illustration that contains both arteries and veins with an indication of compartments that is based on the illustrations from the paper. Promise we will go on a BVs journey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11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482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9EE-F12C-7DFF-4031-4E791FF6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0F874-4D21-BDB5-19C1-1DBDB1B3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C727A-AB6D-AD20-48DE-056BA2E8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C1AA-86B1-2D05-44F4-7226E242B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77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when the BV reaches a compartment,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160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AB25-5F88-4F69-F96C-C62AA896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B2799-BB92-7B57-9EA6-3311BA800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90380-7A54-A474-24AD-9DC040A2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059F-F75B-AF85-4E68-556EA8A19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857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6D2-A7E6-FEE0-23BA-D1471B6E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172CC-907E-8E64-344D-7564423D8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05DCD-6F06-375E-5143-447698B3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92EE2-850B-62C8-2372-0D398F4A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384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FF4-7456-1C00-39B0-8E0BCC91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2C21-177C-7784-8835-BA72759EA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B9B3F-E923-EFFB-95C6-08218DCE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A52B-8CF4-CE2C-FB49-056B14DB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27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EFE3-04C5-2107-2D82-93B824CF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100FF-A29E-A96E-98AF-E2DE5B49E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875F4-6651-58C2-4DFF-A0F15446F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C671-0F6D-6848-E1B2-5FAF5273F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479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498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8523-FB8D-563B-242F-1670D87C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D289D-5489-3829-263C-93D1973C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C4A82-2C6A-F648-183E-15D966D14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3AACB-D536-42EA-E660-F758553DB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56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3343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750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353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54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050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E854-16ED-E826-38F6-49D7D5E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3EFC-CC87-D3FE-E566-ED464A6A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82C9-367D-31E6-5D55-EA5DF6B6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1CBB-A54C-D3B4-76CA-FC173625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299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2E4B-81BE-4B7A-B36D-25EE9615AC65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9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1420-3D68-2722-81F9-5F5E6DC19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A1D92-8909-57EB-9674-913973C5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B2F1-6B58-E988-A19E-0571703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95741-4C45-16FA-8F77-FFC36B1B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81A9-6AAE-4F68-B3BA-56CE3150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43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ECA5-567E-8F04-BE38-E1366845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AD8B-0511-D617-8F6A-F5F35B47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4BD7-7008-0E3F-204E-AC67CA68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D38B7-DEB6-4AE8-9817-28A01ABF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498-6DC9-4560-C64A-A19F058A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336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9966-D8B7-D2C1-FD3A-8C73DA0A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26DF8-1F6B-0587-1C89-E040C28D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40930-A47C-5C4D-72D5-3B0F2EA0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AFE1E-5D98-C168-3E47-F94DD36B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11424-4E31-3724-D91D-2FE58030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247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F06C-38B5-89D4-412C-D58EA3BB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366CB-7F3D-B164-B37F-706D56082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EC15F-BD67-D86E-D75A-B9199EBB0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B4B8E-B9FE-3B23-AB6F-212F404E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33FF7-3189-65D8-BD3F-91DF52E2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018DD-145E-A4BB-0C6A-E77A234A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47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25FD-5E06-332A-FCC1-3D1717FE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7CC9C-CEA4-2520-A183-83437946C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F89CD-54B0-E568-54BE-FCBAB4633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E7CE6-15C7-7395-887E-995B500EC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39460-D35F-A714-D474-9EDAC8A3A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66F6F-7F32-6725-974A-AB633591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E24B5-3B2C-EE0B-F4C4-0A3B5D2C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76C6E-B24E-7BE6-7498-5801FC6F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69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8931-F21F-4EB3-B63B-A806F0D3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BA9A1-B971-C6AC-6D0B-1514B6F2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BD318-CB75-917A-378D-64614DA7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880B8-F8AB-2ECE-656C-01574A05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92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BB93A-1B53-65F6-A2B7-70E41D7D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745D0-A308-FBC9-32E0-F4D7B2E1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C1E2A-9752-BE39-D019-4C5ECB9E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047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C6C2-D45F-3A08-703A-8976DE77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A39B3-F448-E673-E0DC-EC52690B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BA41D-B163-189E-2EF5-6D042493A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A4EA8-B7C4-97FA-E05D-9D876A59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1F3D4-5776-F813-2599-A7306355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BF0CC-CE98-78D5-6760-4468B754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50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904-5B55-809B-54B6-2D296967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5FEE6-04C6-C076-D980-FDD272C45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AB5CB-F9AA-779F-A116-8A2904A4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831FF-4EE1-E0EF-C896-D3580713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34AC3-0609-8A3C-4A07-1AE59984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ECABD-EA35-F80A-4452-47261132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312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CF2C-668F-35E3-EA7E-9612E300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BE48D-4B55-25A9-4B35-06912B10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CD3D-7A76-B7A3-5C71-35D9B12E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E12A-F35C-60C0-5D48-5F2D3CA2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0F08-D5E2-839D-4FBA-8150FF57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89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2A23C-0DA9-5C5D-59D6-0DDBE6F2C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53144-AF77-25FA-E93A-484521FBD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D8B7-304E-30E4-C7A9-04224623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33DD-C8E5-30E7-BC59-2B589F06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EBF13-F97A-6A6A-83E4-EDEDF8D3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639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D17FC-5155-4F55-784C-33135A68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D76A5-DB2F-3174-AE74-2966436F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7AF0-2DBD-7041-569A-328AF0D7C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AE50A-D16A-47CD-AF47-75A773AE29BA}" type="datetimeFigureOut">
              <a:rPr lang="en-CA" smtClean="0"/>
              <a:t>2025-06-02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C6E-1282-603A-D57D-F3D9D90E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DCC2E-633F-B58C-A35C-6F0960525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18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692C-DEB9-F5EF-85CA-5B691A4FC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9" y="1925729"/>
            <a:ext cx="11168743" cy="238760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 Full Body Blood Flow Simulation for TBI Dosimetry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522D-5F4E-5C96-F8F9-83A6C49E6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728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Cassidy Northway, MSc.</a:t>
            </a:r>
          </a:p>
          <a:p>
            <a:r>
              <a:rPr lang="en-US" dirty="0"/>
              <a:t>PhD Candidate</a:t>
            </a:r>
          </a:p>
          <a:p>
            <a:r>
              <a:rPr lang="en-US" dirty="0"/>
              <a:t>University of British Columbia</a:t>
            </a:r>
          </a:p>
          <a:p>
            <a:r>
              <a:rPr lang="en-US" dirty="0"/>
              <a:t>BC Cancer Centre – Vancouver</a:t>
            </a:r>
          </a:p>
          <a:p>
            <a:r>
              <a:rPr lang="en-US" dirty="0"/>
              <a:t>Supervised by Dr. Ingrid </a:t>
            </a:r>
            <a:r>
              <a:rPr lang="en-US" dirty="0" err="1"/>
              <a:t>Spadinger</a:t>
            </a:r>
            <a:endParaRPr lang="en-CA" dirty="0"/>
          </a:p>
        </p:txBody>
      </p:sp>
      <p:pic>
        <p:nvPicPr>
          <p:cNvPr id="4" name="Picture 3" descr="A blue and purple text&#10;&#10;Description automatically generated">
            <a:extLst>
              <a:ext uri="{FF2B5EF4-FFF2-40B4-BE49-F238E27FC236}">
                <a16:creationId xmlns:a16="http://schemas.microsoft.com/office/drawing/2014/main" id="{DAD171C3-E83E-A2A6-678D-0C7012C0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1361"/>
            <a:ext cx="1443769" cy="163899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7192D-A216-3622-5404-4806DAE7B324}"/>
              </a:ext>
            </a:extLst>
          </p:cNvPr>
          <p:cNvCxnSpPr>
            <a:cxnSpLocks/>
          </p:cNvCxnSpPr>
          <p:nvPr/>
        </p:nvCxnSpPr>
        <p:spPr>
          <a:xfrm>
            <a:off x="166007" y="4494893"/>
            <a:ext cx="11859986" cy="0"/>
          </a:xfrm>
          <a:prstGeom prst="line">
            <a:avLst/>
          </a:prstGeom>
          <a:ln w="5715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079529-7D3A-A414-EB65-0E0B3F78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1" y="51361"/>
            <a:ext cx="73152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52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  <a:r>
              <a:rPr lang="en-CA" sz="2400" dirty="0" err="1"/>
              <a:t>otivation</a:t>
            </a:r>
            <a:endParaRPr lang="en-CA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7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  <a:r>
              <a:rPr lang="en-CA" sz="2400" dirty="0" err="1"/>
              <a:t>otivation</a:t>
            </a:r>
            <a:endParaRPr lang="en-CA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rgbClr val="0DBFD5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00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0FDE35D2-D892-292C-8227-070A4B676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2DE99-58DC-A321-6824-77A50E0C508E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42AAF5-052D-39E4-8A99-B7EA99B9A90A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B9CE32B8-A329-E5D7-2ADB-F27447020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6F8DE3-62F5-9D43-9240-6C33776E88B5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80E1B-132F-5538-F758-261075BABD2D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 </a:t>
            </a:r>
            <a:r>
              <a:rPr lang="en-CA" sz="2000" dirty="0">
                <a:solidFill>
                  <a:schemeClr val="bg1"/>
                </a:solidFill>
              </a:rPr>
              <a:t>n</a:t>
            </a:r>
            <a:r>
              <a:rPr lang="en-CA" sz="2000" dirty="0"/>
              <a:t> 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1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91755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342C-52E4-E269-E51D-DEC71FD4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6B3A-8689-9515-5BF3-FEE1CE62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873DF6-14F6-4E5C-6CBD-9A8A916D7334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F4D68013-495E-3968-2ACD-E4E2734CADBC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2C1DA-18CC-9F8F-407E-C0162982FDA8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D0B17008-3273-E7D9-E8E6-DB2C01209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89845-1344-CB73-1A72-C65AE0C6F8AA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F56B6-B5D3-5ACE-058D-679ED5912405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CBC60490-3D2C-DF7E-0323-AB27F2F90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96B5303-BD1E-F229-9797-0EC117B3138A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76603-4621-15F4-E70A-9B767D8C72A7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 </a:t>
            </a:r>
            <a:r>
              <a:rPr lang="en-CA" sz="2000" dirty="0">
                <a:solidFill>
                  <a:schemeClr val="bg1"/>
                </a:solidFill>
              </a:rPr>
              <a:t>n</a:t>
            </a:r>
            <a:r>
              <a:rPr lang="en-CA" sz="2000" dirty="0"/>
              <a:t> 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1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  <p:pic>
        <p:nvPicPr>
          <p:cNvPr id="14" name="Picture 13" descr="A diagram of a human body&#10;&#10;AI-generated content may be incorrect.">
            <a:extLst>
              <a:ext uri="{FF2B5EF4-FFF2-40B4-BE49-F238E27FC236}">
                <a16:creationId xmlns:a16="http://schemas.microsoft.com/office/drawing/2014/main" id="{AEEC3C7E-EA88-FB06-DA21-7E16105AC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684" y="98730"/>
            <a:ext cx="3293097" cy="610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</a:t>
            </a:r>
            <a:endParaRPr lang="en-CA" sz="2400" dirty="0"/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C0BE0F0D-BFFE-3186-794E-C1A60F005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649"/>
            <a:ext cx="3068908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BBA65-642F-12FE-08F2-32F50921A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2568" y="114299"/>
            <a:ext cx="2796653" cy="518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3DDC53-58FC-A6CE-15F7-E98B30706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89" y="162735"/>
            <a:ext cx="2770527" cy="513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4B96F-D02F-FA2C-0755-8348A0EA9A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414" y="162735"/>
            <a:ext cx="2770527" cy="5136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AA928D-3CE3-B737-1CF4-18E7DE10A3D4}"/>
              </a:ext>
            </a:extLst>
          </p:cNvPr>
          <p:cNvSpPr txBox="1"/>
          <p:nvPr/>
        </p:nvSpPr>
        <p:spPr>
          <a:xfrm>
            <a:off x="2683192" y="1345721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21DAE-0A17-20F9-12B0-DE541CD7081F}"/>
              </a:ext>
            </a:extLst>
          </p:cNvPr>
          <p:cNvSpPr txBox="1"/>
          <p:nvPr/>
        </p:nvSpPr>
        <p:spPr>
          <a:xfrm>
            <a:off x="5501476" y="1260113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9129F-386C-69A8-14DF-9E6BC09DA428}"/>
              </a:ext>
            </a:extLst>
          </p:cNvPr>
          <p:cNvSpPr txBox="1"/>
          <p:nvPr/>
        </p:nvSpPr>
        <p:spPr>
          <a:xfrm>
            <a:off x="8369925" y="1345721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4947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B216E-347B-7E58-666D-2C23B6E2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001889-6846-5F46-6E2F-13EE9E8F3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190337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0390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0C3D028-B6F3-DDAF-4858-3219E26763F0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4042FC0-0FFD-5F9F-0C5F-993889910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8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93EC-3CD6-7204-C3D3-95F688F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C597-C5D4-1D44-231C-7CB1D59F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97A975-106B-FD1A-0F83-D8B1E7014868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EAE2F9C-4268-0893-0454-C3B58E7CC4F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78EB-1717-8816-024D-A3918226EE22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7B5EC-99C7-7DE2-4D92-7566F04C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094AFB-B100-DC90-F1D1-D0ACE0CDB885}"/>
              </a:ext>
            </a:extLst>
          </p:cNvPr>
          <p:cNvGraphicFramePr>
            <a:graphicFrameLocks/>
          </p:cNvGraphicFramePr>
          <p:nvPr/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59284-E6D8-1047-379A-02A84FEE425A}"/>
              </a:ext>
            </a:extLst>
          </p:cNvPr>
          <p:cNvCxnSpPr/>
          <p:nvPr/>
        </p:nvCxnSpPr>
        <p:spPr>
          <a:xfrm>
            <a:off x="7606348" y="3134958"/>
            <a:ext cx="0" cy="12652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9D1FA0-F366-1036-646E-C095AE55650D}"/>
              </a:ext>
            </a:extLst>
          </p:cNvPr>
          <p:cNvCxnSpPr>
            <a:cxnSpLocks/>
          </p:cNvCxnSpPr>
          <p:nvPr/>
        </p:nvCxnSpPr>
        <p:spPr>
          <a:xfrm flipH="1">
            <a:off x="6920180" y="4400166"/>
            <a:ext cx="655607" cy="11437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BDDC75-AE24-3F5C-E1AD-03D2A16A3396}"/>
              </a:ext>
            </a:extLst>
          </p:cNvPr>
          <p:cNvCxnSpPr>
            <a:cxnSpLocks/>
          </p:cNvCxnSpPr>
          <p:nvPr/>
        </p:nvCxnSpPr>
        <p:spPr>
          <a:xfrm>
            <a:off x="7617849" y="4400166"/>
            <a:ext cx="626853" cy="105817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43C1564-906C-A8D8-8E44-34A86F156EC0}"/>
              </a:ext>
            </a:extLst>
          </p:cNvPr>
          <p:cNvSpPr/>
          <p:nvPr/>
        </p:nvSpPr>
        <p:spPr>
          <a:xfrm>
            <a:off x="7540215" y="4339781"/>
            <a:ext cx="132265" cy="12077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0390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/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/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99395B6-4C55-6DA3-D5CF-B8B8F3989562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CF774D-E0DB-3505-EDB7-9E41389AF8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6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DD4C8-2BAE-0CCC-636D-64822F1D8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E75B4-202A-171C-5BE9-115758F35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95BCD4-BD2B-5581-B5FA-1E3599946FE2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DE22EA-E6D5-A4CA-5670-1E54DCD5B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B41D34-9435-2D80-614E-5F283E8BC6C4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4574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2C9C-921E-8952-0B37-77DE1F3E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47B3-89E7-A1CB-324A-91B53589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99951-79D7-0809-2837-360FA3B741CC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455AB62-91AC-F944-CFE4-E699B34E01B2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2F391-DA1F-E2ED-C011-6763F4A8D3B3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E45FF-1286-75AF-8E1F-DE7576F53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A46F-7147-5E50-CFF8-C8893986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F1B80-E5DB-4FE2-E946-3D9176730C61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5EEC87-C5F5-4D11-FB2E-781B5E5E3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D304C3-CB54-2A18-93F2-C729251D3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277B84-812A-0B80-C38E-6CDCBC02700A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6902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DE72-0E0B-90F4-F339-0C2CEC4F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37B6-DE2F-F465-165F-BFB85AB4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11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EA2A5-488E-F27F-750C-996C462E7A5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DDC68BC3-6D16-DA1E-5FD3-BBE18D4B1ED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48761-3FB9-238A-9406-218949DEE56F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963AD-26A0-E57F-0678-417CE4B0F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C4775-1598-4839-0F1D-4CEB9428C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67556-4F1C-3EB0-8DB9-663420671866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C75EBD-FB90-846F-8710-CF6D5317C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848A20-9ED0-8439-0689-975F532F1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44AE7D-EBC8-1BA2-E0B9-5A44E56A4E3E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57B9-121F-3377-5F0C-EDCF2CBDD9EA}"/>
              </a:ext>
            </a:extLst>
          </p:cNvPr>
          <p:cNvSpPr/>
          <p:nvPr/>
        </p:nvSpPr>
        <p:spPr>
          <a:xfrm>
            <a:off x="3163824" y="2697479"/>
            <a:ext cx="877824" cy="1828057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9E28-4969-4AEC-D6A1-1D8BCD060410}"/>
              </a:ext>
            </a:extLst>
          </p:cNvPr>
          <p:cNvSpPr/>
          <p:nvPr/>
        </p:nvSpPr>
        <p:spPr>
          <a:xfrm>
            <a:off x="7635240" y="3172968"/>
            <a:ext cx="722376" cy="362772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41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374D-2E8A-DCE0-5E2B-6F3D5D2F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3E86-2010-6D1A-EF0A-ED662CC9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9F399C-09C3-7269-6916-06E0A82E65B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2031726B-9129-41F4-B2B2-423F49A78D1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E863E-BB63-9212-3060-82E75D78B745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5774-18EE-4CCC-8792-9BAE46502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3D9EEA-A403-45DA-5F1E-02C4F5686E61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75584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7FF2-F17D-17C3-8328-472EAB1C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F184-6774-62A5-C28B-7FC2673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9DE24A-0BDC-3198-69DE-0EB949F42CC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A7451DB-B557-5ECD-67EC-0AA480BD6BE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406EB-31C0-7E46-EC53-F205A17289D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6C16B-C74D-64D0-2285-730E7920A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ED6EB8-4694-F23D-17D1-F35128E0AC0C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04CEF93-766E-0A4D-64EA-2638E9F9E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904641"/>
              </p:ext>
            </p:extLst>
          </p:nvPr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711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EA2FD-7C02-8015-FE3F-6D2753BF3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F2927-6D1A-8464-0A5C-D11172ED7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01" y="741203"/>
            <a:ext cx="5285354" cy="401514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01E08B3-AE1E-940E-45FF-14DF6F9DC286}"/>
              </a:ext>
            </a:extLst>
          </p:cNvPr>
          <p:cNvSpPr/>
          <p:nvPr/>
        </p:nvSpPr>
        <p:spPr>
          <a:xfrm>
            <a:off x="5020056" y="3326652"/>
            <a:ext cx="932688" cy="378720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97808-DB44-6728-8F76-0B702CE269AE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Blanco, P.J., Watanabe, S.M., Dari, E.A. et al. Blood flow distribution in an anatomically detailed arterial network model: criteria and algorithms. 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Biomech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Model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Mechanobiol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 13, 1303–1330 (2014).</a:t>
            </a:r>
          </a:p>
        </p:txBody>
      </p:sp>
    </p:spTree>
    <p:extLst>
      <p:ext uri="{BB962C8B-B14F-4D97-AF65-F5344CB8AC3E}">
        <p14:creationId xmlns:p14="http://schemas.microsoft.com/office/powerpoint/2010/main" val="121189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CF63-8908-3047-371E-3B6057B9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22E0-82B6-3C90-E669-ED0C4064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6FBBD-9A8E-F48D-6467-EE65C78B5BF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4686CEC1-707F-42EE-356D-95CECADE8F76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89DA6-E321-7F11-2474-0234A0048E2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3CC16-D1F2-0AEC-9530-7B04C1C05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811886-F8AC-B233-317A-8D9BA073F5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17802"/>
              </p:ext>
            </p:extLst>
          </p:nvPr>
        </p:nvGraphicFramePr>
        <p:xfrm>
          <a:off x="3068907" y="762518"/>
          <a:ext cx="8626690" cy="524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9037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5DE488-F020-4E7E-4AB8-32E725BC769A}"/>
              </a:ext>
            </a:extLst>
          </p:cNvPr>
          <p:cNvSpPr/>
          <p:nvPr/>
        </p:nvSpPr>
        <p:spPr>
          <a:xfrm>
            <a:off x="3867151" y="853444"/>
            <a:ext cx="7707716" cy="716085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90DB17-EDD7-7FC2-EC7A-89609D16AFE2}"/>
              </a:ext>
            </a:extLst>
          </p:cNvPr>
          <p:cNvSpPr/>
          <p:nvPr/>
        </p:nvSpPr>
        <p:spPr>
          <a:xfrm>
            <a:off x="3867150" y="1569530"/>
            <a:ext cx="7017223" cy="1278446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1F8515-29C6-A4F1-9103-183C1FA74CCE}"/>
              </a:ext>
            </a:extLst>
          </p:cNvPr>
          <p:cNvSpPr/>
          <p:nvPr/>
        </p:nvSpPr>
        <p:spPr>
          <a:xfrm>
            <a:off x="3867150" y="2847977"/>
            <a:ext cx="2486025" cy="2627044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5645F9-3C6A-A530-1535-A8D9E0403432}"/>
              </a:ext>
            </a:extLst>
          </p:cNvPr>
          <p:cNvSpPr/>
          <p:nvPr/>
        </p:nvSpPr>
        <p:spPr>
          <a:xfrm>
            <a:off x="6353174" y="2847977"/>
            <a:ext cx="3284269" cy="2266948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A69C6-8CD8-DF73-40F6-33417E46EB90}"/>
              </a:ext>
            </a:extLst>
          </p:cNvPr>
          <p:cNvSpPr/>
          <p:nvPr/>
        </p:nvSpPr>
        <p:spPr>
          <a:xfrm>
            <a:off x="10884374" y="1569529"/>
            <a:ext cx="690494" cy="3545395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60288-653D-5828-696B-6C2F4E61A716}"/>
              </a:ext>
            </a:extLst>
          </p:cNvPr>
          <p:cNvSpPr/>
          <p:nvPr/>
        </p:nvSpPr>
        <p:spPr>
          <a:xfrm>
            <a:off x="10884371" y="5114924"/>
            <a:ext cx="690495" cy="360097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6E1F594-8726-DF63-E85D-A4848C2B5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379948"/>
              </p:ext>
            </p:extLst>
          </p:nvPr>
        </p:nvGraphicFramePr>
        <p:xfrm>
          <a:off x="3068907" y="762518"/>
          <a:ext cx="8626690" cy="524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67EE289-6BFB-B3C2-43BF-0C663E6961F7}"/>
              </a:ext>
            </a:extLst>
          </p:cNvPr>
          <p:cNvSpPr/>
          <p:nvPr/>
        </p:nvSpPr>
        <p:spPr>
          <a:xfrm>
            <a:off x="6353174" y="5106622"/>
            <a:ext cx="3284269" cy="360097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661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Travel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rgbClr val="0DBF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89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1F8515-29C6-A4F1-9103-183C1FA74CCE}"/>
              </a:ext>
            </a:extLst>
          </p:cNvPr>
          <p:cNvSpPr/>
          <p:nvPr/>
        </p:nvSpPr>
        <p:spPr>
          <a:xfrm>
            <a:off x="3638545" y="2877450"/>
            <a:ext cx="7239001" cy="2627044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Travel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73A899-7053-5E3B-2584-C086AD02F458}"/>
                  </a:ext>
                </a:extLst>
              </p:cNvPr>
              <p:cNvSpPr txBox="1"/>
              <p:nvPr/>
            </p:nvSpPr>
            <p:spPr>
              <a:xfrm>
                <a:off x="3638544" y="3346380"/>
                <a:ext cx="723900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Mean Travel Time (MTT) = </a:t>
                </a:r>
                <a:r>
                  <a:rPr lang="en-US" sz="3200" dirty="0"/>
                  <a:t>39.11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3200" dirty="0"/>
                  <a:t>15.62 sec</a:t>
                </a:r>
              </a:p>
              <a:p>
                <a:endParaRPr lang="en-CA" sz="3200" dirty="0"/>
              </a:p>
              <a:p>
                <a:r>
                  <a:rPr lang="en-CA" sz="2400" dirty="0"/>
                  <a:t>HEDOS-a MTT = </a:t>
                </a:r>
                <a:r>
                  <a:rPr lang="en-CA" sz="3200" dirty="0"/>
                  <a:t>44 sec</a:t>
                </a:r>
                <a:endParaRPr lang="en-CA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73A899-7053-5E3B-2584-C086AD02F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44" y="3346380"/>
                <a:ext cx="7239001" cy="1569660"/>
              </a:xfrm>
              <a:prstGeom prst="rect">
                <a:avLst/>
              </a:prstGeom>
              <a:blipFill>
                <a:blip r:embed="rId4"/>
                <a:stretch>
                  <a:fillRect l="-1348" t="-4669" b="-124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rgbClr val="0DBF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2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6537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Future Applications</a:t>
            </a:r>
            <a:endParaRPr lang="en-CA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EA863-7E8F-007B-E2E1-B8B1EFE93EC2}"/>
              </a:ext>
            </a:extLst>
          </p:cNvPr>
          <p:cNvSpPr txBox="1"/>
          <p:nvPr/>
        </p:nvSpPr>
        <p:spPr>
          <a:xfrm>
            <a:off x="166007" y="6464819"/>
            <a:ext cx="11531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Su, S et al. “A new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DOSXYZnrc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method for Monte Carlo simulations of 4D dose distributions.” 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BlinkMacSystemFont"/>
              </a:rPr>
              <a:t>Physics in medicine and biology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 vol. 66, 24 2021.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761B5-2779-3E52-EACC-A22D04FD8A93}"/>
              </a:ext>
            </a:extLst>
          </p:cNvPr>
          <p:cNvSpPr txBox="1"/>
          <p:nvPr/>
        </p:nvSpPr>
        <p:spPr>
          <a:xfrm>
            <a:off x="3699075" y="4675556"/>
            <a:ext cx="8328146" cy="1572326"/>
          </a:xfrm>
          <a:prstGeom prst="rect">
            <a:avLst/>
          </a:prstGeom>
          <a:solidFill>
            <a:srgbClr val="E3D6E9"/>
          </a:solidFill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CA" sz="8800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7" name="Picture 6" descr="A blue and purple text&#10;&#10;Description automatically generated">
            <a:extLst>
              <a:ext uri="{FF2B5EF4-FFF2-40B4-BE49-F238E27FC236}">
                <a16:creationId xmlns:a16="http://schemas.microsoft.com/office/drawing/2014/main" id="{DA164899-3FF9-1A2C-3286-418579F45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1361"/>
            <a:ext cx="1443769" cy="16389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AF3920-8B76-2005-4767-75AD620D9AF0}"/>
              </a:ext>
            </a:extLst>
          </p:cNvPr>
          <p:cNvSpPr txBox="1"/>
          <p:nvPr/>
        </p:nvSpPr>
        <p:spPr>
          <a:xfrm>
            <a:off x="166007" y="914400"/>
            <a:ext cx="5539849" cy="1569660"/>
          </a:xfrm>
          <a:prstGeom prst="rect">
            <a:avLst/>
          </a:prstGeom>
          <a:solidFill>
            <a:srgbClr val="E3D6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4D Monte Carlo simulations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Co-60 TBI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POP TBI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VMAT TBI</a:t>
            </a:r>
          </a:p>
        </p:txBody>
      </p:sp>
      <p:pic>
        <p:nvPicPr>
          <p:cNvPr id="1026" name="Picture 2" descr="Lymphoma Canada Research Grants - Deadline April 23, 2021 - Canadian Centre  for Applied Research in Cancer Control">
            <a:extLst>
              <a:ext uri="{FF2B5EF4-FFF2-40B4-BE49-F238E27FC236}">
                <a16:creationId xmlns:a16="http://schemas.microsoft.com/office/drawing/2014/main" id="{706EA0A8-0C34-FACA-2779-DBDF7A6AF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972" y="51360"/>
            <a:ext cx="4006432" cy="163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14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Steady State Identification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/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2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4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p>
                                      </m:sSubSup>
                                      <m:r>
                                        <a:rPr lang="en-CA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CA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AF2DCD-1FEA-2374-F04B-D2C76AAD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6678" y="114299"/>
            <a:ext cx="7017026" cy="4848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53EA24-AA01-D04B-4477-0DF34E1A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" y="575964"/>
            <a:ext cx="3068907" cy="568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A8C40-19C4-785F-592F-B96D3B0198A2}"/>
              </a:ext>
            </a:extLst>
          </p:cNvPr>
          <p:cNvSpPr txBox="1"/>
          <p:nvPr/>
        </p:nvSpPr>
        <p:spPr>
          <a:xfrm>
            <a:off x="5194997" y="372386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6EE72-8663-E2CD-4FB2-D2AA94EDEE73}"/>
              </a:ext>
            </a:extLst>
          </p:cNvPr>
          <p:cNvSpPr txBox="1"/>
          <p:nvPr/>
        </p:nvSpPr>
        <p:spPr>
          <a:xfrm>
            <a:off x="6891130" y="748748"/>
            <a:ext cx="273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All Blood Voxels Released</a:t>
            </a:r>
          </a:p>
        </p:txBody>
      </p:sp>
    </p:spTree>
    <p:extLst>
      <p:ext uri="{BB962C8B-B14F-4D97-AF65-F5344CB8AC3E}">
        <p14:creationId xmlns:p14="http://schemas.microsoft.com/office/powerpoint/2010/main" val="1351717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8F18-624E-72B0-2F9C-FAF6135E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3B9F-45E8-0432-FBDD-6C1EFD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21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681CE-DF11-4CB9-66AA-61F08C1B6123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A4DA4C74-0F02-28AD-D7F1-ABA040AE41D9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4AE0-C253-63A5-9B51-D26A5C53E9DD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1F85F-8D1F-980C-754F-DA009D2F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BBE7-8CE1-AAA0-E56E-30EB999D7CE3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/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7E4B4D4-9F79-6698-665F-BDCC3927EE31}"/>
              </a:ext>
            </a:extLst>
          </p:cNvPr>
          <p:cNvGraphicFramePr>
            <a:graphicFrameLocks/>
          </p:cNvGraphicFramePr>
          <p:nvPr/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4206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22130" y="6294440"/>
            <a:ext cx="1171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Jin, Young-Hoon, </a:t>
            </a:r>
            <a:r>
              <a:rPr lang="en-US" sz="1200" dirty="0"/>
              <a:t>and</a:t>
            </a:r>
            <a:r>
              <a:rPr lang="en-US" sz="1200" dirty="0">
                <a:effectLst/>
              </a:rPr>
              <a:t> Won-Hyung Lee. “Fast cylinder shape matching using random sample consensus in large Scale Point Cloud.” </a:t>
            </a:r>
            <a:r>
              <a:rPr lang="en-US" sz="1200" i="1" dirty="0">
                <a:effectLst/>
              </a:rPr>
              <a:t>Applied Sciences</a:t>
            </a:r>
            <a:r>
              <a:rPr lang="en-US" sz="1200" dirty="0">
                <a:effectLst/>
              </a:rPr>
              <a:t>,  9,  5, 2019.</a:t>
            </a:r>
          </a:p>
          <a:p>
            <a:r>
              <a:rPr lang="en-CA" sz="1200" dirty="0"/>
              <a:t>Watanabe, </a:t>
            </a:r>
            <a:r>
              <a:rPr lang="en-CA" sz="1200" dirty="0" err="1"/>
              <a:t>Sansuke</a:t>
            </a:r>
            <a:r>
              <a:rPr lang="en-CA" sz="1200" dirty="0"/>
              <a:t> M., Blanco, Pablo J., and </a:t>
            </a:r>
            <a:r>
              <a:rPr lang="en-CA" sz="1200" dirty="0" err="1"/>
              <a:t>Feijóo</a:t>
            </a:r>
            <a:r>
              <a:rPr lang="en-CA" sz="1200" dirty="0"/>
              <a:t>, Raúl A.. "Mathematical Model of Blood Flow in an Anatomically Detailed Arterial Network of the Arm." </a:t>
            </a:r>
            <a:r>
              <a:rPr lang="en-CA" sz="1200" i="1" dirty="0">
                <a:effectLst/>
              </a:rPr>
              <a:t>ESAIM: Mathematical   	Modelling and Numerical Analysis - </a:t>
            </a:r>
            <a:r>
              <a:rPr lang="en-CA" sz="1200" i="1" dirty="0" err="1">
                <a:effectLst/>
              </a:rPr>
              <a:t>Modélisation</a:t>
            </a:r>
            <a:r>
              <a:rPr lang="en-CA" sz="1200" i="1" dirty="0">
                <a:effectLst/>
              </a:rPr>
              <a:t> </a:t>
            </a:r>
            <a:r>
              <a:rPr lang="en-CA" sz="1200" i="1" dirty="0" err="1">
                <a:effectLst/>
              </a:rPr>
              <a:t>Mathématique</a:t>
            </a:r>
            <a:r>
              <a:rPr lang="en-CA" sz="1200" i="1" dirty="0">
                <a:effectLst/>
              </a:rPr>
              <a:t> et Analyse Numérique</a:t>
            </a:r>
            <a:r>
              <a:rPr lang="en-CA" sz="1200" dirty="0"/>
              <a:t> 47, 4, 2013.</a:t>
            </a:r>
            <a:endParaRPr lang="en-US" sz="1200" dirty="0">
              <a:effectLst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r>
              <a:rPr lang="en-CA" sz="2400" dirty="0" err="1"/>
              <a:t>imension</a:t>
            </a:r>
            <a:r>
              <a:rPr lang="en-CA" sz="2400" dirty="0"/>
              <a:t> Extraction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0573126-EBCF-5DE9-B420-6770F516C707}"/>
              </a:ext>
            </a:extLst>
          </p:cNvPr>
          <p:cNvSpPr/>
          <p:nvPr/>
        </p:nvSpPr>
        <p:spPr>
          <a:xfrm rot="1392224">
            <a:off x="2418564" y="2133211"/>
            <a:ext cx="2700641" cy="2655983"/>
          </a:xfrm>
          <a:prstGeom prst="arc">
            <a:avLst>
              <a:gd name="adj1" fmla="val 12755381"/>
              <a:gd name="adj2" fmla="val 12687122"/>
            </a:avLst>
          </a:prstGeom>
          <a:ln w="76200">
            <a:solidFill>
              <a:srgbClr val="0DBFD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D6BBEFC-8A51-D0F5-9A64-B09A0495572A}"/>
              </a:ext>
            </a:extLst>
          </p:cNvPr>
          <p:cNvSpPr/>
          <p:nvPr/>
        </p:nvSpPr>
        <p:spPr>
          <a:xfrm rot="1392224">
            <a:off x="2418565" y="2133210"/>
            <a:ext cx="2700641" cy="2655983"/>
          </a:xfrm>
          <a:prstGeom prst="arc">
            <a:avLst>
              <a:gd name="adj1" fmla="val 12755381"/>
              <a:gd name="adj2" fmla="val 21052343"/>
            </a:avLst>
          </a:prstGeom>
          <a:ln w="76200">
            <a:solidFill>
              <a:srgbClr val="905A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A0C3F-21DB-ED55-5967-798EB89EE96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3013471" y="2349918"/>
            <a:ext cx="207995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D9307D-6C57-D380-33FF-9F70C81C64A2}"/>
              </a:ext>
            </a:extLst>
          </p:cNvPr>
          <p:cNvCxnSpPr>
            <a:cxnSpLocks/>
          </p:cNvCxnSpPr>
          <p:nvPr/>
        </p:nvCxnSpPr>
        <p:spPr>
          <a:xfrm>
            <a:off x="3013471" y="2348975"/>
            <a:ext cx="1459470" cy="0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55116-67F3-5493-5627-2C8F4464B651}"/>
              </a:ext>
            </a:extLst>
          </p:cNvPr>
          <p:cNvCxnSpPr>
            <a:cxnSpLocks/>
          </p:cNvCxnSpPr>
          <p:nvPr/>
        </p:nvCxnSpPr>
        <p:spPr>
          <a:xfrm flipH="1" flipV="1">
            <a:off x="4472941" y="2371007"/>
            <a:ext cx="62048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E8D8672-08F8-B93A-D89A-B4734AAA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123684"/>
            <a:ext cx="2086385" cy="5149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37AAFA-CD46-A0E9-37ED-F57C9F4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712" y="1184687"/>
            <a:ext cx="1871451" cy="51496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48CDBB-64E2-31DF-D6E0-19555A459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92" b="6968"/>
          <a:stretch/>
     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/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Superior Mesenteric Artery</a:t>
                </a:r>
              </a:p>
              <a:p>
                <a:endParaRPr lang="en-CA" i="1" dirty="0">
                  <a:latin typeface="Cambria Math" panose="02040503050406030204" pitchFamily="18" charset="0"/>
                </a:endParaRPr>
              </a:p>
              <a:p>
                <a:r>
                  <a:rPr lang="en-CA" dirty="0"/>
                  <a:t>Calculated length (N =12)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=220.84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CA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CA" dirty="0"/>
              </a:p>
              <a:p>
                <a:r>
                  <a:rPr lang="en-CA" dirty="0"/>
                  <a:t>Manually measured length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=212.75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r>
                  <a:rPr lang="en-CA" dirty="0" err="1"/>
                  <a:t>Hemolab</a:t>
                </a:r>
                <a:r>
                  <a:rPr lang="en-CA" dirty="0"/>
                  <a:t> Value: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=216.79 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>
                    <a:latin typeface="Cambria Math" panose="02040503050406030204" pitchFamily="18" charset="0"/>
                  </a:rPr>
                  <a:t>Calculated radius (N = 12)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=1.79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2.79 %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=1.66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18.67 %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blipFill>
                <a:blip r:embed="rId6"/>
                <a:stretch>
                  <a:fillRect l="-1706" t="-809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E217D-5F63-B2BF-8D2A-06B8E42D1B56}"/>
              </a:ext>
            </a:extLst>
          </p:cNvPr>
          <p:cNvCxnSpPr>
            <a:cxnSpLocks/>
          </p:cNvCxnSpPr>
          <p:nvPr/>
        </p:nvCxnSpPr>
        <p:spPr>
          <a:xfrm flipV="1">
            <a:off x="9079699" y="1706637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E53CA-C48B-1910-D20E-CAF02EC79EBF}"/>
              </a:ext>
            </a:extLst>
          </p:cNvPr>
          <p:cNvCxnSpPr>
            <a:cxnSpLocks/>
          </p:cNvCxnSpPr>
          <p:nvPr/>
        </p:nvCxnSpPr>
        <p:spPr>
          <a:xfrm flipV="1">
            <a:off x="9134359" y="4341854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9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66007" y="6420757"/>
            <a:ext cx="1165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E414F"/>
                </a:solidFill>
                <a:effectLst/>
              </a:rPr>
              <a:t>Olufsen, Mette Sofie. “Structured tree outflow condition for blood flow in larger systemic arteries.” </a:t>
            </a:r>
            <a:r>
              <a:rPr lang="en-US" sz="1200" b="0" i="1" dirty="0">
                <a:solidFill>
                  <a:srgbClr val="2E414F"/>
                </a:solidFill>
                <a:effectLst/>
              </a:rPr>
              <a:t>American journal of physiology. Heart and circulatory physiology</a:t>
            </a:r>
            <a:r>
              <a:rPr lang="en-US" sz="1200" b="0" i="0" dirty="0">
                <a:solidFill>
                  <a:srgbClr val="2E414F"/>
                </a:solidFill>
                <a:effectLst/>
              </a:rPr>
              <a:t> , 276,  1, 1999</a:t>
            </a:r>
            <a:r>
              <a:rPr lang="en-US" sz="1200" dirty="0">
                <a:solidFill>
                  <a:srgbClr val="2E414F"/>
                </a:solidFill>
              </a:rPr>
              <a:t>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Network and Simplifications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8CB7F-0AFF-38AA-73E5-C682FE1B077A}"/>
              </a:ext>
            </a:extLst>
          </p:cNvPr>
          <p:cNvCxnSpPr/>
          <p:nvPr/>
        </p:nvCxnSpPr>
        <p:spPr>
          <a:xfrm flipV="1">
            <a:off x="1195251" y="1136469"/>
            <a:ext cx="0" cy="489857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E46859-D6D2-D990-CA2C-3ADDF7B42026}"/>
              </a:ext>
            </a:extLst>
          </p:cNvPr>
          <p:cNvCxnSpPr>
            <a:cxnSpLocks/>
          </p:cNvCxnSpPr>
          <p:nvPr/>
        </p:nvCxnSpPr>
        <p:spPr>
          <a:xfrm flipV="1">
            <a:off x="1195251" y="3261052"/>
            <a:ext cx="661851" cy="172429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6B578-3A27-11CD-0DBE-9D9422EDF378}"/>
              </a:ext>
            </a:extLst>
          </p:cNvPr>
          <p:cNvCxnSpPr>
            <a:cxnSpLocks/>
          </p:cNvCxnSpPr>
          <p:nvPr/>
        </p:nvCxnSpPr>
        <p:spPr>
          <a:xfrm flipH="1" flipV="1">
            <a:off x="439782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910EB-F1FD-F8BE-2F9A-58466EF45986}"/>
              </a:ext>
            </a:extLst>
          </p:cNvPr>
          <p:cNvCxnSpPr>
            <a:cxnSpLocks/>
          </p:cNvCxnSpPr>
          <p:nvPr/>
        </p:nvCxnSpPr>
        <p:spPr>
          <a:xfrm flipH="1" flipV="1">
            <a:off x="1476648" y="2981336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0774D-CF89-C9FD-AC60-44764F6A270A}"/>
              </a:ext>
            </a:extLst>
          </p:cNvPr>
          <p:cNvCxnSpPr>
            <a:cxnSpLocks/>
          </p:cNvCxnSpPr>
          <p:nvPr/>
        </p:nvCxnSpPr>
        <p:spPr>
          <a:xfrm flipH="1">
            <a:off x="1476648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0B26D4-9099-02BE-20A0-AD3A198B2973}"/>
              </a:ext>
            </a:extLst>
          </p:cNvPr>
          <p:cNvCxnSpPr>
            <a:cxnSpLocks/>
          </p:cNvCxnSpPr>
          <p:nvPr/>
        </p:nvCxnSpPr>
        <p:spPr>
          <a:xfrm flipV="1">
            <a:off x="3509006" y="4985349"/>
            <a:ext cx="0" cy="104969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7248EC-E49F-B417-0D64-7447699A262D}"/>
              </a:ext>
            </a:extLst>
          </p:cNvPr>
          <p:cNvCxnSpPr>
            <a:cxnSpLocks/>
          </p:cNvCxnSpPr>
          <p:nvPr/>
        </p:nvCxnSpPr>
        <p:spPr>
          <a:xfrm flipV="1">
            <a:off x="3509006" y="3261052"/>
            <a:ext cx="0" cy="164705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EBEB58-F2BC-6A7A-D8FD-B51E7513DC74}"/>
              </a:ext>
            </a:extLst>
          </p:cNvPr>
          <p:cNvCxnSpPr>
            <a:cxnSpLocks/>
          </p:cNvCxnSpPr>
          <p:nvPr/>
        </p:nvCxnSpPr>
        <p:spPr>
          <a:xfrm flipV="1">
            <a:off x="3487235" y="1168072"/>
            <a:ext cx="0" cy="194501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FF62E-9BAF-7952-1BBA-F0EF738654D1}"/>
              </a:ext>
            </a:extLst>
          </p:cNvPr>
          <p:cNvCxnSpPr>
            <a:cxnSpLocks/>
          </p:cNvCxnSpPr>
          <p:nvPr/>
        </p:nvCxnSpPr>
        <p:spPr>
          <a:xfrm flipH="1" flipV="1">
            <a:off x="2683870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E1C829-FBFC-FFD6-E03C-4CCE7CD60E78}"/>
              </a:ext>
            </a:extLst>
          </p:cNvPr>
          <p:cNvCxnSpPr>
            <a:cxnSpLocks/>
          </p:cNvCxnSpPr>
          <p:nvPr/>
        </p:nvCxnSpPr>
        <p:spPr>
          <a:xfrm flipV="1">
            <a:off x="3561805" y="4330337"/>
            <a:ext cx="254996" cy="619348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DCEF6C-0D57-1AC9-95D8-0654564A9B31}"/>
              </a:ext>
            </a:extLst>
          </p:cNvPr>
          <p:cNvCxnSpPr>
            <a:cxnSpLocks/>
          </p:cNvCxnSpPr>
          <p:nvPr/>
        </p:nvCxnSpPr>
        <p:spPr>
          <a:xfrm flipV="1">
            <a:off x="3860071" y="3847351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D059B0-B9A5-9796-F4FC-734620244C4D}"/>
              </a:ext>
            </a:extLst>
          </p:cNvPr>
          <p:cNvCxnSpPr>
            <a:cxnSpLocks/>
          </p:cNvCxnSpPr>
          <p:nvPr/>
        </p:nvCxnSpPr>
        <p:spPr>
          <a:xfrm flipH="1">
            <a:off x="3892730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A19BB3-B8C8-6ABC-7620-52D254EF8C98}"/>
              </a:ext>
            </a:extLst>
          </p:cNvPr>
          <p:cNvCxnSpPr>
            <a:cxnSpLocks/>
          </p:cNvCxnSpPr>
          <p:nvPr/>
        </p:nvCxnSpPr>
        <p:spPr>
          <a:xfrm flipH="1" flipV="1">
            <a:off x="3807821" y="3037585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1A42B-1A55-5F42-E926-B291BC121C8F}"/>
              </a:ext>
            </a:extLst>
          </p:cNvPr>
          <p:cNvCxnSpPr>
            <a:cxnSpLocks/>
          </p:cNvCxnSpPr>
          <p:nvPr/>
        </p:nvCxnSpPr>
        <p:spPr>
          <a:xfrm flipV="1">
            <a:off x="4064859" y="3364366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/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lIns="108000" tIns="108000" rIns="108000" bIns="10800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  <m:sup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618BB12-C664-E47E-1E47-3C0A9A7EFD53}"/>
              </a:ext>
            </a:extLst>
          </p:cNvPr>
          <p:cNvSpPr txBox="1"/>
          <p:nvPr/>
        </p:nvSpPr>
        <p:spPr>
          <a:xfrm>
            <a:off x="7660276" y="115496"/>
            <a:ext cx="4477723" cy="6240817"/>
          </a:xfrm>
          <a:prstGeom prst="rect">
            <a:avLst/>
          </a:prstGeom>
          <a:solidFill>
            <a:srgbClr val="905AA6">
              <a:alpha val="25000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B7EA6-4DB5-4758-2C01-F01657621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1" r="2344"/>
          <a:stretch/>
        </p:blipFill>
        <p:spPr>
          <a:xfrm>
            <a:off x="7860361" y="196558"/>
            <a:ext cx="4158000" cy="330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D60C4-6156-DC97-38B2-CDB0BA2C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6" b="-1"/>
          <a:stretch/>
        </p:blipFill>
        <p:spPr>
          <a:xfrm>
            <a:off x="7860362" y="3065992"/>
            <a:ext cx="4158000" cy="31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6BC5E-1DDE-F4D9-128F-E5D89ADFB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89" y="344248"/>
            <a:ext cx="2066940" cy="571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0AAB71-8CD8-E745-F20E-9893626D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183" y="3153992"/>
            <a:ext cx="2066940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1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1257</Words>
  <Application>Microsoft Office PowerPoint</Application>
  <PresentationFormat>Widescreen</PresentationFormat>
  <Paragraphs>163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BlinkMacSystemFont</vt:lpstr>
      <vt:lpstr>Cambria Math</vt:lpstr>
      <vt:lpstr>Century Gothic</vt:lpstr>
      <vt:lpstr>Nexus Sans Pro</vt:lpstr>
      <vt:lpstr>Office Theme</vt:lpstr>
      <vt:lpstr>A Full Body Blood Flow Simulation for TBI Dosimetry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cbn@student.ubc.ca</cp:lastModifiedBy>
  <cp:revision>55</cp:revision>
  <dcterms:created xsi:type="dcterms:W3CDTF">2025-05-13T18:41:50Z</dcterms:created>
  <dcterms:modified xsi:type="dcterms:W3CDTF">2025-06-02T21:41:13Z</dcterms:modified>
</cp:coreProperties>
</file>