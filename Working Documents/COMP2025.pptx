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0" r:id="rId3"/>
    <p:sldId id="258" r:id="rId4"/>
    <p:sldId id="274" r:id="rId5"/>
    <p:sldId id="259" r:id="rId6"/>
    <p:sldId id="264" r:id="rId7"/>
    <p:sldId id="271" r:id="rId8"/>
    <p:sldId id="272" r:id="rId9"/>
    <p:sldId id="273" r:id="rId10"/>
    <p:sldId id="268" r:id="rId11"/>
    <p:sldId id="276" r:id="rId12"/>
    <p:sldId id="269" r:id="rId13"/>
    <p:sldId id="263" r:id="rId14"/>
    <p:sldId id="277" r:id="rId15"/>
    <p:sldId id="27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BF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DBBB50-28C2-4259-8A6E-8511330E65C5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2A1542-6F33-408E-AC39-5232C11A66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194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7143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Want to add actual mesh subset image from 3d mesh, also indicate what info we actually extracted from the mesh files for the purposes of the sim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637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an illustration that contains both arteries and veins with an indication of compartments that is based on the illustrations from the paper. Promise we will go on a BVs journey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11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0482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happens when the BV reaches a compartment,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1160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did the data come from! What validates or doesn’t validate it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5576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9498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we need to know this, how we determined it, results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4d mc to determine does to locations of </a:t>
            </a:r>
            <a:r>
              <a:rPr lang="en-US" dirty="0" err="1"/>
              <a:t>xcat</a:t>
            </a:r>
            <a:r>
              <a:rPr lang="en-US" dirty="0"/>
              <a:t> during </a:t>
            </a:r>
            <a:r>
              <a:rPr lang="en-US" dirty="0" err="1"/>
              <a:t>tbi</a:t>
            </a:r>
            <a:r>
              <a:rPr lang="en-US"/>
              <a:t> methods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54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F1420-3D68-2722-81F9-5F5E6DC19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9A1D92-8909-57EB-9674-913973C5F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6B2F1-6B58-E988-A19E-0571703A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95741-4C45-16FA-8F77-FFC36B1BC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281A9-6AAE-4F68-B3BA-56CE3150A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437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1ECA5-567E-8F04-BE38-E1366845A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3AD8B-0511-D617-8F6A-F5F35B47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B4BD7-7008-0E3F-204E-AC67CA68D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D38B7-DEB6-4AE8-9817-28A01ABF5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2D498-6DC9-4560-C64A-A19F058A2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3364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9966-D8B7-D2C1-FD3A-8C73DA0A9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26DF8-1F6B-0587-1C89-E040C28DB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40930-A47C-5C4D-72D5-3B0F2EA0C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AFE1E-5D98-C168-3E47-F94DD36BA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11424-4E31-3724-D91D-2FE580309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2472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F06C-38B5-89D4-412C-D58EA3BB0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366CB-7F3D-B164-B37F-706D56082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EC15F-BD67-D86E-D75A-B9199EBB0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B4B8E-B9FE-3B23-AB6F-212F404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33FF7-3189-65D8-BD3F-91DF52E2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018DD-145E-A4BB-0C6A-E77A234A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347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25FD-5E06-332A-FCC1-3D1717FEA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7CC9C-CEA4-2520-A183-83437946C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3F89CD-54B0-E568-54BE-FCBAB4633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9E7CE6-15C7-7395-887E-995B500ECB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E39460-D35F-A714-D474-9EDAC8A3AA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566F6F-7F32-6725-974A-AB633591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E24B5-3B2C-EE0B-F4C4-0A3B5D2C4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76C6E-B24E-7BE6-7498-5801FC6F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69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F8931-F21F-4EB3-B63B-A806F0D3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BA9A1-B971-C6AC-6D0B-1514B6F27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3BD318-CB75-917A-378D-64614DA7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6880B8-F8AB-2ECE-656C-01574A056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0920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4BB93A-1B53-65F6-A2B7-70E41D7D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745D0-A308-FBC9-32E0-F4D7B2E1E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C1E2A-9752-BE39-D019-4C5ECB9ED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047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EC6C2-D45F-3A08-703A-8976DE777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A39B3-F448-E673-E0DC-EC52690B5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BA41D-B163-189E-2EF5-6D042493A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A4EA8-B7C4-97FA-E05D-9D876A59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51F3D4-5776-F813-2599-A7306355A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BF0CC-CE98-78D5-6760-4468B7543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50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9A904-5B55-809B-54B6-2D296967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B5FEE6-04C6-C076-D980-FDD272C45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AB5CB-F9AA-779F-A116-8A2904A4B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831FF-4EE1-E0EF-C896-D3580713C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34AC3-0609-8A3C-4A07-1AE599842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ECABD-EA35-F80A-4452-47261132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312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F2C-668F-35E3-EA7E-9612E3000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DBE48D-4B55-25A9-4B35-06912B10C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3CD3D-7A76-B7A3-5C71-35D9B12E7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7E12A-F35C-60C0-5D48-5F2D3CA2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80F08-D5E2-839D-4FBA-8150FF57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289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A2A23C-0DA9-5C5D-59D6-0DDBE6F2C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253144-AF77-25FA-E93A-484521FBD6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D8B7-304E-30E4-C7A9-042246239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E33DD-C8E5-30E7-BC59-2B589F068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EBF13-F97A-6A6A-83E4-EDEDF8D3E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6395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D17FC-5155-4F55-784C-33135A68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ED76A5-DB2F-3174-AE74-2966436FE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F7AF0-2DBD-7041-569A-328AF0D7C0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08C6E-1282-603A-D57D-F3D9D90E6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DCC2E-633F-B58C-A35C-6F0960525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4189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6B4F4-EE0B-8285-E8ED-A2BBA0993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entury Gothic" panose="020B0502020202020204" pitchFamily="34" charset="0"/>
              </a:rPr>
              <a:t>A Full Body Blood Flow Simulation for TBI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</a:rPr>
              <a:t>Dosimetery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65DF4-4F8F-4C91-9343-F822601BC5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Cassidy Northway, MSc.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PhD Candidate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University of British Columbia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BC Cancer Centre – Vancouver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Supervised by Dr. Ingrid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Spadinger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6872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92C-DEB9-F5EF-85CA-5B691A4FC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629" y="1925729"/>
            <a:ext cx="11168743" cy="2387600"/>
          </a:xfrm>
        </p:spPr>
        <p:txBody>
          <a:bodyPr>
            <a:normAutofit/>
          </a:bodyPr>
          <a:lstStyle/>
          <a:p>
            <a:r>
              <a:rPr lang="en-CA" dirty="0"/>
              <a:t>A Full Body Blood Flow Model for Applications in TBI Dosimetry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69522D-5F4E-5C96-F8F9-83A6C49E6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7289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Cassidy Northway, MSc.</a:t>
            </a:r>
          </a:p>
          <a:p>
            <a:r>
              <a:rPr lang="en-US" dirty="0"/>
              <a:t>PhD Candidate</a:t>
            </a:r>
          </a:p>
          <a:p>
            <a:r>
              <a:rPr lang="en-US" dirty="0"/>
              <a:t>University of British Columbia</a:t>
            </a:r>
          </a:p>
          <a:p>
            <a:r>
              <a:rPr lang="en-US" dirty="0"/>
              <a:t>BC Cancer Centre – Vancouver</a:t>
            </a:r>
          </a:p>
          <a:p>
            <a:r>
              <a:rPr lang="en-US" dirty="0"/>
              <a:t>Supervised by Dr. Ingrid </a:t>
            </a:r>
            <a:r>
              <a:rPr lang="en-US" dirty="0" err="1"/>
              <a:t>Spadinger</a:t>
            </a:r>
            <a:endParaRPr lang="en-CA" dirty="0"/>
          </a:p>
        </p:txBody>
      </p:sp>
      <p:pic>
        <p:nvPicPr>
          <p:cNvPr id="4" name="Picture 3" descr="A blue and purple text&#10;&#10;Description automatically generated">
            <a:extLst>
              <a:ext uri="{FF2B5EF4-FFF2-40B4-BE49-F238E27FC236}">
                <a16:creationId xmlns:a16="http://schemas.microsoft.com/office/drawing/2014/main" id="{DAD171C3-E83E-A2A6-678D-0C7012C0D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27192D-A216-3622-5404-4806DAE7B324}"/>
              </a:ext>
            </a:extLst>
          </p:cNvPr>
          <p:cNvCxnSpPr>
            <a:cxnSpLocks/>
          </p:cNvCxnSpPr>
          <p:nvPr/>
        </p:nvCxnSpPr>
        <p:spPr>
          <a:xfrm>
            <a:off x="166007" y="4494893"/>
            <a:ext cx="11859986" cy="0"/>
          </a:xfrm>
          <a:prstGeom prst="line">
            <a:avLst/>
          </a:prstGeom>
          <a:ln w="5715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2F079529-7D3A-A414-EB65-0E0B3F78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1" y="51361"/>
            <a:ext cx="7315200" cy="150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524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78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0DBFD5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009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0FDE35D2-D892-292C-8227-070A4B676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630000" y="1745267"/>
            <a:ext cx="3957005" cy="3367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02DE99-58DC-A321-6824-77A50E0C508E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56FDD4-4D19-878B-42A9-BDB69077E5CE}"/>
              </a:ext>
            </a:extLst>
          </p:cNvPr>
          <p:cNvSpPr txBox="1"/>
          <p:nvPr/>
        </p:nvSpPr>
        <p:spPr>
          <a:xfrm>
            <a:off x="6975335" y="2288899"/>
            <a:ext cx="4341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IMAGE from mesh with actual subset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17552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F3013-6924-A9BB-1641-B2043753A2AB}"/>
              </a:ext>
            </a:extLst>
          </p:cNvPr>
          <p:cNvSpPr txBox="1"/>
          <p:nvPr/>
        </p:nvSpPr>
        <p:spPr>
          <a:xfrm>
            <a:off x="8578016" y="114299"/>
            <a:ext cx="35051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Systemic arteries: 1D  (pulsatile)</a:t>
            </a:r>
          </a:p>
          <a:p>
            <a:r>
              <a:rPr lang="en-US" dirty="0"/>
              <a:t>Systemic veins: 1D</a:t>
            </a:r>
          </a:p>
          <a:p>
            <a:r>
              <a:rPr lang="en-US" dirty="0"/>
              <a:t>Pulmonary Vessels: 1D (pulsatile)</a:t>
            </a:r>
          </a:p>
          <a:p>
            <a:r>
              <a:rPr lang="en-US" dirty="0"/>
              <a:t>Compartments: 0D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49479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Vessels</a:t>
            </a:r>
            <a:endParaRPr lang="en-CA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B89E99-18BD-5A2D-2BD6-244F02CF9B78}"/>
              </a:ext>
            </a:extLst>
          </p:cNvPr>
          <p:cNvSpPr txBox="1"/>
          <p:nvPr/>
        </p:nvSpPr>
        <p:spPr>
          <a:xfrm>
            <a:off x="962952" y="1327094"/>
            <a:ext cx="10357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</a:t>
            </a:r>
            <a:r>
              <a:rPr lang="en-US" dirty="0" err="1"/>
              <a:t>vessles</a:t>
            </a:r>
            <a:r>
              <a:rPr lang="en-US" dirty="0"/>
              <a:t> image</a:t>
            </a:r>
            <a:endParaRPr lang="en-C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F995CC-2273-24A1-3EC8-AA0C0ACD25BB}"/>
              </a:ext>
            </a:extLst>
          </p:cNvPr>
          <p:cNvSpPr txBox="1"/>
          <p:nvPr/>
        </p:nvSpPr>
        <p:spPr>
          <a:xfrm>
            <a:off x="5972432" y="947351"/>
            <a:ext cx="5428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1-Dimesnional (1D)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1589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C695FA-AD9D-882B-AFD7-2C4D89C65984}"/>
              </a:ext>
            </a:extLst>
          </p:cNvPr>
          <p:cNvSpPr txBox="1"/>
          <p:nvPr/>
        </p:nvSpPr>
        <p:spPr>
          <a:xfrm>
            <a:off x="962952" y="1327094"/>
            <a:ext cx="10357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od </a:t>
            </a:r>
            <a:r>
              <a:rPr lang="en-US" dirty="0" err="1"/>
              <a:t>compatments</a:t>
            </a:r>
            <a:r>
              <a:rPr lang="en-US" dirty="0"/>
              <a:t>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96DD4-C2EA-350C-D9F0-D864AE27B815}"/>
              </a:ext>
            </a:extLst>
          </p:cNvPr>
          <p:cNvSpPr txBox="1"/>
          <p:nvPr/>
        </p:nvSpPr>
        <p:spPr>
          <a:xfrm>
            <a:off x="4021742" y="708053"/>
            <a:ext cx="7719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0d modelling</a:t>
            </a:r>
          </a:p>
          <a:p>
            <a:r>
              <a:rPr lang="en-US" dirty="0"/>
              <a:t>Source tunning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45741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Sources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93CD8A-4FD1-A4F3-6054-7AAE24A59C97}"/>
              </a:ext>
            </a:extLst>
          </p:cNvPr>
          <p:cNvSpPr txBox="1"/>
          <p:nvPr/>
        </p:nvSpPr>
        <p:spPr>
          <a:xfrm>
            <a:off x="962952" y="1327094"/>
            <a:ext cx="10357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artery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B95598-2FA0-E522-7B48-6B38F6001501}"/>
              </a:ext>
            </a:extLst>
          </p:cNvPr>
          <p:cNvSpPr txBox="1"/>
          <p:nvPr/>
        </p:nvSpPr>
        <p:spPr>
          <a:xfrm>
            <a:off x="4021742" y="708053"/>
            <a:ext cx="7719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Nektar</a:t>
            </a:r>
            <a:r>
              <a:rPr lang="en-US" dirty="0"/>
              <a:t> </a:t>
            </a:r>
          </a:p>
          <a:p>
            <a:r>
              <a:rPr lang="en-US" dirty="0" err="1"/>
              <a:t>Nektar</a:t>
            </a:r>
            <a:r>
              <a:rPr lang="en-US" dirty="0"/>
              <a:t> data</a:t>
            </a:r>
          </a:p>
          <a:p>
            <a:r>
              <a:rPr lang="en-US" dirty="0"/>
              <a:t>Applied to what, calculated where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66955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796938-FE8E-B250-2E91-CB1AB7CFEB0C}"/>
              </a:ext>
            </a:extLst>
          </p:cNvPr>
          <p:cNvSpPr txBox="1"/>
          <p:nvPr/>
        </p:nvSpPr>
        <p:spPr>
          <a:xfrm>
            <a:off x="962952" y="1327094"/>
            <a:ext cx="103578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Compartments with tuning applied highlights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43EA1-286A-7FA5-EE0B-CBBCC185F1FE}"/>
              </a:ext>
            </a:extLst>
          </p:cNvPr>
          <p:cNvSpPr txBox="1"/>
          <p:nvPr/>
        </p:nvSpPr>
        <p:spPr>
          <a:xfrm>
            <a:off x="4021742" y="708053"/>
            <a:ext cx="7719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Gold star, initial estimates, tuning, results</a:t>
            </a:r>
          </a:p>
          <a:p>
            <a:r>
              <a:rPr lang="en-US" dirty="0"/>
              <a:t>+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1893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1246174" y="4620555"/>
                <a:ext cx="2775568" cy="9106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i="1" smtClean="0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  <m:sub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i="1" smtClean="0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  <m:sub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174" y="4620555"/>
                <a:ext cx="2775568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4" y="690299"/>
            <a:ext cx="4851649" cy="33783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2A9C57-A67B-35A6-887A-2F6FE6F54EDD}"/>
              </a:ext>
            </a:extLst>
          </p:cNvPr>
          <p:cNvSpPr txBox="1"/>
          <p:nvPr/>
        </p:nvSpPr>
        <p:spPr>
          <a:xfrm>
            <a:off x="5709557" y="788973"/>
            <a:ext cx="77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Comparing the change in BV distribution after every period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5B845C-243F-C957-12BC-7D6293B80C70}"/>
              </a:ext>
            </a:extLst>
          </p:cNvPr>
          <p:cNvSpPr txBox="1"/>
          <p:nvPr/>
        </p:nvSpPr>
        <p:spPr>
          <a:xfrm>
            <a:off x="2427611" y="2555693"/>
            <a:ext cx="2238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figure to be gen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Future Applications</a:t>
            </a:r>
            <a:endParaRPr lang="en-CA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F5C8D2-34E8-0575-8C17-1F5871EF581A}"/>
              </a:ext>
            </a:extLst>
          </p:cNvPr>
          <p:cNvSpPr txBox="1"/>
          <p:nvPr/>
        </p:nvSpPr>
        <p:spPr>
          <a:xfrm>
            <a:off x="4021742" y="708053"/>
            <a:ext cx="77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Combine with 4MC data for following treatment methods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4BEBD-FB06-C76C-3240-25D64D3F42C5}"/>
              </a:ext>
            </a:extLst>
          </p:cNvPr>
          <p:cNvSpPr txBox="1"/>
          <p:nvPr/>
        </p:nvSpPr>
        <p:spPr>
          <a:xfrm>
            <a:off x="962952" y="1327094"/>
            <a:ext cx="1035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4mc image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19414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64819"/>
            <a:ext cx="11531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Su, S et al. “A new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DOSXYZnrc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method for Monte Carlo simulations of 4D dose distributions.” </a:t>
            </a:r>
            <a:r>
              <a:rPr lang="en-US" sz="1200" b="0" i="1" dirty="0">
                <a:solidFill>
                  <a:srgbClr val="212121"/>
                </a:solidFill>
                <a:effectLst/>
                <a:latin typeface="BlinkMacSystemFont"/>
              </a:rPr>
              <a:t>Physics in medicine and biology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 vol. 66, 24 2021.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Acknowledgements</a:t>
            </a:r>
            <a:endParaRPr lang="en-CA" sz="2400" dirty="0"/>
          </a:p>
        </p:txBody>
      </p:sp>
      <p:pic>
        <p:nvPicPr>
          <p:cNvPr id="2" name="Picture 1" descr="A blue and purple text&#10;&#10;Description automatically generated">
            <a:extLst>
              <a:ext uri="{FF2B5EF4-FFF2-40B4-BE49-F238E27FC236}">
                <a16:creationId xmlns:a16="http://schemas.microsoft.com/office/drawing/2014/main" id="{47013E2D-5EA5-45DC-D7BD-D1575875E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B7DBD1-F91D-5EE6-C5CA-F64423E0729D}"/>
              </a:ext>
            </a:extLst>
          </p:cNvPr>
          <p:cNvSpPr txBox="1"/>
          <p:nvPr/>
        </p:nvSpPr>
        <p:spPr>
          <a:xfrm>
            <a:off x="3699075" y="4675556"/>
            <a:ext cx="8328146" cy="1572326"/>
          </a:xfrm>
          <a:prstGeom prst="rect">
            <a:avLst/>
          </a:prstGeom>
          <a:solidFill>
            <a:srgbClr val="905AA6">
              <a:alpha val="25000"/>
            </a:srgbClr>
          </a:solidFill>
        </p:spPr>
        <p:txBody>
          <a:bodyPr wrap="square" tIns="108000" bIns="108000" rtlCol="0">
            <a:spAutoFit/>
          </a:bodyPr>
          <a:lstStyle/>
          <a:p>
            <a:pPr algn="ctr"/>
            <a:r>
              <a:rPr lang="en-CA" sz="8800" dirty="0">
                <a:solidFill>
                  <a:schemeClr val="bg1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7502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664</Words>
  <Application>Microsoft Office PowerPoint</Application>
  <PresentationFormat>Widescreen</PresentationFormat>
  <Paragraphs>109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BlinkMacSystemFont</vt:lpstr>
      <vt:lpstr>Calibri</vt:lpstr>
      <vt:lpstr>Cambria Math</vt:lpstr>
      <vt:lpstr>Century Gothic</vt:lpstr>
      <vt:lpstr>Office Theme</vt:lpstr>
      <vt:lpstr>A Full Body Blood Flow Simulation for TBI Dosimetery</vt:lpstr>
      <vt:lpstr>A Full Body Blood Flow Model for Applications in TBI Dosimetry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6</cp:revision>
  <dcterms:created xsi:type="dcterms:W3CDTF">2025-05-13T18:41:50Z</dcterms:created>
  <dcterms:modified xsi:type="dcterms:W3CDTF">2025-05-14T23:51:12Z</dcterms:modified>
</cp:coreProperties>
</file>