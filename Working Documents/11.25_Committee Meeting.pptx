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4"/>
  </p:notesMasterIdLst>
  <p:sldIdLst>
    <p:sldId id="256" r:id="rId2"/>
    <p:sldId id="257" r:id="rId3"/>
    <p:sldId id="260" r:id="rId4"/>
    <p:sldId id="261" r:id="rId5"/>
    <p:sldId id="258" r:id="rId6"/>
    <p:sldId id="259" r:id="rId7"/>
    <p:sldId id="279" r:id="rId8"/>
    <p:sldId id="264" r:id="rId9"/>
    <p:sldId id="271" r:id="rId10"/>
    <p:sldId id="281" r:id="rId11"/>
    <p:sldId id="272" r:id="rId12"/>
    <p:sldId id="282" r:id="rId13"/>
    <p:sldId id="290" r:id="rId14"/>
    <p:sldId id="280" r:id="rId15"/>
    <p:sldId id="284" r:id="rId16"/>
    <p:sldId id="268" r:id="rId17"/>
    <p:sldId id="286" r:id="rId18"/>
    <p:sldId id="293" r:id="rId19"/>
    <p:sldId id="291" r:id="rId20"/>
    <p:sldId id="294" r:id="rId21"/>
    <p:sldId id="296" r:id="rId22"/>
    <p:sldId id="297" r:id="rId23"/>
    <p:sldId id="308" r:id="rId24"/>
    <p:sldId id="309" r:id="rId25"/>
    <p:sldId id="311" r:id="rId26"/>
    <p:sldId id="299" r:id="rId27"/>
    <p:sldId id="314" r:id="rId28"/>
    <p:sldId id="310" r:id="rId29"/>
    <p:sldId id="315" r:id="rId30"/>
    <p:sldId id="316" r:id="rId31"/>
    <p:sldId id="301" r:id="rId32"/>
    <p:sldId id="319" r:id="rId33"/>
    <p:sldId id="317" r:id="rId34"/>
    <p:sldId id="318" r:id="rId35"/>
    <p:sldId id="320" r:id="rId36"/>
    <p:sldId id="312" r:id="rId37"/>
    <p:sldId id="321" r:id="rId38"/>
    <p:sldId id="322" r:id="rId39"/>
    <p:sldId id="313" r:id="rId40"/>
    <p:sldId id="323" r:id="rId41"/>
    <p:sldId id="305" r:id="rId42"/>
    <p:sldId id="298" r:id="rId43"/>
    <p:sldId id="302" r:id="rId44"/>
    <p:sldId id="304" r:id="rId45"/>
    <p:sldId id="306" r:id="rId46"/>
    <p:sldId id="324" r:id="rId47"/>
    <p:sldId id="307" r:id="rId48"/>
    <p:sldId id="292" r:id="rId49"/>
    <p:sldId id="276" r:id="rId50"/>
    <p:sldId id="289" r:id="rId51"/>
    <p:sldId id="277" r:id="rId52"/>
    <p:sldId id="278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794" autoAdjust="0"/>
  </p:normalViewPr>
  <p:slideViewPr>
    <p:cSldViewPr snapToGrid="0">
      <p:cViewPr varScale="1">
        <p:scale>
          <a:sx n="101" d="100"/>
          <a:sy n="101" d="100"/>
        </p:scale>
        <p:origin x="7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28C8E-7BAD-4C37-9F0B-8CBDB03D4496}" type="datetimeFigureOut">
              <a:rPr lang="en-CA" smtClean="0"/>
              <a:t>21-Nov-2025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2E5A-F865-48ED-9E9D-E266E7C2A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28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Segars, William Paul, Jason Bond, John P.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Frush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Sylvia Hon, Christopher P. Eckersley, Cameron H. Williams,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Jianqiao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 Feng, Daniel Jacob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Tward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J. Tilak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Ratnanather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M. I. Miller, Donald P.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Frush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 and Ehsan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Samei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. “Population of anatomically variable 4D XCAT adult phantoms for imaging research and optimization.” </a:t>
            </a:r>
            <a:r>
              <a:rPr lang="en-CA" b="0" i="1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Medical physics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 40 4 (2013): 043701 .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5957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637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F99E-A9A8-197F-C249-04EB0ED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E01A9-C51D-F4C3-9A68-5CABDCD64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484B3-BF8A-7A92-E483-88E1BAC9D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to add actual mesh subset image from 3d mesh, also indicate what info we actually extracted from the mesh files for the purposes of the sim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25217-D794-A84B-8913-69DDF811F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074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113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482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C9EE-F12C-7DFF-4031-4E791FF6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0F874-4D21-BDB5-19C1-1DBDB1B30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C727A-AB6D-AD20-48DE-056BA2E8F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CC1AA-86B1-2D05-44F4-7226E242B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771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happens when the BV reaches a compartment,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160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AB25-5F88-4F69-F96C-C62AA896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B2799-BB92-7B57-9EA6-3311BA800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90380-7A54-A474-24AD-9DC040A29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059F-F75B-AF85-4E68-556EA8A19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5857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D6D2-A7E6-FEE0-23BA-D1471B6E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172CC-907E-8E64-344D-7564423D8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05DCD-6F06-375E-5143-447698B31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92EE2-850B-62C8-2372-0D398F4AE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384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9FF4-7456-1C00-39B0-8E0BCC91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2C21-177C-7784-8835-BA72759EA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B9B3F-E923-EFFB-95C6-08218DCE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A52B-8CF4-CE2C-FB49-056B14DB3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8274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EFE3-04C5-2107-2D82-93B824CF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100FF-A29E-A96E-98AF-E2DE5B49E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875F4-6651-58C2-4DFF-A0F15446F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C671-0F6D-6848-E1B2-5FAF5273F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479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498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8523-FB8D-563B-242F-1670D87C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D289D-5489-3829-263C-93D1973CD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C4A82-2C6A-F648-183E-15D966D14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3AACB-D536-42EA-E660-F758553DB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856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7ECF-98DF-518A-C5BB-B4EAB2A0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113D2-1154-D57A-85CA-68B3B519A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D94B4-A289-30FA-C885-A2D9B2E62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1FE1E-3DAE-1815-91C4-08449F40F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6556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750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7395-04F4-EFDB-CCD4-72F81C47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EDE8A-26A8-54CE-D4AE-302333E7F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F2336-A58F-CFFE-5E82-07FE82954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840A4-F532-9BF7-E5B1-6D224552B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2397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6185-7FC3-3A1F-86EC-12DD390D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7B3CB-EE2E-4E31-60E6-9F03BA3B6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3228B-6487-553D-F7BA-76491CC02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DF4B3-15CA-822B-D72B-AD0E4915C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4274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2719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1CCCD-176F-F572-0FBE-56598C56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3469A-8C0E-CB56-5882-941959BC2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332F4-FA11-4624-BF77-55B7C04EC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952A3-D319-6218-7EBB-7F9C1D194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4710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5793-215A-5273-6220-FE034F65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61C8E-FAB5-C2EA-92D5-B59F8D97A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2DA0E-A0D3-DA25-355D-C2740C37B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8AA45-0723-CF54-D653-628520465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2168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90506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E854-16ED-E826-38F6-49D7D5E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73EFC-CC87-D3FE-E566-ED464A6A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C82C9-367D-31E6-5D55-EA5DF6B6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51CBB-A54C-D3B4-76CA-FC1736258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299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2E4B-81BE-4B7A-B36D-25EE9615AC65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9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F68B-5CDA-45F8-8FC6-8CC31496F2C0}" type="datetime1">
              <a:rPr lang="en-CA" smtClean="0"/>
              <a:t>21-Nov-2025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73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C00-40B8-4EDA-BCF9-010BAB3E9B10}" type="datetime1">
              <a:rPr lang="en-CA" smtClean="0"/>
              <a:t>21-Nov-2025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795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3C-08CC-43D5-8845-C649925EFB70}" type="datetime1">
              <a:rPr lang="en-CA" smtClean="0"/>
              <a:t>21-Nov-2025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338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09B4-FF6B-44BE-9FB1-59E724526725}" type="datetime1">
              <a:rPr lang="en-CA" smtClean="0"/>
              <a:t>21-Nov-2025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150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EDB9F-AB4A-4644-B1B1-ADD488636EFD}" type="datetime1">
              <a:rPr lang="en-CA" smtClean="0"/>
              <a:t>21-Nov-2025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249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9573-12B9-4DA2-AE6A-3DF248409BF9}" type="datetime1">
              <a:rPr lang="en-CA" smtClean="0"/>
              <a:t>21-Nov-2025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788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FC2F-8CC7-4537-A6D2-E86E24CBE470}" type="datetime1">
              <a:rPr lang="en-CA" smtClean="0"/>
              <a:t>21-Nov-2025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4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20AF02B-F510-4E59-9F48-4A2B2B1C7CCC}" type="datetime1">
              <a:rPr lang="en-CA" smtClean="0"/>
              <a:t>21-Nov-2025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153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96962-FC1B-4478-9758-77DD5C261549}" type="datetime1">
              <a:rPr lang="en-CA" smtClean="0"/>
              <a:t>21-Nov-2025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57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550-8411-4E2E-A2AF-8A063A660948}" type="datetime1">
              <a:rPr lang="en-CA" smtClean="0"/>
              <a:t>21-Nov-2025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93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E27D-A925-4B3D-83F5-ECDB550EC939}" type="datetime1">
              <a:rPr lang="en-CA" smtClean="0"/>
              <a:t>21-Nov-2025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213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F51464-522D-45AA-8684-534AFC039EDB}" type="datetime1">
              <a:rPr lang="en-CA" smtClean="0"/>
              <a:t>21-Nov-2025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38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360-3016(95)00164-T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image" Target="../media/image1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3C5D5-559B-DB34-F551-872857D43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r"/>
            <a:r>
              <a:rPr lang="en-CA" dirty="0"/>
              <a:t>Committee Meeting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4DCCF-17DF-0EC1-4A6B-F7C87E1D8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en-CA" dirty="0"/>
              <a:t>Cassidy Northway</a:t>
            </a:r>
          </a:p>
          <a:p>
            <a:r>
              <a:rPr lang="en-CA" dirty="0"/>
              <a:t>PhD Candidate</a:t>
            </a:r>
          </a:p>
          <a:p>
            <a:r>
              <a:rPr lang="en-CA" dirty="0"/>
              <a:t>Nov 25, 2025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DB5DB-8369-9406-60F3-48F547A2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29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876F-7321-AB1C-1311-FBA15F99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B8A0-D3E8-31F9-6054-2B57F998B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 Review Thesis Question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Present Project 1 – Total Body Blood Flow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Present Preliminary Results of Project 2 – Heterogeneity of Dose: Sweeping Co-60 TBI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Discuss remainder of Project 2 and Project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Discuss publications and body of 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Questions and Discussions</a:t>
            </a:r>
          </a:p>
          <a:p>
            <a:pPr marL="0" indent="0">
              <a:buNone/>
            </a:pPr>
            <a:r>
              <a:rPr lang="en-CA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C3F1F-161F-9BD6-659F-A051976A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st tubes with samples on a test tube rack">
            <a:extLst>
              <a:ext uri="{FF2B5EF4-FFF2-40B4-BE49-F238E27FC236}">
                <a16:creationId xmlns:a16="http://schemas.microsoft.com/office/drawing/2014/main" id="{ACC58218-B780-A68B-7D4D-DBFEAB365E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4118" b="16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BA7F1E-7AD8-E0BE-C6F1-CDFB9394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200"/>
              <a:t>How heterogenous is the dose delivered to the circulating blood volume during TBI?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5BB48-05EA-2CA9-E10C-CC8AF741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455621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12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0988-6744-1734-F5BE-D27ADC30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dirty="0"/>
              <a:t>Thesis Proposal: Reviewed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30AD-B666-A202-060D-B0383A6AD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US" dirty="0"/>
              <a:t>In-silico, track the flow of blood voxels through a </a:t>
            </a:r>
            <a:r>
              <a:rPr lang="en-US" u="sng" dirty="0"/>
              <a:t>whole-body phantom</a:t>
            </a:r>
            <a:r>
              <a:rPr lang="en-US" dirty="0"/>
              <a:t> undergoing TBI, calculate their cumulative dose, and compare the dose to the voxels.</a:t>
            </a:r>
          </a:p>
          <a:p>
            <a:r>
              <a:rPr lang="en-US" dirty="0"/>
              <a:t>Whole Body Phantom (4D XCAT) model will unite a blood flow model and Monte Carlo (MC) Simulations to determine dose.</a:t>
            </a:r>
          </a:p>
          <a:p>
            <a:r>
              <a:rPr lang="en-US" dirty="0"/>
              <a:t>Model the following delivery methods in MC: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Sweeping Co-60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Extended POP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VMAT TBI (Q: what variables are we able to adjust if we want to assess variations in VMAT)</a:t>
            </a:r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63E8-46DC-95E0-079F-D585E49A64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65" r="1345"/>
          <a:stretch/>
        </p:blipFill>
        <p:spPr>
          <a:xfrm>
            <a:off x="8020570" y="1916318"/>
            <a:ext cx="3564878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4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478FF-6B83-B8B6-6E25-37D82C9B56F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BC374-3118-1735-2855-34CF3258D774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7DA0B4-CB4D-A702-23E4-9DD05A9E2375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DF2847-7B8C-697E-BC1D-62C4E847C5DC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7C0BCA-D334-4F3D-9DBC-4046F67404C5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D9F3D4-D022-BE1D-3FD7-E262CC61E2B7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35A133-F7F0-142B-3A4C-20C5BA16087A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7C596D3-EE64-8890-2FB0-8ACEA2A6242E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137537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0FDE35D2-D892-292C-8227-070A4B676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02DE99-58DC-A321-6824-77A50E0C508E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42AAF5-052D-39E4-8A99-B7EA99B9A90A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B9CE32B8-A329-E5D7-2ADB-F27447020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A6F8DE3-62F5-9D43-9240-6C33776E88B5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80E1B-132F-5538-F758-261075BABD2D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</a:t>
            </a:r>
            <a:r>
              <a:rPr lang="en-CA" sz="2000" dirty="0">
                <a:solidFill>
                  <a:schemeClr val="bg2"/>
                </a:solidFill>
              </a:rPr>
              <a:t> n </a:t>
            </a:r>
            <a:r>
              <a:rPr lang="en-CA" sz="2000" dirty="0"/>
              <a:t>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2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917552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342C-52E4-E269-E51D-DEC71FD4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6B3A-8689-9515-5BF3-FEE1CE62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7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F4D68013-495E-3968-2ACD-E4E2734CADBC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2C1DA-18CC-9F8F-407E-C0162982FDA8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D0B17008-3273-E7D9-E8E6-DB2C01209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B89845-1344-CB73-1A72-C65AE0C6F8AA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CF56B6-B5D3-5ACE-058D-679ED5912405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CBC60490-3D2C-DF7E-0323-AB27F2F90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96B5303-BD1E-F229-9797-0EC117B3138A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76603-4621-15F4-E70A-9B767D8C72A7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</a:t>
            </a:r>
            <a:r>
              <a:rPr lang="en-CA" sz="2000" dirty="0">
                <a:solidFill>
                  <a:schemeClr val="bg2"/>
                </a:solidFill>
              </a:rPr>
              <a:t> n </a:t>
            </a:r>
            <a:r>
              <a:rPr lang="en-CA" sz="2000" dirty="0"/>
              <a:t>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2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  <p:pic>
        <p:nvPicPr>
          <p:cNvPr id="14" name="Picture 13" descr="A diagram of a human body&#10;&#10;AI-generated content may be incorrect.">
            <a:extLst>
              <a:ext uri="{FF2B5EF4-FFF2-40B4-BE49-F238E27FC236}">
                <a16:creationId xmlns:a16="http://schemas.microsoft.com/office/drawing/2014/main" id="{AEEC3C7E-EA88-FB06-DA21-7E16105AC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684" y="98730"/>
            <a:ext cx="3293097" cy="610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81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</a:t>
            </a:r>
            <a:endParaRPr lang="en-CA" sz="2400" dirty="0"/>
          </a:p>
        </p:txBody>
      </p:sp>
      <p:pic>
        <p:nvPicPr>
          <p:cNvPr id="3" name="Picture 2" descr="A diagram of a human body&#10;&#10;AI-generated content may be incorrect.">
            <a:extLst>
              <a:ext uri="{FF2B5EF4-FFF2-40B4-BE49-F238E27FC236}">
                <a16:creationId xmlns:a16="http://schemas.microsoft.com/office/drawing/2014/main" id="{C0BE0F0D-BFFE-3186-794E-C1A60F005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649"/>
            <a:ext cx="3068908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BBA65-642F-12FE-08F2-32F50921A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2568" y="114299"/>
            <a:ext cx="2796653" cy="5184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3DDC53-58FC-A6CE-15F7-E98B30706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89" y="162735"/>
            <a:ext cx="2770527" cy="5136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4B96F-D02F-FA2C-0755-8348A0EA9A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4414" y="162735"/>
            <a:ext cx="2770527" cy="5136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AA928D-3CE3-B737-1CF4-18E7DE10A3D4}"/>
              </a:ext>
            </a:extLst>
          </p:cNvPr>
          <p:cNvSpPr txBox="1"/>
          <p:nvPr/>
        </p:nvSpPr>
        <p:spPr>
          <a:xfrm>
            <a:off x="2683192" y="1345721"/>
            <a:ext cx="747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chemeClr val="accent2"/>
                </a:solidFill>
              </a:rPr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21DAE-0A17-20F9-12B0-DE541CD7081F}"/>
              </a:ext>
            </a:extLst>
          </p:cNvPr>
          <p:cNvSpPr txBox="1"/>
          <p:nvPr/>
        </p:nvSpPr>
        <p:spPr>
          <a:xfrm>
            <a:off x="5501476" y="1260113"/>
            <a:ext cx="747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69129F-386C-69A8-14DF-9E6BC09DA428}"/>
              </a:ext>
            </a:extLst>
          </p:cNvPr>
          <p:cNvSpPr txBox="1"/>
          <p:nvPr/>
        </p:nvSpPr>
        <p:spPr>
          <a:xfrm>
            <a:off x="8369925" y="1345721"/>
            <a:ext cx="747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chemeClr val="accent2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4947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9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B216E-347B-7E58-666D-2C23B6E20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001889-6846-5F46-6E2F-13EE9E8F35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041220"/>
              </p:ext>
            </p:extLst>
          </p:nvPr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1688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0C3D028-B6F3-DDAF-4858-3219E26763F0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4042FC0-0FFD-5F9F-0C5F-993889910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8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893EC-3CD6-7204-C3D3-95F688F1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C597-C5D4-1D44-231C-7CB1D59F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10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3EAE2F9C-4268-0893-0454-C3B58E7CC4F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478EB-1717-8816-024D-A3918226EE22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7B5EC-99C7-7DE2-4D92-7566F04CC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4094AFB-B100-DC90-F1D1-D0ACE0CDB8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2132940"/>
              </p:ext>
            </p:extLst>
          </p:nvPr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559284-E6D8-1047-379A-02A84FEE425A}"/>
              </a:ext>
            </a:extLst>
          </p:cNvPr>
          <p:cNvCxnSpPr/>
          <p:nvPr/>
        </p:nvCxnSpPr>
        <p:spPr>
          <a:xfrm>
            <a:off x="7606348" y="3134958"/>
            <a:ext cx="0" cy="12652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9D1FA0-F366-1036-646E-C095AE55650D}"/>
              </a:ext>
            </a:extLst>
          </p:cNvPr>
          <p:cNvCxnSpPr>
            <a:cxnSpLocks/>
          </p:cNvCxnSpPr>
          <p:nvPr/>
        </p:nvCxnSpPr>
        <p:spPr>
          <a:xfrm flipH="1">
            <a:off x="6920180" y="4400166"/>
            <a:ext cx="655607" cy="11437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BDDC75-AE24-3F5C-E1AD-03D2A16A3396}"/>
              </a:ext>
            </a:extLst>
          </p:cNvPr>
          <p:cNvCxnSpPr>
            <a:cxnSpLocks/>
          </p:cNvCxnSpPr>
          <p:nvPr/>
        </p:nvCxnSpPr>
        <p:spPr>
          <a:xfrm>
            <a:off x="7617849" y="4400166"/>
            <a:ext cx="626853" cy="105817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43C1564-906C-A8D8-8E44-34A86F156EC0}"/>
              </a:ext>
            </a:extLst>
          </p:cNvPr>
          <p:cNvSpPr/>
          <p:nvPr/>
        </p:nvSpPr>
        <p:spPr>
          <a:xfrm>
            <a:off x="7540215" y="4339781"/>
            <a:ext cx="132265" cy="12077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1688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/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/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99395B6-4C55-6DA3-D5CF-B8B8F3989562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CF774D-E0DB-3505-EDB7-9E41389AF8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6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11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DD4C8-2BAE-0CCC-636D-64822F1D8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E75B4-202A-171C-5BE9-115758F35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95BCD4-BD2B-5581-B5FA-1E3599946FE2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DE22EA-E6D5-A4CA-5670-1E54DCD5B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88F50C-D228-4E67-3011-2A6FFEDF0D87}"/>
              </a:ext>
            </a:extLst>
          </p:cNvPr>
          <p:cNvSpPr/>
          <p:nvPr/>
        </p:nvSpPr>
        <p:spPr>
          <a:xfrm>
            <a:off x="2751173" y="4963074"/>
            <a:ext cx="955853" cy="1275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41D34-9435-2D80-614E-5F283E8BC6C4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4574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2C9C-921E-8952-0B37-77DE1F3EE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B47B3-89E7-A1CB-324A-91B53589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699951-79D7-0809-2837-360FA3B741CC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455AB62-91AC-F944-CFE4-E699B34E01B2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2F391-DA1F-E2ED-C011-6763F4A8D3B3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E45FF-1286-75AF-8E1F-DE7576F53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DA46F-7147-5E50-CFF8-C8893986C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F1B80-E5DB-4FE2-E946-3D9176730C61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5EEC87-C5F5-4D11-FB2E-781B5E5E3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D304C3-CB54-2A18-93F2-C729251D3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2E6E51-FE30-1672-6DEC-AEC1422B29BF}"/>
              </a:ext>
            </a:extLst>
          </p:cNvPr>
          <p:cNvSpPr/>
          <p:nvPr/>
        </p:nvSpPr>
        <p:spPr>
          <a:xfrm>
            <a:off x="2751173" y="4963074"/>
            <a:ext cx="955853" cy="1275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277B84-812A-0B80-C38E-6CDCBC02700A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6902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DE72-0E0B-90F4-F339-0C2CEC4F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237B6-DE2F-F465-165F-BFB85AB4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5EA2A5-488E-F27F-750C-996C462E7A5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DDC68BC3-6D16-DA1E-5FD3-BBE18D4B1ED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48761-3FB9-238A-9406-218949DEE56F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963AD-26A0-E57F-0678-417CE4B0F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C4775-1598-4839-0F1D-4CEB9428C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67556-4F1C-3EB0-8DB9-663420671866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C75EBD-FB90-846F-8710-CF6D5317C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848A20-9ED0-8439-0689-975F532F1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E3F353-C7D8-A8C1-0BDF-55527BD3B174}"/>
              </a:ext>
            </a:extLst>
          </p:cNvPr>
          <p:cNvSpPr/>
          <p:nvPr/>
        </p:nvSpPr>
        <p:spPr>
          <a:xfrm>
            <a:off x="2751173" y="4963074"/>
            <a:ext cx="955853" cy="1275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44AE7D-EBC8-1BA2-E0B9-5A44E56A4E3E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057B9-121F-3377-5F0C-EDCF2CBDD9EA}"/>
              </a:ext>
            </a:extLst>
          </p:cNvPr>
          <p:cNvSpPr/>
          <p:nvPr/>
        </p:nvSpPr>
        <p:spPr>
          <a:xfrm>
            <a:off x="3163824" y="2697479"/>
            <a:ext cx="877824" cy="1828057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D9E28-4969-4AEC-D6A1-1D8BCD060410}"/>
              </a:ext>
            </a:extLst>
          </p:cNvPr>
          <p:cNvSpPr/>
          <p:nvPr/>
        </p:nvSpPr>
        <p:spPr>
          <a:xfrm>
            <a:off x="7635240" y="3172968"/>
            <a:ext cx="722376" cy="362772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419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374D-2E8A-DCE0-5E2B-6F3D5D2F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83E86-2010-6D1A-EF0A-ED662CC9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14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9F399C-09C3-7269-6916-06E0A82E65B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2031726B-9129-41F4-B2B2-423F49A78D1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E863E-BB63-9212-3060-82E75D78B745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55774-18EE-4CCC-8792-9BAE46502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3D9EEA-A403-45DA-5F1E-02C4F5686E61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755844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7FF2-F17D-17C3-8328-472EAB1C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F184-6774-62A5-C28B-7FC26736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15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9DE24A-0BDC-3198-69DE-0EB949F42CC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A7451DB-B557-5ECD-67EC-0AA480BD6BE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406EB-31C0-7E46-EC53-F205A17289D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6C16B-C74D-64D0-2285-730E7920A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ED6EB8-4694-F23D-17D1-F35128E0AC0C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04CEF93-766E-0A4D-64EA-2638E9F9E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9728261"/>
              </p:ext>
            </p:extLst>
          </p:nvPr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711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EA2FD-7C02-8015-FE3F-6D2753BF3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F2927-6D1A-8464-0A5C-D11172ED7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01" y="741203"/>
            <a:ext cx="5285354" cy="401514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01E08B3-AE1E-940E-45FF-14DF6F9DC286}"/>
              </a:ext>
            </a:extLst>
          </p:cNvPr>
          <p:cNvSpPr/>
          <p:nvPr/>
        </p:nvSpPr>
        <p:spPr>
          <a:xfrm>
            <a:off x="5020056" y="3326652"/>
            <a:ext cx="932688" cy="37872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97808-DB44-6728-8F76-0B702CE269AE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Blanco, P.J., Watanabe, S.M., Dari, E.A. et al. Blood flow distribution in an anatomically detailed arterial network model: criteria and algorithms. 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Biomech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Model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Mechanobiol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 13, 1303–1330 (2014).</a:t>
            </a:r>
          </a:p>
        </p:txBody>
      </p:sp>
    </p:spTree>
    <p:extLst>
      <p:ext uri="{BB962C8B-B14F-4D97-AF65-F5344CB8AC3E}">
        <p14:creationId xmlns:p14="http://schemas.microsoft.com/office/powerpoint/2010/main" val="1211893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CF63-8908-3047-371E-3B6057B9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22E0-82B6-3C90-E669-ED0C4064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17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56FBBD-9A8E-F48D-6467-EE65C78B5BF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4686CEC1-707F-42EE-356D-95CECADE8F76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89DA6-E321-7F11-2474-0234A0048E2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3CC16-D1F2-0AEC-9530-7B04C1C05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B3E83E36-B339-2EED-42F9-B1CF34398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070" y="501648"/>
            <a:ext cx="7628238" cy="544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72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0BAF-813A-83BA-E377-6179035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E7EDF-FAE2-3CE1-EFFD-CB13476E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3780B3-E8E3-7F0D-E9E5-DEF96A05FDF6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9B9F5DA-389A-0B1C-19F9-5AF608839C8B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414385-DB20-EDB7-4AF9-0CC37515179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8CE51-B8FD-D5D4-05D6-A761A52B1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C8579DE9-2340-3ADF-7090-9A0FB4A27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070" y="501648"/>
            <a:ext cx="7628238" cy="544606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C13B978-F31D-C298-82DB-8208A00ECA6B}"/>
              </a:ext>
            </a:extLst>
          </p:cNvPr>
          <p:cNvSpPr/>
          <p:nvPr/>
        </p:nvSpPr>
        <p:spPr>
          <a:xfrm rot="2109551">
            <a:off x="8484062" y="3511533"/>
            <a:ext cx="1350627" cy="578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3221B0E-0B70-3589-AC25-3D4D5EAE09AB}"/>
              </a:ext>
            </a:extLst>
          </p:cNvPr>
          <p:cNvSpPr/>
          <p:nvPr/>
        </p:nvSpPr>
        <p:spPr>
          <a:xfrm rot="3025970">
            <a:off x="9202831" y="2477480"/>
            <a:ext cx="1350627" cy="578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8695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Return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5A621-6C8A-D290-3F4A-D23A71B7D4AC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p:pic>
        <p:nvPicPr>
          <p:cNvPr id="17" name="Graphic 16" descr="Heart organ outline">
            <a:extLst>
              <a:ext uri="{FF2B5EF4-FFF2-40B4-BE49-F238E27FC236}">
                <a16:creationId xmlns:a16="http://schemas.microsoft.com/office/drawing/2014/main" id="{7373F203-7BA8-5E3C-198C-9751FDF11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8547" y="891255"/>
            <a:ext cx="1269355" cy="1269355"/>
          </a:xfrm>
          <a:prstGeom prst="rect">
            <a:avLst/>
          </a:prstGeom>
        </p:spPr>
      </p:pic>
      <p:pic>
        <p:nvPicPr>
          <p:cNvPr id="23" name="Graphic 22" descr="Heart organ outline">
            <a:extLst>
              <a:ext uri="{FF2B5EF4-FFF2-40B4-BE49-F238E27FC236}">
                <a16:creationId xmlns:a16="http://schemas.microsoft.com/office/drawing/2014/main" id="{4DFDA764-6CC7-BFD6-7264-CEEACD275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4422" y="888857"/>
            <a:ext cx="1269355" cy="126935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849E5D-3D5C-9D7C-45EB-EEE977CCD5C3}"/>
              </a:ext>
            </a:extLst>
          </p:cNvPr>
          <p:cNvCxnSpPr>
            <a:cxnSpLocks/>
          </p:cNvCxnSpPr>
          <p:nvPr/>
        </p:nvCxnSpPr>
        <p:spPr>
          <a:xfrm>
            <a:off x="4076696" y="1676400"/>
            <a:ext cx="5133979" cy="0"/>
          </a:xfrm>
          <a:prstGeom prst="straightConnector1">
            <a:avLst/>
          </a:prstGeom>
          <a:ln w="57150" cap="rnd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689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E113-3FB6-F31C-6DD6-CDFB085F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4AD8E-316C-30D4-306B-DAD5F040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20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448676-9F45-C462-584D-87A567D48D7F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7654534-25C1-225A-39E6-17F8F40F9F2E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574C22-BC22-144C-0870-EE2548E11BE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Return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FDD08-5054-6D9F-254B-07FFCD853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459A13-8357-9EB4-A3A9-668ED827B745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p:pic>
        <p:nvPicPr>
          <p:cNvPr id="3" name="Picture 2" descr="A graph of the different types of organs&#10;&#10;AI-generated content may be incorrect.">
            <a:extLst>
              <a:ext uri="{FF2B5EF4-FFF2-40B4-BE49-F238E27FC236}">
                <a16:creationId xmlns:a16="http://schemas.microsoft.com/office/drawing/2014/main" id="{94F57BAB-2F18-F1AD-BEBC-595A22FD9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541" y="640370"/>
            <a:ext cx="6728162" cy="530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92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9E55-599A-22E9-D76D-849EBD2B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66960-59FA-B1EF-07E8-BEE63085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21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BE5532-5505-1388-54FA-2B7624DA3035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5DF325-E8F7-2C0E-0D29-10B6CB655E5D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D35C14-CFB6-D6EC-22DB-BF3C53C2D941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D85706F-D966-C8DC-4FB1-D62D378612D6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8E9E1C-2790-4775-6318-B95875052C7A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C60E46-46BD-0A93-C0FB-A22FC050754B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DD5320-D0BE-1956-8226-29499C4B36E8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DF21BF-0857-57C4-060B-103678E60190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1808571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DFE8-564A-D051-240A-421733DD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Determining Dose as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63BEF-875A-7041-7AA5-8D9101CC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Monte Carlo Simulations </a:t>
            </a:r>
          </a:p>
          <a:p>
            <a:pPr lvl="1"/>
            <a:r>
              <a:rPr lang="en-CA" dirty="0" err="1"/>
              <a:t>egsNRC</a:t>
            </a:r>
            <a:r>
              <a:rPr lang="en-CA" dirty="0"/>
              <a:t>: In-house modified </a:t>
            </a:r>
            <a:r>
              <a:rPr lang="en-CA" dirty="0" err="1"/>
              <a:t>DOSXYZnrc</a:t>
            </a:r>
            <a:r>
              <a:rPr lang="en-CA" dirty="0"/>
              <a:t> enables spatial-temporal dose deposition calculations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918C8-3AC5-BC42-3B5B-67DD3A84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22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1B3EB-37B9-2052-83FA-2AA9C0C9B127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097F2-019B-9375-F85B-D1D043F9C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2660570"/>
            <a:ext cx="9963150" cy="3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7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C7CB-A032-16A3-5662-C96EECB4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F83A-5B76-1A5C-60C7-D7175FAA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Determining Dose as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B93C-A5CB-96E6-9EC0-49381D878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Monte Carlo Simulations </a:t>
            </a:r>
          </a:p>
          <a:p>
            <a:pPr lvl="1"/>
            <a:r>
              <a:rPr lang="en-CA" dirty="0" err="1"/>
              <a:t>egsNRC</a:t>
            </a:r>
            <a:r>
              <a:rPr lang="en-CA" dirty="0"/>
              <a:t>: In-house modified </a:t>
            </a:r>
            <a:r>
              <a:rPr lang="en-CA" dirty="0" err="1"/>
              <a:t>DOSXYZnrc</a:t>
            </a:r>
            <a:r>
              <a:rPr lang="en-CA" dirty="0"/>
              <a:t> enables spatial-temporal dose deposition calculations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D0A84-7FFC-673F-2E03-FCFEF82C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23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026F5-34D9-EFA9-9C9A-2C11BE5809AD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40462-1F17-7999-EA25-9D9845C8D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2660570"/>
            <a:ext cx="9963150" cy="331522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2DE2CAF-D358-E1EE-BFC1-615183DB8948}"/>
              </a:ext>
            </a:extLst>
          </p:cNvPr>
          <p:cNvSpPr/>
          <p:nvPr/>
        </p:nvSpPr>
        <p:spPr>
          <a:xfrm rot="9307489">
            <a:off x="4152903" y="2731761"/>
            <a:ext cx="952500" cy="44767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7227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A528-D707-672E-A5F5-72475D69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E1C3-4135-EA52-3E71-0C5D0FFA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Determining Dose as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B1FA8-3B30-5E20-E28A-6B9EBA16B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Monte Carlo Simulations </a:t>
            </a:r>
          </a:p>
          <a:p>
            <a:pPr lvl="1"/>
            <a:r>
              <a:rPr lang="en-CA" dirty="0" err="1"/>
              <a:t>egsNRC</a:t>
            </a:r>
            <a:r>
              <a:rPr lang="en-CA" dirty="0"/>
              <a:t>: In-house modified </a:t>
            </a:r>
            <a:r>
              <a:rPr lang="en-CA" dirty="0" err="1"/>
              <a:t>DOSXYZnrc</a:t>
            </a:r>
            <a:r>
              <a:rPr lang="en-CA" dirty="0"/>
              <a:t> enables spatial-temporal dose deposition calculations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AEF00-A089-268B-6FC6-5A0F1281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24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0B5CE-BB9B-CD39-7590-085F8B77A981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7A94F-EF44-F86F-AAF0-D3787214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2660570"/>
            <a:ext cx="9963150" cy="33152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1F35B5-5BD0-D1EA-6826-B4B6B8E3F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409322" y="1433619"/>
            <a:ext cx="2705100" cy="513868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14E5718-DDBF-ECD9-A43D-E8AA8834FC4F}"/>
              </a:ext>
            </a:extLst>
          </p:cNvPr>
          <p:cNvSpPr/>
          <p:nvPr/>
        </p:nvSpPr>
        <p:spPr>
          <a:xfrm rot="9307489">
            <a:off x="9424208" y="2646035"/>
            <a:ext cx="952500" cy="44767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033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AF2EE-5FBB-24B3-3C7F-43994CCF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6CEB-7B8F-12C8-9566-0964E6DE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MU to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E7EA-2493-ADEE-2C89-4D824F2DE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Co-60: treatments are not planned as a function of MU but of </a:t>
            </a:r>
            <a:r>
              <a:rPr lang="en-CA" u="sng" dirty="0"/>
              <a:t>time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During treatment planning we determine the min/field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MC simulation everything is scaled from [0,1] MU.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Trivial to convert from MU to time 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BB390-B63A-9CBE-893C-4657754B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25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07137-ADEF-F566-A91E-F7956DBD7CF5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91874-3D35-BF9B-0B15-3BAA93E53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127" y="2221352"/>
            <a:ext cx="3572374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3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ED49-9C0B-FF76-021C-C85FE9D2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Energy Deposited to Dose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3F22E-DD26-2C7F-D684-2E45CC30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26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51CF3-7EC0-CAED-792B-81E97C4B1779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22F54-751C-5BA2-77A2-3EB84FFFF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99" y="2165251"/>
            <a:ext cx="4867311" cy="1476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1C859F-387A-960F-5F74-E8F1E2286370}"/>
                  </a:ext>
                </a:extLst>
              </p:cNvPr>
              <p:cNvSpPr txBox="1"/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Absorbed Dose (Gy/particle)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Voxel mass (g)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CA" dirty="0"/>
                  <a:t> = Number of particles incident on initial source (output from sim)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dirty="0"/>
                  <a:t> = Energy deposited (MeV)</a:t>
                </a:r>
              </a:p>
              <a:p>
                <a:endParaRPr lang="en-CA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1C859F-387A-960F-5F74-E8F1E2286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blipFill>
                <a:blip r:embed="rId3"/>
                <a:stretch>
                  <a:fillRect t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248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381C-5CD3-53C4-5B8B-8FB52A5E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01A1-1C60-C053-19E9-1BAB62E1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Energy Deposited to Dose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EC8BA-0ADC-148D-1690-6A674D9B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27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84F04-CC59-1736-5A41-066E11FB4A02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F1456-C88A-5A93-8760-E4AAD1904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99" y="2165251"/>
            <a:ext cx="4867311" cy="1476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EE699B-0780-B19E-FF83-62366DC17CC3}"/>
                  </a:ext>
                </a:extLst>
              </p:cNvPr>
              <p:cNvSpPr txBox="1"/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Absorbed Dose (Gy/particle)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Voxel mass (g)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CA" dirty="0"/>
                  <a:t> = Number of particles incident on initial source (output from sim)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dirty="0"/>
                  <a:t> = Energy deposited (MeV)</a:t>
                </a:r>
              </a:p>
              <a:p>
                <a:endParaRPr lang="en-CA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EE699B-0780-B19E-FF83-62366DC17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blipFill>
                <a:blip r:embed="rId3"/>
                <a:stretch>
                  <a:fillRect t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2989A40-03A3-46F8-0B82-BE813B51040B}"/>
              </a:ext>
            </a:extLst>
          </p:cNvPr>
          <p:cNvSpPr/>
          <p:nvPr/>
        </p:nvSpPr>
        <p:spPr>
          <a:xfrm>
            <a:off x="2886075" y="4086225"/>
            <a:ext cx="1238250" cy="362584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5241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B90C-C034-2327-960F-8C23EFB9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86B-0EFD-0EDD-C62D-AB1C13FE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Gy/Particle to 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6C45C-5981-ACE9-10C4-B35CEF4A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Co-60: number of particles is a function of activity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At the time of commissioning a Co-60 source the activity is measured (</a:t>
            </a:r>
            <a:r>
              <a:rPr lang="en-CA" dirty="0" err="1"/>
              <a:t>cGy</a:t>
            </a:r>
            <a:r>
              <a:rPr lang="en-CA" dirty="0"/>
              <a:t>/min)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We wanted to know the </a:t>
            </a:r>
            <a:r>
              <a:rPr lang="en-CA" u="sng" dirty="0"/>
              <a:t>particles/min </a:t>
            </a:r>
            <a:r>
              <a:rPr lang="en-CA" dirty="0"/>
              <a:t>of the source 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9701C-B4A4-4537-BEA5-B36B0476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28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46235-4A96-188B-EA04-2EDE176DBF1D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44717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E0142-28F7-284B-04F3-2755C354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AFBC-D212-0BE0-2E59-6EB35EAA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Gy/Particle to 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2471F-39C1-862A-3A6E-8933F0BC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Co-60: number of particles is a function of activity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At the time of commissioning a Co-60 source the activity is measured (</a:t>
            </a:r>
            <a:r>
              <a:rPr lang="en-CA" dirty="0" err="1"/>
              <a:t>cGy</a:t>
            </a:r>
            <a:r>
              <a:rPr lang="en-CA" dirty="0"/>
              <a:t>/min)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We wanted to know the </a:t>
            </a:r>
            <a:r>
              <a:rPr lang="en-CA" u="sng" dirty="0"/>
              <a:t>particles/min </a:t>
            </a:r>
            <a:r>
              <a:rPr lang="en-CA" dirty="0"/>
              <a:t>of the source 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TG-51 performed during commissioning of the source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Mimic TG-51 geometry in MC and calculate the Gy/particle at the location of the dosimeter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Ran 10 simulations, with 8 billion particles each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  <a:p>
            <a:pPr marL="201168" lvl="1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7CFB2-1D12-C0EA-5EEC-1D9DFF59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29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EE22B-D614-85CD-9CC5-CB7FAD0BB97D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2BFEE-AA92-9DAB-8EEB-AD7B3111B76D}"/>
              </a:ext>
            </a:extLst>
          </p:cNvPr>
          <p:cNvSpPr/>
          <p:nvPr/>
        </p:nvSpPr>
        <p:spPr>
          <a:xfrm>
            <a:off x="1097280" y="4127156"/>
            <a:ext cx="3558746" cy="37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9.76 E 14 particles per minute</a:t>
            </a:r>
          </a:p>
        </p:txBody>
      </p:sp>
    </p:spTree>
    <p:extLst>
      <p:ext uri="{BB962C8B-B14F-4D97-AF65-F5344CB8AC3E}">
        <p14:creationId xmlns:p14="http://schemas.microsoft.com/office/powerpoint/2010/main" val="3377416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E2D9-75F8-3AD8-DCB2-3AD96A86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5E6D-4A68-537C-999D-86445965C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Gy/Particle to Gy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D0E7D-02E2-CC32-1E1A-072C3C2CE2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 For Co-60: number of particles is a function of activity</a:t>
                </a: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 At the time of commissioning a Co-60 source the activity is measured (</a:t>
                </a:r>
                <a:r>
                  <a:rPr lang="en-CA" dirty="0" err="1"/>
                  <a:t>cGy</a:t>
                </a:r>
                <a:r>
                  <a:rPr lang="en-CA" dirty="0"/>
                  <a:t>/min)</a:t>
                </a: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We wanted to know the </a:t>
                </a:r>
                <a:r>
                  <a:rPr lang="en-CA" u="sng" dirty="0"/>
                  <a:t>particles/min </a:t>
                </a:r>
                <a:r>
                  <a:rPr lang="en-CA" dirty="0"/>
                  <a:t>of the source </a:t>
                </a:r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TG-51 performed during commissioning of the source</a:t>
                </a:r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Mimic TG-51 geometry in MC and calculate the Gy/particle at the location of the dosimeter</a:t>
                </a:r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Ran 10 simulations, with 8 billion particles each</a:t>
                </a: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We know the time of the treatment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𝐺𝑦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𝑡𝑖𝑚𝑒𝑠𝑡𝑒𝑝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𝐺𝑦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𝑝𝑎𝑟𝑡𝑖𝑐𝑙𝑒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9.76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14 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𝑝𝑎𝑟𝑡𝑖𝑐𝑙𝑒𝑠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𝑡𝑖𝑚𝑒𝑠𝑡𝑒𝑝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Clr>
                    <a:schemeClr val="accent1">
                      <a:lumMod val="50000"/>
                    </a:schemeClr>
                  </a:buClr>
                  <a:buNone/>
                </a:pPr>
                <a:endParaRPr lang="en-CA" dirty="0"/>
              </a:p>
              <a:p>
                <a:pPr marL="0" indent="0">
                  <a:buClr>
                    <a:schemeClr val="accent1">
                      <a:lumMod val="50000"/>
                    </a:schemeClr>
                  </a:buClr>
                  <a:buNone/>
                </a:pPr>
                <a:endParaRPr lang="en-CA" dirty="0"/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D0E7D-02E2-CC32-1E1A-072C3C2CE2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3DF69-C4B8-B530-0ECA-472C1080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30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DFE0A-DB87-8D88-BC4E-F429B359FC77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04C3D-996C-6165-FF76-83E3487E836F}"/>
              </a:ext>
            </a:extLst>
          </p:cNvPr>
          <p:cNvSpPr/>
          <p:nvPr/>
        </p:nvSpPr>
        <p:spPr>
          <a:xfrm>
            <a:off x="1097280" y="4127156"/>
            <a:ext cx="3558746" cy="37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9.76 E 14 particles per minute</a:t>
            </a:r>
          </a:p>
        </p:txBody>
      </p:sp>
    </p:spTree>
    <p:extLst>
      <p:ext uri="{BB962C8B-B14F-4D97-AF65-F5344CB8AC3E}">
        <p14:creationId xmlns:p14="http://schemas.microsoft.com/office/powerpoint/2010/main" val="2083884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F8F4-6F9F-AF23-6B98-7E91DF1F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87B3-4933-8D4F-EB5D-FCEE7684A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DC5D8-B8B9-C675-160C-AC1804E4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31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7FCA83-2C37-1964-0D81-2FA8CBB7FB73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A27BE6-BFE9-4932-E568-299D45F2DCCC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3133EE-707B-75C3-8D77-5ED22670BC63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361BEA-3857-A649-810B-EE171CD30CF0}"/>
              </a:ext>
            </a:extLst>
          </p:cNvPr>
          <p:cNvSpPr txBox="1"/>
          <p:nvPr/>
        </p:nvSpPr>
        <p:spPr>
          <a:xfrm>
            <a:off x="7465995" y="1845734"/>
            <a:ext cx="4593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7727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F67B-1A5C-A462-664D-189D1569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028F-41A1-92F0-B1D4-5CDEB888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62DC6-B3B1-45A2-7BCC-04CEC0095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87C5A-0CA1-D981-8ACC-43AC778C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32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35D05-DF33-9BC3-F6A1-516415D196FE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16A605-4E50-1FF3-9E72-68A06206058A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091625-9EE3-11AC-067C-D07002CDA4FD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C015C1-D137-671F-2E5E-E1958F684389}"/>
              </a:ext>
            </a:extLst>
          </p:cNvPr>
          <p:cNvSpPr txBox="1"/>
          <p:nvPr/>
        </p:nvSpPr>
        <p:spPr>
          <a:xfrm>
            <a:off x="7465995" y="1845734"/>
            <a:ext cx="4593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  <a:p>
            <a:r>
              <a:rPr lang="en-CA" dirty="0"/>
              <a:t>Per time step per blood voxel: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Position along length of the vessel</a:t>
            </a:r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Voxel location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60A59FD-E9AF-8C77-C805-CF11074F30A6}"/>
              </a:ext>
            </a:extLst>
          </p:cNvPr>
          <p:cNvSpPr/>
          <p:nvPr/>
        </p:nvSpPr>
        <p:spPr>
          <a:xfrm>
            <a:off x="7760150" y="3312151"/>
            <a:ext cx="2452255" cy="23369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Mapped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3561078E-B4C8-8B0D-0B79-6440E0F5A1BD}"/>
              </a:ext>
            </a:extLst>
          </p:cNvPr>
          <p:cNvSpPr/>
          <p:nvPr/>
        </p:nvSpPr>
        <p:spPr>
          <a:xfrm rot="8557649">
            <a:off x="1426643" y="658811"/>
            <a:ext cx="9534490" cy="2809265"/>
          </a:xfrm>
          <a:prstGeom prst="arc">
            <a:avLst>
              <a:gd name="adj1" fmla="val 15031886"/>
              <a:gd name="adj2" fmla="val 747515"/>
            </a:avLst>
          </a:prstGeom>
          <a:ln w="34925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2158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5A69-9F32-0C01-B3E7-54409CC1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52F8-1DE4-E0F1-071C-882B6083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A307-325F-08BC-A6F8-4B3B67E86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F1F89-527A-6F1B-A845-8FCC9484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33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0A9EFD-8946-C56D-8B16-18DA23573B89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A4D7DD-DE32-3231-0D9A-763D04328000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27E4B4-67D4-14BF-462E-4C32129B014C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CE3F83-3B20-052C-3F10-F44D295FFCA9}"/>
              </a:ext>
            </a:extLst>
          </p:cNvPr>
          <p:cNvSpPr txBox="1"/>
          <p:nvPr/>
        </p:nvSpPr>
        <p:spPr>
          <a:xfrm>
            <a:off x="7465995" y="1845734"/>
            <a:ext cx="45930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  <a:p>
            <a:r>
              <a:rPr lang="en-CA" dirty="0"/>
              <a:t>Per time step per blood voxel: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Position along length of the vessel</a:t>
            </a:r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Voxel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Time within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0CFE779-8989-7448-9AD7-FC0801270A78}"/>
              </a:ext>
            </a:extLst>
          </p:cNvPr>
          <p:cNvSpPr/>
          <p:nvPr/>
        </p:nvSpPr>
        <p:spPr>
          <a:xfrm>
            <a:off x="7760150" y="3312151"/>
            <a:ext cx="2452255" cy="23369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Mapped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6EFA1C99-1E6B-D8D9-10DF-66EBF2A1989B}"/>
              </a:ext>
            </a:extLst>
          </p:cNvPr>
          <p:cNvSpPr/>
          <p:nvPr/>
        </p:nvSpPr>
        <p:spPr>
          <a:xfrm rot="8557649">
            <a:off x="1426643" y="658811"/>
            <a:ext cx="9534490" cy="2809265"/>
          </a:xfrm>
          <a:prstGeom prst="arc">
            <a:avLst>
              <a:gd name="adj1" fmla="val 14666811"/>
              <a:gd name="adj2" fmla="val 747515"/>
            </a:avLst>
          </a:prstGeom>
          <a:ln w="34925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8244B352-4333-5BAC-2BB2-9581CFCADFF5}"/>
              </a:ext>
            </a:extLst>
          </p:cNvPr>
          <p:cNvSpPr/>
          <p:nvPr/>
        </p:nvSpPr>
        <p:spPr>
          <a:xfrm rot="10021866">
            <a:off x="3237355" y="2585031"/>
            <a:ext cx="7693588" cy="1454240"/>
          </a:xfrm>
          <a:prstGeom prst="arc">
            <a:avLst>
              <a:gd name="adj1" fmla="val 14666811"/>
              <a:gd name="adj2" fmla="val 316714"/>
            </a:avLst>
          </a:prstGeom>
          <a:ln w="34925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8548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9ACC-F2BE-38F9-2BCD-6437E94D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63BE-1431-2423-14C4-7D90826E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222B2-6E39-B81D-5A54-8BF5950F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288F9-407A-575D-0623-81CADB77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34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D3A50A-53F9-A184-6FA8-BE4C15AB5907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8D26FF-AF24-210A-5381-DA5630E159D4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B92FC7-9218-7437-2050-72E19D5A5E6E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8DE501-12ED-8A17-2510-D67081B83293}"/>
              </a:ext>
            </a:extLst>
          </p:cNvPr>
          <p:cNvSpPr txBox="1"/>
          <p:nvPr/>
        </p:nvSpPr>
        <p:spPr>
          <a:xfrm>
            <a:off x="7465995" y="1845734"/>
            <a:ext cx="45930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  <a:p>
            <a:r>
              <a:rPr lang="en-CA" dirty="0"/>
              <a:t>Per time step per blood voxel: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Position along length of the vessel</a:t>
            </a:r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Voxel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Time within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u="sng" dirty="0"/>
              <a:t>Dose to voxel </a:t>
            </a:r>
            <a:r>
              <a:rPr lang="en-CA" dirty="0"/>
              <a:t>(Gy/particle) </a:t>
            </a:r>
          </a:p>
          <a:p>
            <a:endParaRPr lang="en-CA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D5F507C-A603-860A-9581-4AD1520C67DA}"/>
              </a:ext>
            </a:extLst>
          </p:cNvPr>
          <p:cNvSpPr/>
          <p:nvPr/>
        </p:nvSpPr>
        <p:spPr>
          <a:xfrm>
            <a:off x="7760150" y="3312151"/>
            <a:ext cx="2452255" cy="23369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Mapped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ABBDE17B-0E55-4850-E0A6-DA3E485F9A50}"/>
              </a:ext>
            </a:extLst>
          </p:cNvPr>
          <p:cNvSpPr/>
          <p:nvPr/>
        </p:nvSpPr>
        <p:spPr>
          <a:xfrm rot="10473571">
            <a:off x="1469369" y="2657872"/>
            <a:ext cx="11180083" cy="1976071"/>
          </a:xfrm>
          <a:prstGeom prst="arc">
            <a:avLst>
              <a:gd name="adj1" fmla="val 14666811"/>
              <a:gd name="adj2" fmla="val 56514"/>
            </a:avLst>
          </a:prstGeom>
          <a:ln w="34925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9400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FF16-6ED8-4401-82CE-1E55D32E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DDD1-53DB-16B5-C57C-023C65248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60650-0D6F-CF4A-6226-94319056E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5B366-CB97-D3ED-DD1A-A9CDDD70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35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EF1186-DD57-2639-B6DF-CF0407949E61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FF3103-6206-F489-CA86-9731ABC36EDD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1514DF-3D3D-3A4F-B458-BDCB832D8C7E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92A5BC-B039-D6FF-B901-161F9428B02C}"/>
              </a:ext>
            </a:extLst>
          </p:cNvPr>
          <p:cNvSpPr txBox="1"/>
          <p:nvPr/>
        </p:nvSpPr>
        <p:spPr>
          <a:xfrm>
            <a:off x="7465995" y="1845734"/>
            <a:ext cx="45930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  <a:p>
            <a:r>
              <a:rPr lang="en-CA" dirty="0"/>
              <a:t>Per time step per blood voxel: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Position along length of the vessel</a:t>
            </a:r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Voxel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Time within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u="sng" dirty="0"/>
              <a:t>Dose to voxel </a:t>
            </a:r>
            <a:r>
              <a:rPr lang="en-CA" dirty="0"/>
              <a:t>(Gy/particle) 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Dose (Gy) = Gy/particle * particle/min *time step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0266417-23A5-381A-F85C-85EDD72798F6}"/>
              </a:ext>
            </a:extLst>
          </p:cNvPr>
          <p:cNvSpPr/>
          <p:nvPr/>
        </p:nvSpPr>
        <p:spPr>
          <a:xfrm>
            <a:off x="7760150" y="3312151"/>
            <a:ext cx="2452255" cy="23369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Mapped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27EE9C2B-6459-2C6C-8D5C-81764BAA92F3}"/>
              </a:ext>
            </a:extLst>
          </p:cNvPr>
          <p:cNvSpPr/>
          <p:nvPr/>
        </p:nvSpPr>
        <p:spPr>
          <a:xfrm rot="10473571">
            <a:off x="1469369" y="2657872"/>
            <a:ext cx="11180083" cy="1976071"/>
          </a:xfrm>
          <a:prstGeom prst="arc">
            <a:avLst>
              <a:gd name="adj1" fmla="val 14666811"/>
              <a:gd name="adj2" fmla="val 56514"/>
            </a:avLst>
          </a:prstGeom>
          <a:ln w="34925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6650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1F05-B4E1-82C9-F703-A2BC5196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4836-0866-EE21-477E-DD2B2D2E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DF50-F975-0A0B-D9E9-FBBEF1E1F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Be able to sample the dose to the organ compartments</a:t>
            </a:r>
          </a:p>
          <a:p>
            <a:pPr lvl="1"/>
            <a:r>
              <a:rPr lang="en-US" dirty="0"/>
              <a:t>Note: Electing to ignore the distributed tissue compartments due to uncertainty in contouring</a:t>
            </a:r>
          </a:p>
          <a:p>
            <a:r>
              <a:rPr lang="en-US" dirty="0"/>
              <a:t>Common solution within the literature is to sample the Dose Rate Function per time step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F8A6F-9395-306E-28E3-A011FF96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4502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19DF4-B64B-F91F-D283-165280C1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102B-5F0B-0D8C-F2BE-DF721D3E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B927-11C6-164E-8C15-FC30FA70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Be able to sample the dose to the organ compartments</a:t>
            </a:r>
          </a:p>
          <a:p>
            <a:pPr lvl="1"/>
            <a:r>
              <a:rPr lang="en-US" dirty="0"/>
              <a:t>Note: Electing to ignore the distributed tissue compartments due to uncertainty in contouring</a:t>
            </a:r>
          </a:p>
          <a:p>
            <a:r>
              <a:rPr lang="en-US" dirty="0"/>
              <a:t>Common solution within the literature is to sample the Dose Rate Function per time step</a:t>
            </a:r>
          </a:p>
          <a:p>
            <a:r>
              <a:rPr lang="en-US" dirty="0"/>
              <a:t>Issue: Sampling the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EE16B-A96E-8AA2-6D2B-91D29FEB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7006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7921-A159-785E-BAFD-A587C174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0363-F5E8-76D1-B9EE-7D5BA5EE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822C-4751-03E2-8B93-4631B58F7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Issue: Sampling the 3D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MC.</a:t>
            </a:r>
          </a:p>
          <a:p>
            <a:pPr lvl="1"/>
            <a:r>
              <a:rPr lang="en-US" dirty="0"/>
              <a:t>Normalize number of events over the course of the treatment by the total number of events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76C73-1A46-E6BC-A443-C1C33772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6658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9FC7-D1E6-017F-11D0-6C4C228E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A5C5-A4B5-1463-A25B-E6DAA019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D5DE-3BC9-038A-CB40-2DD850AD2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Issue: Sampling the 3D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MC.</a:t>
            </a:r>
          </a:p>
          <a:p>
            <a:pPr lvl="1"/>
            <a:r>
              <a:rPr lang="en-US" dirty="0"/>
              <a:t>Normalize number of events over the course of the treatment by the total number of events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8EE34-A9E7-16DA-E77D-2EC8C95F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39</a:t>
            </a:fld>
            <a:endParaRPr lang="en-CA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53DDC9-9886-1173-2CA8-17514E897C83}"/>
              </a:ext>
            </a:extLst>
          </p:cNvPr>
          <p:cNvCxnSpPr>
            <a:cxnSpLocks/>
          </p:cNvCxnSpPr>
          <p:nvPr/>
        </p:nvCxnSpPr>
        <p:spPr>
          <a:xfrm>
            <a:off x="5241013" y="4357000"/>
            <a:ext cx="0" cy="1362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7B75E-202F-A530-9A51-D485072EDB35}"/>
              </a:ext>
            </a:extLst>
          </p:cNvPr>
          <p:cNvCxnSpPr>
            <a:cxnSpLocks/>
          </p:cNvCxnSpPr>
          <p:nvPr/>
        </p:nvCxnSpPr>
        <p:spPr>
          <a:xfrm>
            <a:off x="5241013" y="5719075"/>
            <a:ext cx="29600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61F8B41-BA51-8D1D-0B1C-0B01223C6251}"/>
              </a:ext>
            </a:extLst>
          </p:cNvPr>
          <p:cNvSpPr txBox="1"/>
          <p:nvPr/>
        </p:nvSpPr>
        <p:spPr>
          <a:xfrm rot="16200000">
            <a:off x="3711818" y="4801934"/>
            <a:ext cx="235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Event Frequency (1/s)</a:t>
            </a:r>
            <a:endParaRPr lang="en-CA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4972662-27A5-DBFB-D651-9EB43C62B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579" y="4032500"/>
            <a:ext cx="2609847" cy="260984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C21CBB5-5638-9742-DCD3-4EA8A32A741B}"/>
              </a:ext>
            </a:extLst>
          </p:cNvPr>
          <p:cNvSpPr txBox="1"/>
          <p:nvPr/>
        </p:nvSpPr>
        <p:spPr>
          <a:xfrm>
            <a:off x="5498867" y="5764730"/>
            <a:ext cx="326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(s)</a:t>
            </a:r>
            <a:endParaRPr lang="en-CA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8DA9F9-E10A-86AA-144A-E4AB29F98ECF}"/>
              </a:ext>
            </a:extLst>
          </p:cNvPr>
          <p:cNvCxnSpPr>
            <a:cxnSpLocks/>
          </p:cNvCxnSpPr>
          <p:nvPr/>
        </p:nvCxnSpPr>
        <p:spPr>
          <a:xfrm flipV="1">
            <a:off x="5886450" y="5449994"/>
            <a:ext cx="0" cy="26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235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4D05-C20A-9375-F0CE-40996233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8EB1-1894-79AD-DD3F-3BFC15B0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C8EF-A6A6-CC30-1106-C39FFD078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Issue: Sampling the 3D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MC.</a:t>
            </a:r>
          </a:p>
          <a:p>
            <a:pPr lvl="1"/>
            <a:r>
              <a:rPr lang="en-US" dirty="0"/>
              <a:t>Normalize number of events over the course of the treatment by the total number of events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C60FA-B923-4B2B-1D2D-4CF6C323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40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89386B-10BF-7FB3-355C-DE79840F47B4}"/>
              </a:ext>
            </a:extLst>
          </p:cNvPr>
          <p:cNvCxnSpPr>
            <a:cxnSpLocks/>
          </p:cNvCxnSpPr>
          <p:nvPr/>
        </p:nvCxnSpPr>
        <p:spPr>
          <a:xfrm>
            <a:off x="1838325" y="4343400"/>
            <a:ext cx="0" cy="1362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713E2A-3B2A-84D8-A50E-F635FFA8846F}"/>
              </a:ext>
            </a:extLst>
          </p:cNvPr>
          <p:cNvCxnSpPr>
            <a:cxnSpLocks/>
          </p:cNvCxnSpPr>
          <p:nvPr/>
        </p:nvCxnSpPr>
        <p:spPr>
          <a:xfrm>
            <a:off x="1838325" y="5705475"/>
            <a:ext cx="17145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6458963-3C9E-9CA8-E54B-EA3662221084}"/>
              </a:ext>
            </a:extLst>
          </p:cNvPr>
          <p:cNvSpPr/>
          <p:nvPr/>
        </p:nvSpPr>
        <p:spPr>
          <a:xfrm>
            <a:off x="1828800" y="4562477"/>
            <a:ext cx="1314450" cy="1162048"/>
          </a:xfrm>
          <a:custGeom>
            <a:avLst/>
            <a:gdLst>
              <a:gd name="connsiteX0" fmla="*/ 0 w 1314450"/>
              <a:gd name="connsiteY0" fmla="*/ 127570 h 1299145"/>
              <a:gd name="connsiteX1" fmla="*/ 676275 w 1314450"/>
              <a:gd name="connsiteY1" fmla="*/ 108520 h 1299145"/>
              <a:gd name="connsiteX2" fmla="*/ 1314450 w 1314450"/>
              <a:gd name="connsiteY2" fmla="*/ 1299145 h 1299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4450" h="1299145">
                <a:moveTo>
                  <a:pt x="0" y="127570"/>
                </a:moveTo>
                <a:cubicBezTo>
                  <a:pt x="228600" y="20414"/>
                  <a:pt x="457200" y="-86742"/>
                  <a:pt x="676275" y="108520"/>
                </a:cubicBezTo>
                <a:cubicBezTo>
                  <a:pt x="895350" y="303782"/>
                  <a:pt x="1177925" y="1099120"/>
                  <a:pt x="1314450" y="129914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77EBC-1B92-9270-FF27-ED2630323EF7}"/>
              </a:ext>
            </a:extLst>
          </p:cNvPr>
          <p:cNvSpPr txBox="1"/>
          <p:nvPr/>
        </p:nvSpPr>
        <p:spPr>
          <a:xfrm>
            <a:off x="1509712" y="5798346"/>
            <a:ext cx="326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Number [0,1]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AAF44-CBC9-E6B9-624F-C56BF0F7CC2E}"/>
              </a:ext>
            </a:extLst>
          </p:cNvPr>
          <p:cNvSpPr txBox="1"/>
          <p:nvPr/>
        </p:nvSpPr>
        <p:spPr>
          <a:xfrm rot="16200000">
            <a:off x="787418" y="4696361"/>
            <a:ext cx="145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Dose (Gy)</a:t>
            </a:r>
            <a:endParaRPr lang="en-C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25CC28-E6B3-C154-FB7B-EC9506881F6A}"/>
              </a:ext>
            </a:extLst>
          </p:cNvPr>
          <p:cNvCxnSpPr>
            <a:cxnSpLocks/>
          </p:cNvCxnSpPr>
          <p:nvPr/>
        </p:nvCxnSpPr>
        <p:spPr>
          <a:xfrm>
            <a:off x="5241013" y="4357000"/>
            <a:ext cx="0" cy="1362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F7B6F2-56E7-8F82-21D7-8D43276A6ABD}"/>
              </a:ext>
            </a:extLst>
          </p:cNvPr>
          <p:cNvCxnSpPr>
            <a:cxnSpLocks/>
          </p:cNvCxnSpPr>
          <p:nvPr/>
        </p:nvCxnSpPr>
        <p:spPr>
          <a:xfrm>
            <a:off x="5241013" y="5719075"/>
            <a:ext cx="29600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F2D61C-DE09-F59B-5BF3-F088DFAE8ECC}"/>
              </a:ext>
            </a:extLst>
          </p:cNvPr>
          <p:cNvSpPr txBox="1"/>
          <p:nvPr/>
        </p:nvSpPr>
        <p:spPr>
          <a:xfrm rot="16200000">
            <a:off x="3711818" y="4801934"/>
            <a:ext cx="235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Event Frequency (1/s)</a:t>
            </a:r>
            <a:endParaRPr lang="en-CA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85BC4B-C6F4-57B2-7225-303FC3AF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579" y="4032500"/>
            <a:ext cx="2609847" cy="260984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71164EA-BB74-6739-F0FC-ACCAEA477F2B}"/>
              </a:ext>
            </a:extLst>
          </p:cNvPr>
          <p:cNvSpPr txBox="1"/>
          <p:nvPr/>
        </p:nvSpPr>
        <p:spPr>
          <a:xfrm>
            <a:off x="5498867" y="5764730"/>
            <a:ext cx="326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(s)</a:t>
            </a:r>
            <a:endParaRPr lang="en-CA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875545-89A9-3A6C-ECD6-8104B3298F01}"/>
              </a:ext>
            </a:extLst>
          </p:cNvPr>
          <p:cNvCxnSpPr/>
          <p:nvPr/>
        </p:nvCxnSpPr>
        <p:spPr>
          <a:xfrm flipV="1">
            <a:off x="2619375" y="4867275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32300B-CD56-6C03-A47E-359B2474C307}"/>
              </a:ext>
            </a:extLst>
          </p:cNvPr>
          <p:cNvCxnSpPr>
            <a:cxnSpLocks/>
          </p:cNvCxnSpPr>
          <p:nvPr/>
        </p:nvCxnSpPr>
        <p:spPr>
          <a:xfrm flipV="1">
            <a:off x="5886450" y="5449994"/>
            <a:ext cx="0" cy="26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AFC5E-86FF-831E-26C2-6D44FBF7E6E5}"/>
                  </a:ext>
                </a:extLst>
              </p:cNvPr>
              <p:cNvSpPr txBox="1"/>
              <p:nvPr/>
            </p:nvSpPr>
            <p:spPr>
              <a:xfrm>
                <a:off x="1953697" y="3154699"/>
                <a:ext cx="828460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𝐷𝑜𝑠𝑒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𝑆𝑎𝑚𝑝𝑙𝑒𝑑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𝐷𝑜𝑠𝑒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𝐸𝑣𝑒𝑛𝑡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𝐹𝑟𝑒𝑞𝑢𝑒𝑛𝑐𝑦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AFC5E-86FF-831E-26C2-6D44FBF7E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697" y="3154699"/>
                <a:ext cx="8284605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64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8130-042B-B4E1-C9AA-68BC013F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4CA3-D4E6-1779-B582-CDACDAEF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41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58722A-0186-76C8-81DB-DBCB03E1299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69EA45-4B9B-A788-FC47-69F62B2EFCCD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B3B9F3-CB13-05BF-F629-5A4735F3A304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9784DD-7BC5-8411-A8DD-A6866B6B3705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0F56B8-79E3-0FDB-1B88-8599F40DDAB7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A06013-D998-FFA0-934C-7F382C260B25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68E942-D279-4FAC-52BB-6709C4675376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45A920-7684-4CF8-06D5-E318D761DA50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255193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F005-D8FC-3965-09EF-C0002C95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Sweeping Co-60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ED8643-5835-2426-FCF3-559F7D4DD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40" y="1825778"/>
            <a:ext cx="4704080" cy="398319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AFD76-019F-9BFE-F23A-7BC798F1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42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293EE-6355-47C9-B385-5139240142A0}"/>
              </a:ext>
            </a:extLst>
          </p:cNvPr>
          <p:cNvSpPr txBox="1"/>
          <p:nvPr/>
        </p:nvSpPr>
        <p:spPr>
          <a:xfrm>
            <a:off x="0" y="6411514"/>
            <a:ext cx="1076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S. Hussein and E. </a:t>
            </a:r>
            <a:r>
              <a:rPr lang="en-CA" sz="1200" dirty="0" err="1"/>
              <a:t>el</a:t>
            </a:r>
            <a:r>
              <a:rPr lang="en-CA" sz="1200" dirty="0"/>
              <a:t>-Khatib, “Total body irradiation with a sweeping 60Cobalt beam,” Int J </a:t>
            </a:r>
            <a:r>
              <a:rPr lang="en-CA" sz="1200" dirty="0" err="1"/>
              <a:t>Radiat</a:t>
            </a:r>
            <a:r>
              <a:rPr lang="en-CA" sz="1200" dirty="0"/>
              <a:t> Oncol Biol Phys, vol. 33, no. 2, pp. 493–497, Sept. 1995, </a:t>
            </a:r>
            <a:r>
              <a:rPr lang="en-CA" sz="1200" dirty="0" err="1"/>
              <a:t>doi</a:t>
            </a:r>
            <a:r>
              <a:rPr lang="en-CA" sz="1200" dirty="0"/>
              <a:t>: </a:t>
            </a:r>
            <a:r>
              <a:rPr lang="en-CA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10.1016/0360-3016(95)00164-T</a:t>
            </a:r>
            <a:r>
              <a:rPr lang="en-CA" sz="12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C2F8C3-687B-3CA4-A929-FFDE1803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252" y="1825778"/>
            <a:ext cx="467742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85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EE16-A1D3-22CD-7446-48A3D420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Prelim Dose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6F799-8EF1-F95F-AD0C-E58757AA1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0ACFE-9686-E12C-F0E5-70869E1CF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952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161B-7CDF-F28C-41E7-F4D22FAA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Anticaption for Projects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F26EC-8641-6786-F377-F9E210E48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the following:</a:t>
            </a:r>
          </a:p>
          <a:p>
            <a:pPr lvl="1"/>
            <a:r>
              <a:rPr lang="en-US" dirty="0"/>
              <a:t>Extended POP: most common in Canada as of 2017  </a:t>
            </a:r>
          </a:p>
          <a:p>
            <a:pPr lvl="1"/>
            <a:r>
              <a:rPr lang="en-US" dirty="0"/>
              <a:t>TBI VMAT: as delivered at BC Cancer – Vancouver</a:t>
            </a:r>
          </a:p>
          <a:p>
            <a:pPr lvl="2"/>
            <a:r>
              <a:rPr lang="en-US" dirty="0"/>
              <a:t>Q: Are their variables we can vary during the treatment planning process?</a:t>
            </a:r>
          </a:p>
          <a:p>
            <a:r>
              <a:rPr lang="en-CA" dirty="0"/>
              <a:t>Compare the standard deviation of the dose to the BVs for all treatments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56F0E-AACC-4950-1B4D-D99BD134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44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CA64C-3F42-93AF-F7C6-81ACDD9AC1CE}"/>
              </a:ext>
            </a:extLst>
          </p:cNvPr>
          <p:cNvSpPr txBox="1"/>
          <p:nvPr/>
        </p:nvSpPr>
        <p:spPr>
          <a:xfrm>
            <a:off x="-76201" y="6411514"/>
            <a:ext cx="10620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R. C. N. Studinski, D. J. Fraser, R. S. Samant, and M. S. MacPherson, “Current practice in total-body irradiation: results of a Canada-wide survey,” Curr Oncol, vol. 24, no. 3, pp. 181–186, June 2017.</a:t>
            </a:r>
          </a:p>
        </p:txBody>
      </p:sp>
    </p:spTree>
    <p:extLst>
      <p:ext uri="{BB962C8B-B14F-4D97-AF65-F5344CB8AC3E}">
        <p14:creationId xmlns:p14="http://schemas.microsoft.com/office/powerpoint/2010/main" val="17035205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F5C6-E751-BA09-05B4-81E901FC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Publications Anticipated and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E1CA-CE51-C89C-79CA-FD3BEA12F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Submitted Project 1 – Blood Flow Model to Physics in Medicine &amp; Biology and the paper was rejected.</a:t>
            </a:r>
          </a:p>
          <a:p>
            <a:r>
              <a:rPr lang="en-US" dirty="0"/>
              <a:t>The </a:t>
            </a:r>
            <a:r>
              <a:rPr lang="en-US" u="sng" dirty="0"/>
              <a:t>lack of dosimetric results </a:t>
            </a:r>
            <a:r>
              <a:rPr lang="en-US" dirty="0"/>
              <a:t>was a significant piece of feedback.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1F0E0-CD0C-229E-5D94-ADA60FEB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878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DD84-5641-F71A-C05D-536E601B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802E-A03A-8FA2-6ADC-CCED3F92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Publications Anticipated and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FEF8-EA74-A617-8AE6-3A2063A1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Submitted Project 1 – Blood Flow Model to Physics in Medicine &amp; Biology and the paper was rejected.</a:t>
            </a:r>
          </a:p>
          <a:p>
            <a:r>
              <a:rPr lang="en-US" dirty="0"/>
              <a:t>The </a:t>
            </a:r>
            <a:r>
              <a:rPr lang="en-US" u="sng" dirty="0"/>
              <a:t>lack of dosimetric results </a:t>
            </a:r>
            <a:r>
              <a:rPr lang="en-US" dirty="0"/>
              <a:t>was a significant piece of feedback. </a:t>
            </a:r>
          </a:p>
          <a:p>
            <a:r>
              <a:rPr lang="en-US" dirty="0"/>
              <a:t>Options: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Re-submit with additional focus on validation metrics (other piece of feedback)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Combine Project 1 and Project 2 into a </a:t>
            </a:r>
            <a:r>
              <a:rPr lang="en-US"/>
              <a:t>singular publication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B1131-8F79-7AEC-7E17-ECEDC79F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20573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EC0F-8FB7-5780-47B9-FF7762017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Big Question: Do you feel like the outlined work meets the requirement to fill the body of my thesis?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1CEBC-BCCE-7303-A4F1-D1D30EB13C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4D409-7197-5D88-7B2A-5228A145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26718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983D-EBB6-683C-94AD-CAED3B79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Thank you.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CB0118-3CE2-03A0-E7ED-D643FAD1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3626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49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Steady State Identification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/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CA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CA" sz="2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sz="24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p>
                                      </m:sSubSup>
                                      <m:r>
                                        <a:rPr lang="en-CA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CA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EAF2DCD-1FEA-2374-F04B-D2C76AADB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6678" y="114299"/>
            <a:ext cx="7017026" cy="4848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53EA24-AA01-D04B-4477-0DF34E1A6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00" y="575964"/>
            <a:ext cx="3068907" cy="5689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EA8C40-19C4-785F-592F-B96D3B0198A2}"/>
              </a:ext>
            </a:extLst>
          </p:cNvPr>
          <p:cNvSpPr txBox="1"/>
          <p:nvPr/>
        </p:nvSpPr>
        <p:spPr>
          <a:xfrm>
            <a:off x="5194997" y="372386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6EE72-8663-E2CD-4FB2-D2AA94EDEE73}"/>
              </a:ext>
            </a:extLst>
          </p:cNvPr>
          <p:cNvSpPr txBox="1"/>
          <p:nvPr/>
        </p:nvSpPr>
        <p:spPr>
          <a:xfrm>
            <a:off x="6891130" y="748748"/>
            <a:ext cx="273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00FF"/>
                </a:solidFill>
              </a:rPr>
              <a:t>All Blood Voxels Released</a:t>
            </a:r>
          </a:p>
        </p:txBody>
      </p:sp>
    </p:spTree>
    <p:extLst>
      <p:ext uri="{BB962C8B-B14F-4D97-AF65-F5344CB8AC3E}">
        <p14:creationId xmlns:p14="http://schemas.microsoft.com/office/powerpoint/2010/main" val="13517173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8F18-624E-72B0-2F9C-FAF6135E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3B9F-45E8-0432-FBDD-6C1EFD49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50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681CE-DF11-4CB9-66AA-61F08C1B6123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A4DA4C74-0F02-28AD-D7F1-ABA040AE41D9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74AE0-C253-63A5-9B51-D26A5C53E9DD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1F85F-8D1F-980C-754F-DA009D2FA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89BBE7-8CE1-AAA0-E56E-30EB999D7CE3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/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blipFill>
                <a:blip r:embed="rId4"/>
                <a:stretch>
                  <a:fillRect b="-14103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7E4B4D4-9F79-6698-665F-BDCC3927EE31}"/>
              </a:ext>
            </a:extLst>
          </p:cNvPr>
          <p:cNvGraphicFramePr>
            <a:graphicFrameLocks/>
          </p:cNvGraphicFramePr>
          <p:nvPr/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94206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51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22130" y="6294440"/>
            <a:ext cx="1171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</a:rPr>
              <a:t>Jin, Young-Hoon, </a:t>
            </a:r>
            <a:r>
              <a:rPr lang="en-US" sz="1200" dirty="0"/>
              <a:t>and</a:t>
            </a:r>
            <a:r>
              <a:rPr lang="en-US" sz="1200" dirty="0">
                <a:effectLst/>
              </a:rPr>
              <a:t> Won-Hyung Lee. “Fast cylinder shape matching using random sample consensus in large Scale Point Cloud.” </a:t>
            </a:r>
            <a:r>
              <a:rPr lang="en-US" sz="1200" i="1" dirty="0">
                <a:effectLst/>
              </a:rPr>
              <a:t>Applied Sciences</a:t>
            </a:r>
            <a:r>
              <a:rPr lang="en-US" sz="1200" dirty="0">
                <a:effectLst/>
              </a:rPr>
              <a:t>,  9,  5, 2019.</a:t>
            </a:r>
          </a:p>
          <a:p>
            <a:r>
              <a:rPr lang="en-CA" sz="1200" dirty="0"/>
              <a:t>Watanabe, </a:t>
            </a:r>
            <a:r>
              <a:rPr lang="en-CA" sz="1200" dirty="0" err="1"/>
              <a:t>Sansuke</a:t>
            </a:r>
            <a:r>
              <a:rPr lang="en-CA" sz="1200" dirty="0"/>
              <a:t> M., Blanco, Pablo J., and </a:t>
            </a:r>
            <a:r>
              <a:rPr lang="en-CA" sz="1200" dirty="0" err="1"/>
              <a:t>Feijóo</a:t>
            </a:r>
            <a:r>
              <a:rPr lang="en-CA" sz="1200" dirty="0"/>
              <a:t>, Raúl A.. "Mathematical Model of Blood Flow in an Anatomically Detailed Arterial Network of the Arm." </a:t>
            </a:r>
            <a:r>
              <a:rPr lang="en-CA" sz="1200" i="1" dirty="0">
                <a:effectLst/>
              </a:rPr>
              <a:t>ESAIM: Mathematical   	Modelling and Numerical Analysis - </a:t>
            </a:r>
            <a:r>
              <a:rPr lang="en-CA" sz="1200" i="1" dirty="0" err="1">
                <a:effectLst/>
              </a:rPr>
              <a:t>Modélisation</a:t>
            </a:r>
            <a:r>
              <a:rPr lang="en-CA" sz="1200" i="1" dirty="0">
                <a:effectLst/>
              </a:rPr>
              <a:t> </a:t>
            </a:r>
            <a:r>
              <a:rPr lang="en-CA" sz="1200" i="1" dirty="0" err="1">
                <a:effectLst/>
              </a:rPr>
              <a:t>Mathématique</a:t>
            </a:r>
            <a:r>
              <a:rPr lang="en-CA" sz="1200" i="1" dirty="0">
                <a:effectLst/>
              </a:rPr>
              <a:t> et Analyse Numérique</a:t>
            </a:r>
            <a:r>
              <a:rPr lang="en-CA" sz="1200" dirty="0"/>
              <a:t> 47, 4, 2013.</a:t>
            </a:r>
            <a:endParaRPr lang="en-US" sz="1200" dirty="0">
              <a:effectLst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r>
              <a:rPr lang="en-CA" sz="2400" dirty="0" err="1"/>
              <a:t>imension</a:t>
            </a:r>
            <a:r>
              <a:rPr lang="en-CA" sz="2400" dirty="0"/>
              <a:t> Extraction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0573126-EBCF-5DE9-B420-6770F516C707}"/>
              </a:ext>
            </a:extLst>
          </p:cNvPr>
          <p:cNvSpPr/>
          <p:nvPr/>
        </p:nvSpPr>
        <p:spPr>
          <a:xfrm rot="1392224">
            <a:off x="2418564" y="2133211"/>
            <a:ext cx="2700641" cy="2655983"/>
          </a:xfrm>
          <a:prstGeom prst="arc">
            <a:avLst>
              <a:gd name="adj1" fmla="val 12755381"/>
              <a:gd name="adj2" fmla="val 12687122"/>
            </a:avLst>
          </a:prstGeom>
          <a:ln w="76200">
            <a:solidFill>
              <a:srgbClr val="0DBFD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D6BBEFC-8A51-D0F5-9A64-B09A0495572A}"/>
              </a:ext>
            </a:extLst>
          </p:cNvPr>
          <p:cNvSpPr/>
          <p:nvPr/>
        </p:nvSpPr>
        <p:spPr>
          <a:xfrm rot="1392224">
            <a:off x="2418565" y="2133210"/>
            <a:ext cx="2700641" cy="2655983"/>
          </a:xfrm>
          <a:prstGeom prst="arc">
            <a:avLst>
              <a:gd name="adj1" fmla="val 12755381"/>
              <a:gd name="adj2" fmla="val 21052343"/>
            </a:avLst>
          </a:prstGeom>
          <a:ln w="76200">
            <a:solidFill>
              <a:srgbClr val="905A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BA0C3F-21DB-ED55-5967-798EB89EE961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3013471" y="2349918"/>
            <a:ext cx="207995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D9307D-6C57-D380-33FF-9F70C81C64A2}"/>
              </a:ext>
            </a:extLst>
          </p:cNvPr>
          <p:cNvCxnSpPr>
            <a:cxnSpLocks/>
          </p:cNvCxnSpPr>
          <p:nvPr/>
        </p:nvCxnSpPr>
        <p:spPr>
          <a:xfrm>
            <a:off x="3013471" y="2348975"/>
            <a:ext cx="1459470" cy="0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55116-67F3-5493-5627-2C8F4464B651}"/>
              </a:ext>
            </a:extLst>
          </p:cNvPr>
          <p:cNvCxnSpPr>
            <a:cxnSpLocks/>
          </p:cNvCxnSpPr>
          <p:nvPr/>
        </p:nvCxnSpPr>
        <p:spPr>
          <a:xfrm flipH="1" flipV="1">
            <a:off x="4472941" y="2371007"/>
            <a:ext cx="62048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4E8D8672-08F8-B93A-D89A-B4734AAA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123684"/>
            <a:ext cx="2086385" cy="51496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337AAFA-CD46-A0E9-37ED-F57C9F49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712" y="1184687"/>
            <a:ext cx="1871451" cy="51496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48CDBB-64E2-31DF-D6E0-19555A4595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992" b="6968"/>
          <a:stretch/>
        </p:blipFill>
        <p:spPr>
          <a:xfrm>
            <a:off x="7371126" y="1046477"/>
            <a:ext cx="1871451" cy="5100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/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Superior Mesenteric Artery</a:t>
                </a:r>
              </a:p>
              <a:p>
                <a:endParaRPr lang="en-CA" i="1" dirty="0">
                  <a:latin typeface="Cambria Math" panose="02040503050406030204" pitchFamily="18" charset="0"/>
                </a:endParaRPr>
              </a:p>
              <a:p>
                <a:r>
                  <a:rPr lang="en-CA" dirty="0"/>
                  <a:t>Calculated length (N =12)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=220.84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CA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CA" dirty="0"/>
              </a:p>
              <a:p>
                <a:r>
                  <a:rPr lang="en-CA" dirty="0"/>
                  <a:t>Manually measured length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=212.75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r>
                  <a:rPr lang="en-CA" dirty="0" err="1"/>
                  <a:t>Hemolab</a:t>
                </a:r>
                <a:r>
                  <a:rPr lang="en-CA" dirty="0"/>
                  <a:t> Value: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=216.79 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r>
                  <a:rPr lang="en-CA" dirty="0">
                    <a:latin typeface="Cambria Math" panose="02040503050406030204" pitchFamily="18" charset="0"/>
                  </a:rPr>
                  <a:t>Calculated radius (N = 12)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=1.79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2.79 %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=1.66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18.67 %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blipFill>
                <a:blip r:embed="rId6"/>
                <a:stretch>
                  <a:fillRect l="-1706" t="-809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CE217D-5F63-B2BF-8D2A-06B8E42D1B56}"/>
              </a:ext>
            </a:extLst>
          </p:cNvPr>
          <p:cNvCxnSpPr>
            <a:cxnSpLocks/>
          </p:cNvCxnSpPr>
          <p:nvPr/>
        </p:nvCxnSpPr>
        <p:spPr>
          <a:xfrm flipV="1">
            <a:off x="9079699" y="1706637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E53CA-C48B-1910-D20E-CAF02EC79EBF}"/>
              </a:ext>
            </a:extLst>
          </p:cNvPr>
          <p:cNvCxnSpPr>
            <a:cxnSpLocks/>
          </p:cNvCxnSpPr>
          <p:nvPr/>
        </p:nvCxnSpPr>
        <p:spPr>
          <a:xfrm flipV="1">
            <a:off x="9134359" y="4341854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91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66007" y="6420757"/>
            <a:ext cx="1165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E414F"/>
                </a:solidFill>
                <a:effectLst/>
              </a:rPr>
              <a:t>Olufsen, Mette Sofie. “Structured tree outflow condition for blood flow in larger systemic arteries.” </a:t>
            </a:r>
            <a:r>
              <a:rPr lang="en-US" sz="1200" b="0" i="1" dirty="0">
                <a:solidFill>
                  <a:srgbClr val="2E414F"/>
                </a:solidFill>
                <a:effectLst/>
              </a:rPr>
              <a:t>American journal of physiology. Heart and circulatory physiology</a:t>
            </a:r>
            <a:r>
              <a:rPr lang="en-US" sz="1200" b="0" i="0" dirty="0">
                <a:solidFill>
                  <a:srgbClr val="2E414F"/>
                </a:solidFill>
                <a:effectLst/>
              </a:rPr>
              <a:t> , 276,  1, 1999</a:t>
            </a:r>
            <a:r>
              <a:rPr lang="en-US" sz="1200" dirty="0">
                <a:solidFill>
                  <a:srgbClr val="2E414F"/>
                </a:solidFill>
              </a:rPr>
              <a:t>.</a:t>
            </a:r>
            <a:endParaRPr lang="en-CA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Network and Simplifications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38CB7F-0AFF-38AA-73E5-C682FE1B077A}"/>
              </a:ext>
            </a:extLst>
          </p:cNvPr>
          <p:cNvCxnSpPr/>
          <p:nvPr/>
        </p:nvCxnSpPr>
        <p:spPr>
          <a:xfrm flipV="1">
            <a:off x="1195251" y="1136469"/>
            <a:ext cx="0" cy="489857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E46859-D6D2-D990-CA2C-3ADDF7B42026}"/>
              </a:ext>
            </a:extLst>
          </p:cNvPr>
          <p:cNvCxnSpPr>
            <a:cxnSpLocks/>
          </p:cNvCxnSpPr>
          <p:nvPr/>
        </p:nvCxnSpPr>
        <p:spPr>
          <a:xfrm flipV="1">
            <a:off x="1195251" y="3261052"/>
            <a:ext cx="661851" cy="172429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6B578-3A27-11CD-0DBE-9D9422EDF378}"/>
              </a:ext>
            </a:extLst>
          </p:cNvPr>
          <p:cNvCxnSpPr>
            <a:cxnSpLocks/>
          </p:cNvCxnSpPr>
          <p:nvPr/>
        </p:nvCxnSpPr>
        <p:spPr>
          <a:xfrm flipH="1" flipV="1">
            <a:off x="439782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910EB-F1FD-F8BE-2F9A-58466EF45986}"/>
              </a:ext>
            </a:extLst>
          </p:cNvPr>
          <p:cNvCxnSpPr>
            <a:cxnSpLocks/>
          </p:cNvCxnSpPr>
          <p:nvPr/>
        </p:nvCxnSpPr>
        <p:spPr>
          <a:xfrm flipH="1" flipV="1">
            <a:off x="1476648" y="2981336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F0774D-CF89-C9FD-AC60-44764F6A270A}"/>
              </a:ext>
            </a:extLst>
          </p:cNvPr>
          <p:cNvCxnSpPr>
            <a:cxnSpLocks/>
          </p:cNvCxnSpPr>
          <p:nvPr/>
        </p:nvCxnSpPr>
        <p:spPr>
          <a:xfrm flipH="1">
            <a:off x="1476648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0B26D4-9099-02BE-20A0-AD3A198B2973}"/>
              </a:ext>
            </a:extLst>
          </p:cNvPr>
          <p:cNvCxnSpPr>
            <a:cxnSpLocks/>
          </p:cNvCxnSpPr>
          <p:nvPr/>
        </p:nvCxnSpPr>
        <p:spPr>
          <a:xfrm flipV="1">
            <a:off x="3509006" y="4985349"/>
            <a:ext cx="0" cy="104969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7248EC-E49F-B417-0D64-7447699A262D}"/>
              </a:ext>
            </a:extLst>
          </p:cNvPr>
          <p:cNvCxnSpPr>
            <a:cxnSpLocks/>
          </p:cNvCxnSpPr>
          <p:nvPr/>
        </p:nvCxnSpPr>
        <p:spPr>
          <a:xfrm flipV="1">
            <a:off x="3509006" y="3261052"/>
            <a:ext cx="0" cy="164705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EBEB58-F2BC-6A7A-D8FD-B51E7513DC74}"/>
              </a:ext>
            </a:extLst>
          </p:cNvPr>
          <p:cNvCxnSpPr>
            <a:cxnSpLocks/>
          </p:cNvCxnSpPr>
          <p:nvPr/>
        </p:nvCxnSpPr>
        <p:spPr>
          <a:xfrm flipV="1">
            <a:off x="3487235" y="1168072"/>
            <a:ext cx="0" cy="194501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2FF62E-9BAF-7952-1BBA-F0EF738654D1}"/>
              </a:ext>
            </a:extLst>
          </p:cNvPr>
          <p:cNvCxnSpPr>
            <a:cxnSpLocks/>
          </p:cNvCxnSpPr>
          <p:nvPr/>
        </p:nvCxnSpPr>
        <p:spPr>
          <a:xfrm flipH="1" flipV="1">
            <a:off x="2683870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E1C829-FBFC-FFD6-E03C-4CCE7CD60E78}"/>
              </a:ext>
            </a:extLst>
          </p:cNvPr>
          <p:cNvCxnSpPr>
            <a:cxnSpLocks/>
          </p:cNvCxnSpPr>
          <p:nvPr/>
        </p:nvCxnSpPr>
        <p:spPr>
          <a:xfrm flipV="1">
            <a:off x="3561805" y="4330337"/>
            <a:ext cx="254996" cy="619348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9DCEF6C-0D57-1AC9-95D8-0654564A9B31}"/>
              </a:ext>
            </a:extLst>
          </p:cNvPr>
          <p:cNvCxnSpPr>
            <a:cxnSpLocks/>
          </p:cNvCxnSpPr>
          <p:nvPr/>
        </p:nvCxnSpPr>
        <p:spPr>
          <a:xfrm flipV="1">
            <a:off x="3860071" y="3847351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D059B0-B9A5-9796-F4FC-734620244C4D}"/>
              </a:ext>
            </a:extLst>
          </p:cNvPr>
          <p:cNvCxnSpPr>
            <a:cxnSpLocks/>
          </p:cNvCxnSpPr>
          <p:nvPr/>
        </p:nvCxnSpPr>
        <p:spPr>
          <a:xfrm flipH="1">
            <a:off x="3892730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A19BB3-B8C8-6ABC-7620-52D254EF8C98}"/>
              </a:ext>
            </a:extLst>
          </p:cNvPr>
          <p:cNvCxnSpPr>
            <a:cxnSpLocks/>
          </p:cNvCxnSpPr>
          <p:nvPr/>
        </p:nvCxnSpPr>
        <p:spPr>
          <a:xfrm flipH="1" flipV="1">
            <a:off x="3807821" y="3037585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1E1A42B-1A55-5F42-E926-B291BC121C8F}"/>
              </a:ext>
            </a:extLst>
          </p:cNvPr>
          <p:cNvCxnSpPr>
            <a:cxnSpLocks/>
          </p:cNvCxnSpPr>
          <p:nvPr/>
        </p:nvCxnSpPr>
        <p:spPr>
          <a:xfrm flipV="1">
            <a:off x="4064859" y="3364366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/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lIns="108000" tIns="108000" rIns="108000" bIns="10800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</m:e>
                        <m:sup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618BB12-C664-E47E-1E47-3C0A9A7EFD53}"/>
              </a:ext>
            </a:extLst>
          </p:cNvPr>
          <p:cNvSpPr txBox="1"/>
          <p:nvPr/>
        </p:nvSpPr>
        <p:spPr>
          <a:xfrm>
            <a:off x="7660276" y="115496"/>
            <a:ext cx="4477723" cy="6240817"/>
          </a:xfrm>
          <a:prstGeom prst="rect">
            <a:avLst/>
          </a:prstGeom>
          <a:solidFill>
            <a:srgbClr val="905AA6">
              <a:alpha val="25000"/>
            </a:srgb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B7EA6-4DB5-4758-2C01-F016576210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1" r="2344"/>
          <a:stretch/>
        </p:blipFill>
        <p:spPr>
          <a:xfrm>
            <a:off x="7860361" y="196558"/>
            <a:ext cx="4158000" cy="3307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D60C4-6156-DC97-38B2-CDB0BA2C9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86" b="-1"/>
          <a:stretch/>
        </p:blipFill>
        <p:spPr>
          <a:xfrm>
            <a:off x="7860362" y="3065992"/>
            <a:ext cx="4158000" cy="3173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F6BC5E-1DDE-F4D9-128F-E5D89ADFB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89" y="344248"/>
            <a:ext cx="2066940" cy="5715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0AAB71-8CD8-E745-F20E-9893626DB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183" y="3153992"/>
            <a:ext cx="2066940" cy="5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133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1843</TotalTime>
  <Words>3308</Words>
  <Application>Microsoft Office PowerPoint</Application>
  <PresentationFormat>Widescreen</PresentationFormat>
  <Paragraphs>391</Paragraphs>
  <Slides>52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Aptos</vt:lpstr>
      <vt:lpstr>Arial</vt:lpstr>
      <vt:lpstr>BlinkMacSystemFont</vt:lpstr>
      <vt:lpstr>Calibri</vt:lpstr>
      <vt:lpstr>Calibri Light</vt:lpstr>
      <vt:lpstr>Cambria Math</vt:lpstr>
      <vt:lpstr>Nexus Sans Pro</vt:lpstr>
      <vt:lpstr>Roboto</vt:lpstr>
      <vt:lpstr>Retrospect</vt:lpstr>
      <vt:lpstr>Committee Meeting</vt:lpstr>
      <vt:lpstr>Agenda</vt:lpstr>
      <vt:lpstr>How heterogenous is the dose delivered to the circulating blood volume during TBI?</vt:lpstr>
      <vt:lpstr>Thesis Proposal: Reviewed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Determining Dose as Function of Time</vt:lpstr>
      <vt:lpstr>Determining Dose as Function of Time</vt:lpstr>
      <vt:lpstr>Determining Dose as Function of Time</vt:lpstr>
      <vt:lpstr>Converting Data: MU to time</vt:lpstr>
      <vt:lpstr>Converting Data: Energy Deposited to Dose </vt:lpstr>
      <vt:lpstr>Converting Data: Energy Deposited to Dose </vt:lpstr>
      <vt:lpstr>Converting Data: Gy/Particle to Gy </vt:lpstr>
      <vt:lpstr>Converting Data: Gy/Particle to Gy </vt:lpstr>
      <vt:lpstr>Converting Data: Gy/Particle to Gy </vt:lpstr>
      <vt:lpstr>How we pull dose to voxel</vt:lpstr>
      <vt:lpstr>How we pull dose to voxel</vt:lpstr>
      <vt:lpstr>How we pull dose to voxel</vt:lpstr>
      <vt:lpstr>How we pull dose to voxel</vt:lpstr>
      <vt:lpstr>How we pull dose to voxel</vt:lpstr>
      <vt:lpstr>Next Steps: Dose to Compartments</vt:lpstr>
      <vt:lpstr>Next Steps: Dose to Compartments</vt:lpstr>
      <vt:lpstr>Next Steps: Dose to Compartments</vt:lpstr>
      <vt:lpstr>Next Steps: Dose to Compartments</vt:lpstr>
      <vt:lpstr>Next Steps: Dose to Compartments</vt:lpstr>
      <vt:lpstr>PowerPoint Presentation</vt:lpstr>
      <vt:lpstr>Sweeping Co-60</vt:lpstr>
      <vt:lpstr>Prelim Dose Results</vt:lpstr>
      <vt:lpstr>Anticaption for Projects 3</vt:lpstr>
      <vt:lpstr>Publications Anticipated and Issues</vt:lpstr>
      <vt:lpstr>Publications Anticipated and Issues</vt:lpstr>
      <vt:lpstr>Big Question: Do you feel like the outlined work meets the requirement to fill the body of my thesis?</vt:lpstr>
      <vt:lpstr>Thank you.</vt:lpstr>
      <vt:lpstr>PowerPoint Presentation</vt:lpstr>
      <vt:lpstr>PowerPoint Presentation</vt:lpstr>
      <vt:lpstr>PowerPoint Presentation</vt:lpstr>
      <vt:lpstr>PowerPoint Presentation</vt:lpstr>
    </vt:vector>
  </TitlesOfParts>
  <Company>BC Clinical and Support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Committee Meeting</dc:title>
  <dc:creator>Northway, Cassidy</dc:creator>
  <cp:lastModifiedBy>Northway, Cassidy</cp:lastModifiedBy>
  <cp:revision>54</cp:revision>
  <dcterms:created xsi:type="dcterms:W3CDTF">2024-07-30T22:24:27Z</dcterms:created>
  <dcterms:modified xsi:type="dcterms:W3CDTF">2025-11-21T22:57:26Z</dcterms:modified>
</cp:coreProperties>
</file>