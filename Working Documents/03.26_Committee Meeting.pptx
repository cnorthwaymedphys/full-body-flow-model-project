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329" r:id="rId6"/>
    <p:sldId id="330" r:id="rId7"/>
    <p:sldId id="331" r:id="rId8"/>
    <p:sldId id="305" r:id="rId9"/>
    <p:sldId id="298" r:id="rId10"/>
    <p:sldId id="332" r:id="rId11"/>
    <p:sldId id="333" r:id="rId12"/>
    <p:sldId id="334" r:id="rId13"/>
    <p:sldId id="335" r:id="rId14"/>
    <p:sldId id="336" r:id="rId15"/>
    <p:sldId id="292" r:id="rId16"/>
    <p:sldId id="276" r:id="rId17"/>
    <p:sldId id="289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794" autoAdjust="0"/>
  </p:normalViewPr>
  <p:slideViewPr>
    <p:cSldViewPr snapToGrid="0">
      <p:cViewPr varScale="1">
        <p:scale>
          <a:sx n="105" d="100"/>
          <a:sy n="105" d="100"/>
        </p:scale>
        <p:origin x="6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Sheet1!$A$2:$A$479</c:f>
              <c:numCache>
                <c:formatCode>General</c:formatCode>
                <c:ptCount val="478"/>
                <c:pt idx="0">
                  <c:v>0</c:v>
                </c:pt>
                <c:pt idx="1">
                  <c:v>2.0020964360587001E-3</c:v>
                </c:pt>
                <c:pt idx="2">
                  <c:v>4.0041928721174002E-3</c:v>
                </c:pt>
                <c:pt idx="3">
                  <c:v>6.0062893081761007E-3</c:v>
                </c:pt>
                <c:pt idx="4">
                  <c:v>8.0083857442348003E-3</c:v>
                </c:pt>
                <c:pt idx="5">
                  <c:v>1.00104821802935E-2</c:v>
                </c:pt>
                <c:pt idx="6">
                  <c:v>1.20125786163522E-2</c:v>
                </c:pt>
                <c:pt idx="7">
                  <c:v>1.4014675052410899E-2</c:v>
                </c:pt>
                <c:pt idx="8">
                  <c:v>1.6016771488469601E-2</c:v>
                </c:pt>
                <c:pt idx="9">
                  <c:v>1.8018867924528299E-2</c:v>
                </c:pt>
                <c:pt idx="10">
                  <c:v>2.0020964360587E-2</c:v>
                </c:pt>
                <c:pt idx="11">
                  <c:v>2.2023060796645701E-2</c:v>
                </c:pt>
                <c:pt idx="12">
                  <c:v>2.4025157232704399E-2</c:v>
                </c:pt>
                <c:pt idx="13">
                  <c:v>2.6027253668763101E-2</c:v>
                </c:pt>
                <c:pt idx="14">
                  <c:v>2.8029350104821799E-2</c:v>
                </c:pt>
                <c:pt idx="15">
                  <c:v>3.00314465408805E-2</c:v>
                </c:pt>
                <c:pt idx="16">
                  <c:v>3.2033542976939201E-2</c:v>
                </c:pt>
                <c:pt idx="17">
                  <c:v>3.4035639412997899E-2</c:v>
                </c:pt>
                <c:pt idx="18">
                  <c:v>3.6037735849056597E-2</c:v>
                </c:pt>
                <c:pt idx="19">
                  <c:v>3.8039832285115302E-2</c:v>
                </c:pt>
                <c:pt idx="20">
                  <c:v>4.0041928721174E-2</c:v>
                </c:pt>
                <c:pt idx="21">
                  <c:v>4.2044025157232698E-2</c:v>
                </c:pt>
                <c:pt idx="22">
                  <c:v>4.4046121593291403E-2</c:v>
                </c:pt>
                <c:pt idx="23">
                  <c:v>4.6048218029350101E-2</c:v>
                </c:pt>
                <c:pt idx="24">
                  <c:v>4.8050314465408812E-2</c:v>
                </c:pt>
                <c:pt idx="25">
                  <c:v>5.0052410901467503E-2</c:v>
                </c:pt>
                <c:pt idx="26">
                  <c:v>5.2054507337526201E-2</c:v>
                </c:pt>
                <c:pt idx="27">
                  <c:v>5.4056603773584899E-2</c:v>
                </c:pt>
                <c:pt idx="28">
                  <c:v>5.6058700209643597E-2</c:v>
                </c:pt>
                <c:pt idx="29">
                  <c:v>5.8060796645702302E-2</c:v>
                </c:pt>
                <c:pt idx="30">
                  <c:v>6.0062893081761E-2</c:v>
                </c:pt>
                <c:pt idx="31">
                  <c:v>6.2064989517819698E-2</c:v>
                </c:pt>
                <c:pt idx="32">
                  <c:v>6.4067085953878403E-2</c:v>
                </c:pt>
                <c:pt idx="33">
                  <c:v>6.6069182389937101E-2</c:v>
                </c:pt>
                <c:pt idx="34">
                  <c:v>6.8071278825995798E-2</c:v>
                </c:pt>
                <c:pt idx="35">
                  <c:v>7.0073375262054496E-2</c:v>
                </c:pt>
                <c:pt idx="36">
                  <c:v>7.2075471698113208E-2</c:v>
                </c:pt>
                <c:pt idx="37">
                  <c:v>7.4077568134171906E-2</c:v>
                </c:pt>
                <c:pt idx="38">
                  <c:v>7.6079664570230604E-2</c:v>
                </c:pt>
                <c:pt idx="39">
                  <c:v>7.8081761006289302E-2</c:v>
                </c:pt>
                <c:pt idx="40">
                  <c:v>8.0083857442348E-2</c:v>
                </c:pt>
                <c:pt idx="41">
                  <c:v>8.2085953878406698E-2</c:v>
                </c:pt>
                <c:pt idx="42">
                  <c:v>8.408805031446541E-2</c:v>
                </c:pt>
                <c:pt idx="43">
                  <c:v>8.6090146750524107E-2</c:v>
                </c:pt>
                <c:pt idx="44">
                  <c:v>8.8092243186582805E-2</c:v>
                </c:pt>
                <c:pt idx="45">
                  <c:v>9.0094339622641503E-2</c:v>
                </c:pt>
                <c:pt idx="46">
                  <c:v>9.2096436058700201E-2</c:v>
                </c:pt>
                <c:pt idx="47">
                  <c:v>9.4098532494758899E-2</c:v>
                </c:pt>
                <c:pt idx="48">
                  <c:v>9.6100628930817611E-2</c:v>
                </c:pt>
                <c:pt idx="49">
                  <c:v>9.8102725366876309E-2</c:v>
                </c:pt>
                <c:pt idx="50">
                  <c:v>0.10010482180293501</c:v>
                </c:pt>
                <c:pt idx="51">
                  <c:v>0.1021069182389937</c:v>
                </c:pt>
                <c:pt idx="52">
                  <c:v>0.1041090146750524</c:v>
                </c:pt>
                <c:pt idx="53">
                  <c:v>0.1061111111111111</c:v>
                </c:pt>
                <c:pt idx="54">
                  <c:v>0.1081132075471698</c:v>
                </c:pt>
                <c:pt idx="55">
                  <c:v>0.1101153039832285</c:v>
                </c:pt>
                <c:pt idx="56">
                  <c:v>0.11211740041928719</c:v>
                </c:pt>
                <c:pt idx="57">
                  <c:v>0.11411949685534591</c:v>
                </c:pt>
                <c:pt idx="58">
                  <c:v>0.1161215932914046</c:v>
                </c:pt>
                <c:pt idx="59">
                  <c:v>0.1181236897274633</c:v>
                </c:pt>
                <c:pt idx="60">
                  <c:v>0.120125786163522</c:v>
                </c:pt>
                <c:pt idx="61">
                  <c:v>0.1221278825995807</c:v>
                </c:pt>
                <c:pt idx="62">
                  <c:v>0.1241299790356394</c:v>
                </c:pt>
                <c:pt idx="63">
                  <c:v>0.12613207547169811</c:v>
                </c:pt>
                <c:pt idx="64">
                  <c:v>0.12813417190775681</c:v>
                </c:pt>
                <c:pt idx="65">
                  <c:v>0.1301362683438155</c:v>
                </c:pt>
                <c:pt idx="66">
                  <c:v>0.1321383647798742</c:v>
                </c:pt>
                <c:pt idx="67">
                  <c:v>0.1341404612159329</c:v>
                </c:pt>
                <c:pt idx="68">
                  <c:v>0.1361425576519916</c:v>
                </c:pt>
                <c:pt idx="69">
                  <c:v>0.13814465408805029</c:v>
                </c:pt>
                <c:pt idx="70">
                  <c:v>0.14014675052410899</c:v>
                </c:pt>
                <c:pt idx="71">
                  <c:v>0.14214884696016769</c:v>
                </c:pt>
                <c:pt idx="72">
                  <c:v>0.14415094339622639</c:v>
                </c:pt>
                <c:pt idx="73">
                  <c:v>0.14615303983228509</c:v>
                </c:pt>
                <c:pt idx="74">
                  <c:v>0.14815513626834381</c:v>
                </c:pt>
                <c:pt idx="75">
                  <c:v>0.15015723270440251</c:v>
                </c:pt>
                <c:pt idx="76">
                  <c:v>0.15215932914046121</c:v>
                </c:pt>
                <c:pt idx="77">
                  <c:v>0.15416142557651991</c:v>
                </c:pt>
                <c:pt idx="78">
                  <c:v>0.1561635220125786</c:v>
                </c:pt>
                <c:pt idx="79">
                  <c:v>0.1581656184486373</c:v>
                </c:pt>
                <c:pt idx="80">
                  <c:v>0.160167714884696</c:v>
                </c:pt>
                <c:pt idx="81">
                  <c:v>0.1621698113207547</c:v>
                </c:pt>
                <c:pt idx="82">
                  <c:v>0.1641719077568134</c:v>
                </c:pt>
                <c:pt idx="83">
                  <c:v>0.16617400419287209</c:v>
                </c:pt>
                <c:pt idx="84">
                  <c:v>0.16817610062893079</c:v>
                </c:pt>
                <c:pt idx="85">
                  <c:v>0.17017819706498949</c:v>
                </c:pt>
                <c:pt idx="86">
                  <c:v>0.17218029350104819</c:v>
                </c:pt>
                <c:pt idx="87">
                  <c:v>0.17418238993710691</c:v>
                </c:pt>
                <c:pt idx="88">
                  <c:v>0.17618448637316561</c:v>
                </c:pt>
                <c:pt idx="89">
                  <c:v>0.17818658280922431</c:v>
                </c:pt>
                <c:pt idx="90">
                  <c:v>0.18018867924528301</c:v>
                </c:pt>
                <c:pt idx="91">
                  <c:v>0.1821907756813417</c:v>
                </c:pt>
                <c:pt idx="92">
                  <c:v>0.1841928721174004</c:v>
                </c:pt>
                <c:pt idx="93">
                  <c:v>0.1861949685534591</c:v>
                </c:pt>
                <c:pt idx="94">
                  <c:v>0.1881970649895178</c:v>
                </c:pt>
                <c:pt idx="95">
                  <c:v>0.1901991614255765</c:v>
                </c:pt>
                <c:pt idx="96">
                  <c:v>0.19220125786163519</c:v>
                </c:pt>
                <c:pt idx="97">
                  <c:v>0.19420335429769389</c:v>
                </c:pt>
                <c:pt idx="98">
                  <c:v>0.19620545073375259</c:v>
                </c:pt>
                <c:pt idx="99">
                  <c:v>0.19820754716981129</c:v>
                </c:pt>
                <c:pt idx="100">
                  <c:v>0.20020964360587001</c:v>
                </c:pt>
                <c:pt idx="101">
                  <c:v>0.20221174004192871</c:v>
                </c:pt>
                <c:pt idx="102">
                  <c:v>0.20421383647798741</c:v>
                </c:pt>
                <c:pt idx="103">
                  <c:v>0.20621593291404611</c:v>
                </c:pt>
                <c:pt idx="104">
                  <c:v>0.20821802935010481</c:v>
                </c:pt>
                <c:pt idx="105">
                  <c:v>0.2102201257861635</c:v>
                </c:pt>
                <c:pt idx="106">
                  <c:v>0.2122222222222222</c:v>
                </c:pt>
                <c:pt idx="107">
                  <c:v>0.2142243186582809</c:v>
                </c:pt>
                <c:pt idx="108">
                  <c:v>0.2162264150943396</c:v>
                </c:pt>
                <c:pt idx="109">
                  <c:v>0.21822851153039829</c:v>
                </c:pt>
                <c:pt idx="110">
                  <c:v>0.22023060796645699</c:v>
                </c:pt>
                <c:pt idx="111">
                  <c:v>0.22223270440251569</c:v>
                </c:pt>
                <c:pt idx="112">
                  <c:v>0.22423480083857439</c:v>
                </c:pt>
                <c:pt idx="113">
                  <c:v>0.22623689727463309</c:v>
                </c:pt>
                <c:pt idx="114">
                  <c:v>0.22823899371069181</c:v>
                </c:pt>
                <c:pt idx="115">
                  <c:v>0.23024109014675051</c:v>
                </c:pt>
                <c:pt idx="116">
                  <c:v>0.23224318658280921</c:v>
                </c:pt>
                <c:pt idx="117">
                  <c:v>0.23424528301886791</c:v>
                </c:pt>
                <c:pt idx="118">
                  <c:v>0.2362473794549266</c:v>
                </c:pt>
                <c:pt idx="119">
                  <c:v>0.2382494758909853</c:v>
                </c:pt>
                <c:pt idx="120">
                  <c:v>0.240251572327044</c:v>
                </c:pt>
                <c:pt idx="121">
                  <c:v>0.2422536687631027</c:v>
                </c:pt>
                <c:pt idx="122">
                  <c:v>0.2442557651991614</c:v>
                </c:pt>
                <c:pt idx="123">
                  <c:v>0.24625786163522009</c:v>
                </c:pt>
                <c:pt idx="124">
                  <c:v>0.24825995807127879</c:v>
                </c:pt>
                <c:pt idx="125">
                  <c:v>0.25026205450733752</c:v>
                </c:pt>
                <c:pt idx="126">
                  <c:v>0.25226415094339621</c:v>
                </c:pt>
                <c:pt idx="127">
                  <c:v>0.25426624737945491</c:v>
                </c:pt>
                <c:pt idx="128">
                  <c:v>0.25626834381551361</c:v>
                </c:pt>
                <c:pt idx="129">
                  <c:v>0.25827044025157231</c:v>
                </c:pt>
                <c:pt idx="130">
                  <c:v>0.26027253668763101</c:v>
                </c:pt>
                <c:pt idx="131">
                  <c:v>0.2622746331236897</c:v>
                </c:pt>
                <c:pt idx="132">
                  <c:v>0.2642767295597484</c:v>
                </c:pt>
                <c:pt idx="133">
                  <c:v>0.2662788259958071</c:v>
                </c:pt>
                <c:pt idx="134">
                  <c:v>0.2682809224318658</c:v>
                </c:pt>
                <c:pt idx="135">
                  <c:v>0.2702830188679245</c:v>
                </c:pt>
                <c:pt idx="136">
                  <c:v>0.27228511530398319</c:v>
                </c:pt>
                <c:pt idx="137">
                  <c:v>0.27428721174004189</c:v>
                </c:pt>
                <c:pt idx="138">
                  <c:v>0.27628930817610059</c:v>
                </c:pt>
                <c:pt idx="139">
                  <c:v>0.27829140461215929</c:v>
                </c:pt>
                <c:pt idx="140">
                  <c:v>0.28029350104821799</c:v>
                </c:pt>
                <c:pt idx="141">
                  <c:v>0.28229559748427668</c:v>
                </c:pt>
                <c:pt idx="142">
                  <c:v>0.28429769392033538</c:v>
                </c:pt>
                <c:pt idx="143">
                  <c:v>0.28629979035639408</c:v>
                </c:pt>
                <c:pt idx="144">
                  <c:v>0.28830188679245278</c:v>
                </c:pt>
                <c:pt idx="145">
                  <c:v>0.29030398322851148</c:v>
                </c:pt>
                <c:pt idx="146">
                  <c:v>0.29230607966457017</c:v>
                </c:pt>
                <c:pt idx="147">
                  <c:v>0.29430817610062893</c:v>
                </c:pt>
                <c:pt idx="148">
                  <c:v>0.29631027253668762</c:v>
                </c:pt>
                <c:pt idx="149">
                  <c:v>0.29831236897274632</c:v>
                </c:pt>
                <c:pt idx="150">
                  <c:v>0.30031446540880502</c:v>
                </c:pt>
                <c:pt idx="151">
                  <c:v>0.30231656184486372</c:v>
                </c:pt>
                <c:pt idx="152">
                  <c:v>0.30431865828092242</c:v>
                </c:pt>
                <c:pt idx="153">
                  <c:v>0.30632075471698111</c:v>
                </c:pt>
                <c:pt idx="154">
                  <c:v>0.30832285115303981</c:v>
                </c:pt>
                <c:pt idx="155">
                  <c:v>0.31032494758909851</c:v>
                </c:pt>
                <c:pt idx="156">
                  <c:v>0.31232704402515721</c:v>
                </c:pt>
                <c:pt idx="157">
                  <c:v>0.31432914046121591</c:v>
                </c:pt>
                <c:pt idx="158">
                  <c:v>0.3163312368972746</c:v>
                </c:pt>
                <c:pt idx="159">
                  <c:v>0.3183333333333333</c:v>
                </c:pt>
                <c:pt idx="160">
                  <c:v>0.320335429769392</c:v>
                </c:pt>
                <c:pt idx="161">
                  <c:v>0.3223375262054507</c:v>
                </c:pt>
                <c:pt idx="162">
                  <c:v>0.3243396226415094</c:v>
                </c:pt>
                <c:pt idx="163">
                  <c:v>0.32634171907756809</c:v>
                </c:pt>
                <c:pt idx="164">
                  <c:v>0.32834381551362679</c:v>
                </c:pt>
                <c:pt idx="165">
                  <c:v>0.33034591194968549</c:v>
                </c:pt>
                <c:pt idx="166">
                  <c:v>0.33234800838574419</c:v>
                </c:pt>
                <c:pt idx="167">
                  <c:v>0.33435010482180288</c:v>
                </c:pt>
                <c:pt idx="168">
                  <c:v>0.33635220125786158</c:v>
                </c:pt>
                <c:pt idx="169">
                  <c:v>0.33835429769392028</c:v>
                </c:pt>
                <c:pt idx="170">
                  <c:v>0.34035639412997898</c:v>
                </c:pt>
                <c:pt idx="171">
                  <c:v>0.34235849056603768</c:v>
                </c:pt>
                <c:pt idx="172">
                  <c:v>0.34436058700209637</c:v>
                </c:pt>
                <c:pt idx="173">
                  <c:v>0.34636268343815507</c:v>
                </c:pt>
                <c:pt idx="174">
                  <c:v>0.34836477987421383</c:v>
                </c:pt>
                <c:pt idx="175">
                  <c:v>0.35036687631027252</c:v>
                </c:pt>
                <c:pt idx="176">
                  <c:v>0.35236897274633122</c:v>
                </c:pt>
                <c:pt idx="177">
                  <c:v>0.35437106918238992</c:v>
                </c:pt>
                <c:pt idx="178">
                  <c:v>0.35637316561844862</c:v>
                </c:pt>
                <c:pt idx="179">
                  <c:v>0.35837526205450732</c:v>
                </c:pt>
                <c:pt idx="180">
                  <c:v>0.36037735849056601</c:v>
                </c:pt>
                <c:pt idx="181">
                  <c:v>0.36237945492662471</c:v>
                </c:pt>
                <c:pt idx="182">
                  <c:v>0.36438155136268341</c:v>
                </c:pt>
                <c:pt idx="183">
                  <c:v>0.36638364779874211</c:v>
                </c:pt>
                <c:pt idx="184">
                  <c:v>0.3683857442348008</c:v>
                </c:pt>
                <c:pt idx="185">
                  <c:v>0.3703878406708595</c:v>
                </c:pt>
                <c:pt idx="186">
                  <c:v>0.3723899371069182</c:v>
                </c:pt>
                <c:pt idx="187">
                  <c:v>0.3743920335429769</c:v>
                </c:pt>
                <c:pt idx="188">
                  <c:v>0.3763941299790356</c:v>
                </c:pt>
                <c:pt idx="189">
                  <c:v>0.37839622641509429</c:v>
                </c:pt>
                <c:pt idx="190">
                  <c:v>0.38039832285115299</c:v>
                </c:pt>
                <c:pt idx="191">
                  <c:v>0.38240041928721169</c:v>
                </c:pt>
                <c:pt idx="192">
                  <c:v>0.38440251572327039</c:v>
                </c:pt>
                <c:pt idx="193">
                  <c:v>0.38640461215932909</c:v>
                </c:pt>
                <c:pt idx="194">
                  <c:v>0.38840670859538778</c:v>
                </c:pt>
                <c:pt idx="195">
                  <c:v>0.39040880503144648</c:v>
                </c:pt>
                <c:pt idx="196">
                  <c:v>0.39241090146750518</c:v>
                </c:pt>
                <c:pt idx="197">
                  <c:v>0.39441299790356388</c:v>
                </c:pt>
                <c:pt idx="198">
                  <c:v>0.39641509433962258</c:v>
                </c:pt>
                <c:pt idx="199">
                  <c:v>0.39841719077568127</c:v>
                </c:pt>
                <c:pt idx="200">
                  <c:v>0.40041928721174003</c:v>
                </c:pt>
                <c:pt idx="201">
                  <c:v>0.40242138364779872</c:v>
                </c:pt>
                <c:pt idx="202">
                  <c:v>0.40442348008385742</c:v>
                </c:pt>
                <c:pt idx="203">
                  <c:v>0.40642557651991612</c:v>
                </c:pt>
                <c:pt idx="204">
                  <c:v>0.40842767295597482</c:v>
                </c:pt>
                <c:pt idx="205">
                  <c:v>0.41042976939203352</c:v>
                </c:pt>
                <c:pt idx="206">
                  <c:v>0.41243186582809221</c:v>
                </c:pt>
                <c:pt idx="207">
                  <c:v>0.41443396226415091</c:v>
                </c:pt>
                <c:pt idx="208">
                  <c:v>0.41643605870020961</c:v>
                </c:pt>
                <c:pt idx="209">
                  <c:v>0.41843815513626831</c:v>
                </c:pt>
                <c:pt idx="210">
                  <c:v>0.42044025157232701</c:v>
                </c:pt>
                <c:pt idx="211">
                  <c:v>0.4224423480083857</c:v>
                </c:pt>
                <c:pt idx="212">
                  <c:v>0.4244444444444444</c:v>
                </c:pt>
                <c:pt idx="213">
                  <c:v>0.4264465408805031</c:v>
                </c:pt>
                <c:pt idx="214">
                  <c:v>0.4284486373165618</c:v>
                </c:pt>
                <c:pt idx="215">
                  <c:v>0.4304507337526205</c:v>
                </c:pt>
                <c:pt idx="216">
                  <c:v>0.43245283018867919</c:v>
                </c:pt>
                <c:pt idx="217">
                  <c:v>0.43445492662473789</c:v>
                </c:pt>
                <c:pt idx="218">
                  <c:v>0.43645702306079659</c:v>
                </c:pt>
                <c:pt idx="219">
                  <c:v>0.43845911949685529</c:v>
                </c:pt>
                <c:pt idx="220">
                  <c:v>0.44046121593291399</c:v>
                </c:pt>
                <c:pt idx="221">
                  <c:v>0.44246331236897268</c:v>
                </c:pt>
                <c:pt idx="222">
                  <c:v>0.44446540880503138</c:v>
                </c:pt>
                <c:pt idx="223">
                  <c:v>0.44646750524109008</c:v>
                </c:pt>
                <c:pt idx="224">
                  <c:v>0.44846960167714878</c:v>
                </c:pt>
                <c:pt idx="225">
                  <c:v>0.45047169811320747</c:v>
                </c:pt>
                <c:pt idx="226">
                  <c:v>0.45247379454926617</c:v>
                </c:pt>
                <c:pt idx="227">
                  <c:v>0.45447589098532493</c:v>
                </c:pt>
                <c:pt idx="228">
                  <c:v>0.45647798742138362</c:v>
                </c:pt>
                <c:pt idx="229">
                  <c:v>0.45848008385744232</c:v>
                </c:pt>
                <c:pt idx="230">
                  <c:v>0.46048218029350102</c:v>
                </c:pt>
                <c:pt idx="231">
                  <c:v>0.46248427672955972</c:v>
                </c:pt>
                <c:pt idx="232">
                  <c:v>0.46448637316561842</c:v>
                </c:pt>
                <c:pt idx="233">
                  <c:v>0.46648846960167711</c:v>
                </c:pt>
                <c:pt idx="234">
                  <c:v>0.46849056603773581</c:v>
                </c:pt>
                <c:pt idx="235">
                  <c:v>0.47049266247379451</c:v>
                </c:pt>
                <c:pt idx="236">
                  <c:v>0.47249475890985321</c:v>
                </c:pt>
                <c:pt idx="237">
                  <c:v>0.47449685534591191</c:v>
                </c:pt>
                <c:pt idx="238">
                  <c:v>0.4764989517819706</c:v>
                </c:pt>
                <c:pt idx="239">
                  <c:v>0.4785010482180293</c:v>
                </c:pt>
                <c:pt idx="240">
                  <c:v>0.480503144654088</c:v>
                </c:pt>
                <c:pt idx="241">
                  <c:v>0.4825052410901467</c:v>
                </c:pt>
                <c:pt idx="242">
                  <c:v>0.48450733752620539</c:v>
                </c:pt>
                <c:pt idx="243">
                  <c:v>0.48650943396226409</c:v>
                </c:pt>
                <c:pt idx="244">
                  <c:v>0.48851153039832279</c:v>
                </c:pt>
                <c:pt idx="245">
                  <c:v>0.49051362683438149</c:v>
                </c:pt>
                <c:pt idx="246">
                  <c:v>0.49251572327044019</c:v>
                </c:pt>
                <c:pt idx="247">
                  <c:v>0.49451781970649888</c:v>
                </c:pt>
                <c:pt idx="248">
                  <c:v>0.49651991614255758</c:v>
                </c:pt>
                <c:pt idx="249">
                  <c:v>0.49852201257861628</c:v>
                </c:pt>
                <c:pt idx="250">
                  <c:v>0.50052410901467503</c:v>
                </c:pt>
                <c:pt idx="251">
                  <c:v>0.50252620545073368</c:v>
                </c:pt>
                <c:pt idx="252">
                  <c:v>0.50452830188679243</c:v>
                </c:pt>
                <c:pt idx="253">
                  <c:v>0.50653039832285107</c:v>
                </c:pt>
                <c:pt idx="254">
                  <c:v>0.50853249475890983</c:v>
                </c:pt>
                <c:pt idx="255">
                  <c:v>0.51053459119496847</c:v>
                </c:pt>
                <c:pt idx="256">
                  <c:v>0.51253668763102722</c:v>
                </c:pt>
                <c:pt idx="257">
                  <c:v>0.51453878406708597</c:v>
                </c:pt>
                <c:pt idx="258">
                  <c:v>0.51654088050314462</c:v>
                </c:pt>
                <c:pt idx="259">
                  <c:v>0.51854297693920337</c:v>
                </c:pt>
                <c:pt idx="260">
                  <c:v>0.52054507337526201</c:v>
                </c:pt>
                <c:pt idx="261">
                  <c:v>0.52254716981132077</c:v>
                </c:pt>
                <c:pt idx="262">
                  <c:v>0.52454926624737941</c:v>
                </c:pt>
                <c:pt idx="263">
                  <c:v>0.52655136268343816</c:v>
                </c:pt>
                <c:pt idx="264">
                  <c:v>0.5285534591194968</c:v>
                </c:pt>
                <c:pt idx="265">
                  <c:v>0.53055555555555556</c:v>
                </c:pt>
                <c:pt idx="266">
                  <c:v>0.5325576519916142</c:v>
                </c:pt>
                <c:pt idx="267">
                  <c:v>0.53455974842767295</c:v>
                </c:pt>
                <c:pt idx="268">
                  <c:v>0.5365618448637316</c:v>
                </c:pt>
                <c:pt idx="269">
                  <c:v>0.53856394129979035</c:v>
                </c:pt>
                <c:pt idx="270">
                  <c:v>0.54056603773584899</c:v>
                </c:pt>
                <c:pt idx="271">
                  <c:v>0.54256813417190775</c:v>
                </c:pt>
                <c:pt idx="272">
                  <c:v>0.54457023060796639</c:v>
                </c:pt>
                <c:pt idx="273">
                  <c:v>0.54657232704402514</c:v>
                </c:pt>
                <c:pt idx="274">
                  <c:v>0.54857442348008378</c:v>
                </c:pt>
                <c:pt idx="275">
                  <c:v>0.55057651991614254</c:v>
                </c:pt>
                <c:pt idx="276">
                  <c:v>0.55257861635220118</c:v>
                </c:pt>
                <c:pt idx="277">
                  <c:v>0.55458071278825993</c:v>
                </c:pt>
                <c:pt idx="278">
                  <c:v>0.55658280922431858</c:v>
                </c:pt>
                <c:pt idx="279">
                  <c:v>0.55858490566037733</c:v>
                </c:pt>
                <c:pt idx="280">
                  <c:v>0.56058700209643597</c:v>
                </c:pt>
                <c:pt idx="281">
                  <c:v>0.56258909853249472</c:v>
                </c:pt>
                <c:pt idx="282">
                  <c:v>0.56459119496855348</c:v>
                </c:pt>
                <c:pt idx="283">
                  <c:v>0.56659329140461212</c:v>
                </c:pt>
                <c:pt idx="284">
                  <c:v>0.56859538784067087</c:v>
                </c:pt>
                <c:pt idx="285">
                  <c:v>0.57059748427672952</c:v>
                </c:pt>
                <c:pt idx="286">
                  <c:v>0.57259958071278827</c:v>
                </c:pt>
                <c:pt idx="287">
                  <c:v>0.57460167714884691</c:v>
                </c:pt>
                <c:pt idx="288">
                  <c:v>0.57660377358490567</c:v>
                </c:pt>
                <c:pt idx="289">
                  <c:v>0.57860587002096431</c:v>
                </c:pt>
                <c:pt idx="290">
                  <c:v>0.58060796645702306</c:v>
                </c:pt>
                <c:pt idx="291">
                  <c:v>0.5826100628930817</c:v>
                </c:pt>
                <c:pt idx="292">
                  <c:v>0.58461215932914046</c:v>
                </c:pt>
                <c:pt idx="293">
                  <c:v>0.5866142557651991</c:v>
                </c:pt>
                <c:pt idx="294">
                  <c:v>0.58861635220125785</c:v>
                </c:pt>
                <c:pt idx="295">
                  <c:v>0.5906184486373165</c:v>
                </c:pt>
                <c:pt idx="296">
                  <c:v>0.59262054507337525</c:v>
                </c:pt>
                <c:pt idx="297">
                  <c:v>0.59462264150943389</c:v>
                </c:pt>
                <c:pt idx="298">
                  <c:v>0.59662473794549264</c:v>
                </c:pt>
                <c:pt idx="299">
                  <c:v>0.59862683438155129</c:v>
                </c:pt>
                <c:pt idx="300">
                  <c:v>0.60062893081761004</c:v>
                </c:pt>
                <c:pt idx="301">
                  <c:v>0.60263102725366868</c:v>
                </c:pt>
                <c:pt idx="302">
                  <c:v>0.60463312368972744</c:v>
                </c:pt>
                <c:pt idx="303">
                  <c:v>0.60663522012578608</c:v>
                </c:pt>
                <c:pt idx="304">
                  <c:v>0.60863731656184483</c:v>
                </c:pt>
                <c:pt idx="305">
                  <c:v>0.61063941299790347</c:v>
                </c:pt>
                <c:pt idx="306">
                  <c:v>0.61264150943396223</c:v>
                </c:pt>
                <c:pt idx="307">
                  <c:v>0.61464360587002087</c:v>
                </c:pt>
                <c:pt idx="308">
                  <c:v>0.61664570230607962</c:v>
                </c:pt>
                <c:pt idx="309">
                  <c:v>0.61864779874213838</c:v>
                </c:pt>
                <c:pt idx="310">
                  <c:v>0.62064989517819702</c:v>
                </c:pt>
                <c:pt idx="311">
                  <c:v>0.62265199161425577</c:v>
                </c:pt>
                <c:pt idx="312">
                  <c:v>0.62465408805031442</c:v>
                </c:pt>
                <c:pt idx="313">
                  <c:v>0.62665618448637317</c:v>
                </c:pt>
                <c:pt idx="314">
                  <c:v>0.62865828092243181</c:v>
                </c:pt>
                <c:pt idx="315">
                  <c:v>0.63066037735849056</c:v>
                </c:pt>
                <c:pt idx="316">
                  <c:v>0.63266247379454921</c:v>
                </c:pt>
                <c:pt idx="317">
                  <c:v>0.63466457023060796</c:v>
                </c:pt>
                <c:pt idx="318">
                  <c:v>0.6366666666666666</c:v>
                </c:pt>
                <c:pt idx="319">
                  <c:v>0.63866876310272536</c:v>
                </c:pt>
                <c:pt idx="320">
                  <c:v>0.640670859538784</c:v>
                </c:pt>
                <c:pt idx="321">
                  <c:v>0.64267295597484275</c:v>
                </c:pt>
                <c:pt idx="322">
                  <c:v>0.64467505241090139</c:v>
                </c:pt>
                <c:pt idx="323">
                  <c:v>0.64667714884696015</c:v>
                </c:pt>
                <c:pt idx="324">
                  <c:v>0.64867924528301879</c:v>
                </c:pt>
                <c:pt idx="325">
                  <c:v>0.65068134171907754</c:v>
                </c:pt>
                <c:pt idx="326">
                  <c:v>0.65268343815513619</c:v>
                </c:pt>
                <c:pt idx="327">
                  <c:v>0.65468553459119494</c:v>
                </c:pt>
                <c:pt idx="328">
                  <c:v>0.65668763102725358</c:v>
                </c:pt>
                <c:pt idx="329">
                  <c:v>0.65868972746331234</c:v>
                </c:pt>
                <c:pt idx="330">
                  <c:v>0.66069182389937098</c:v>
                </c:pt>
                <c:pt idx="331">
                  <c:v>0.66269392033542973</c:v>
                </c:pt>
                <c:pt idx="332">
                  <c:v>0.66469601677148837</c:v>
                </c:pt>
                <c:pt idx="333">
                  <c:v>0.66669811320754713</c:v>
                </c:pt>
                <c:pt idx="334">
                  <c:v>0.66870020964360588</c:v>
                </c:pt>
                <c:pt idx="335">
                  <c:v>0.67070230607966452</c:v>
                </c:pt>
                <c:pt idx="336">
                  <c:v>0.67270440251572328</c:v>
                </c:pt>
                <c:pt idx="337">
                  <c:v>0.67470649895178192</c:v>
                </c:pt>
                <c:pt idx="338">
                  <c:v>0.67670859538784067</c:v>
                </c:pt>
                <c:pt idx="339">
                  <c:v>0.67871069182389931</c:v>
                </c:pt>
                <c:pt idx="340">
                  <c:v>0.68071278825995807</c:v>
                </c:pt>
                <c:pt idx="341">
                  <c:v>0.68271488469601671</c:v>
                </c:pt>
                <c:pt idx="342">
                  <c:v>0.68471698113207546</c:v>
                </c:pt>
                <c:pt idx="343">
                  <c:v>0.68671907756813411</c:v>
                </c:pt>
                <c:pt idx="344">
                  <c:v>0.68872117400419286</c:v>
                </c:pt>
                <c:pt idx="345">
                  <c:v>0.6907232704402515</c:v>
                </c:pt>
                <c:pt idx="346">
                  <c:v>0.69272536687631026</c:v>
                </c:pt>
                <c:pt idx="347">
                  <c:v>0.6947274633123689</c:v>
                </c:pt>
                <c:pt idx="348">
                  <c:v>0.69672955974842765</c:v>
                </c:pt>
                <c:pt idx="349">
                  <c:v>0.69873165618448629</c:v>
                </c:pt>
                <c:pt idx="350">
                  <c:v>0.70073375262054505</c:v>
                </c:pt>
                <c:pt idx="351">
                  <c:v>0.70273584905660369</c:v>
                </c:pt>
                <c:pt idx="352">
                  <c:v>0.70473794549266244</c:v>
                </c:pt>
                <c:pt idx="353">
                  <c:v>0.70674004192872109</c:v>
                </c:pt>
                <c:pt idx="354">
                  <c:v>0.70874213836477984</c:v>
                </c:pt>
                <c:pt idx="355">
                  <c:v>0.71074423480083848</c:v>
                </c:pt>
                <c:pt idx="356">
                  <c:v>0.71274633123689723</c:v>
                </c:pt>
                <c:pt idx="357">
                  <c:v>0.71474842767295588</c:v>
                </c:pt>
                <c:pt idx="358">
                  <c:v>0.71675052410901463</c:v>
                </c:pt>
                <c:pt idx="359">
                  <c:v>0.71875262054507338</c:v>
                </c:pt>
                <c:pt idx="360">
                  <c:v>0.72075471698113203</c:v>
                </c:pt>
                <c:pt idx="361">
                  <c:v>0.72275681341719078</c:v>
                </c:pt>
                <c:pt idx="362">
                  <c:v>0.72475890985324942</c:v>
                </c:pt>
                <c:pt idx="363">
                  <c:v>0.72676100628930818</c:v>
                </c:pt>
                <c:pt idx="364">
                  <c:v>0.72876310272536682</c:v>
                </c:pt>
                <c:pt idx="365">
                  <c:v>0.73076519916142557</c:v>
                </c:pt>
                <c:pt idx="366">
                  <c:v>0.73276729559748421</c:v>
                </c:pt>
                <c:pt idx="367">
                  <c:v>0.73476939203354297</c:v>
                </c:pt>
                <c:pt idx="368">
                  <c:v>0.73677148846960161</c:v>
                </c:pt>
                <c:pt idx="369">
                  <c:v>0.73877358490566036</c:v>
                </c:pt>
                <c:pt idx="370">
                  <c:v>0.74077568134171901</c:v>
                </c:pt>
                <c:pt idx="371">
                  <c:v>0.74277777777777776</c:v>
                </c:pt>
                <c:pt idx="372">
                  <c:v>0.7447798742138364</c:v>
                </c:pt>
                <c:pt idx="373">
                  <c:v>0.74678197064989515</c:v>
                </c:pt>
                <c:pt idx="374">
                  <c:v>0.7487840670859538</c:v>
                </c:pt>
                <c:pt idx="375">
                  <c:v>0.75078616352201255</c:v>
                </c:pt>
                <c:pt idx="376">
                  <c:v>0.75278825995807119</c:v>
                </c:pt>
                <c:pt idx="377">
                  <c:v>0.75479035639412995</c:v>
                </c:pt>
                <c:pt idx="378">
                  <c:v>0.75679245283018859</c:v>
                </c:pt>
                <c:pt idx="379">
                  <c:v>0.75879454926624734</c:v>
                </c:pt>
                <c:pt idx="380">
                  <c:v>0.76079664570230598</c:v>
                </c:pt>
                <c:pt idx="381">
                  <c:v>0.76279874213836474</c:v>
                </c:pt>
                <c:pt idx="382">
                  <c:v>0.76480083857442338</c:v>
                </c:pt>
                <c:pt idx="383">
                  <c:v>0.76680293501048213</c:v>
                </c:pt>
                <c:pt idx="384">
                  <c:v>0.76880503144654089</c:v>
                </c:pt>
                <c:pt idx="385">
                  <c:v>0.77080712788259953</c:v>
                </c:pt>
                <c:pt idx="386">
                  <c:v>0.77280922431865828</c:v>
                </c:pt>
                <c:pt idx="387">
                  <c:v>0.77481132075471693</c:v>
                </c:pt>
                <c:pt idx="388">
                  <c:v>0.77681341719077568</c:v>
                </c:pt>
                <c:pt idx="389">
                  <c:v>0.77881551362683432</c:v>
                </c:pt>
                <c:pt idx="390">
                  <c:v>0.78081761006289307</c:v>
                </c:pt>
                <c:pt idx="391">
                  <c:v>0.78281970649895172</c:v>
                </c:pt>
                <c:pt idx="392">
                  <c:v>0.78482180293501047</c:v>
                </c:pt>
                <c:pt idx="393">
                  <c:v>0.78682389937106911</c:v>
                </c:pt>
                <c:pt idx="394">
                  <c:v>0.78882599580712787</c:v>
                </c:pt>
                <c:pt idx="395">
                  <c:v>0.79082809224318651</c:v>
                </c:pt>
                <c:pt idx="396">
                  <c:v>0.79283018867924526</c:v>
                </c:pt>
                <c:pt idx="397">
                  <c:v>0.7948322851153039</c:v>
                </c:pt>
                <c:pt idx="398">
                  <c:v>0.79683438155136266</c:v>
                </c:pt>
                <c:pt idx="399">
                  <c:v>0.7988364779874213</c:v>
                </c:pt>
                <c:pt idx="400">
                  <c:v>0.80083857442348005</c:v>
                </c:pt>
                <c:pt idx="401">
                  <c:v>0.8028406708595387</c:v>
                </c:pt>
                <c:pt idx="402">
                  <c:v>0.80484276729559745</c:v>
                </c:pt>
                <c:pt idx="403">
                  <c:v>0.80684486373165609</c:v>
                </c:pt>
                <c:pt idx="404">
                  <c:v>0.80884696016771485</c:v>
                </c:pt>
                <c:pt idx="405">
                  <c:v>0.81084905660377349</c:v>
                </c:pt>
                <c:pt idx="406">
                  <c:v>0.81285115303983224</c:v>
                </c:pt>
                <c:pt idx="407">
                  <c:v>0.81485324947589088</c:v>
                </c:pt>
                <c:pt idx="408">
                  <c:v>0.81685534591194964</c:v>
                </c:pt>
                <c:pt idx="409">
                  <c:v>0.81885744234800828</c:v>
                </c:pt>
                <c:pt idx="410">
                  <c:v>0.82085953878406703</c:v>
                </c:pt>
                <c:pt idx="411">
                  <c:v>0.82286163522012579</c:v>
                </c:pt>
                <c:pt idx="412">
                  <c:v>0.82486373165618443</c:v>
                </c:pt>
                <c:pt idx="413">
                  <c:v>0.82686582809224318</c:v>
                </c:pt>
                <c:pt idx="414">
                  <c:v>0.82886792452830182</c:v>
                </c:pt>
                <c:pt idx="415">
                  <c:v>0.83087002096436058</c:v>
                </c:pt>
                <c:pt idx="416">
                  <c:v>0.83287211740041922</c:v>
                </c:pt>
                <c:pt idx="417">
                  <c:v>0.83487421383647797</c:v>
                </c:pt>
                <c:pt idx="418">
                  <c:v>0.83687631027253662</c:v>
                </c:pt>
                <c:pt idx="419">
                  <c:v>0.83887840670859537</c:v>
                </c:pt>
                <c:pt idx="420">
                  <c:v>0.84088050314465401</c:v>
                </c:pt>
                <c:pt idx="421">
                  <c:v>0.84288259958071277</c:v>
                </c:pt>
                <c:pt idx="422">
                  <c:v>0.84488469601677141</c:v>
                </c:pt>
                <c:pt idx="423">
                  <c:v>0.84688679245283016</c:v>
                </c:pt>
                <c:pt idx="424">
                  <c:v>0.8488888888888888</c:v>
                </c:pt>
                <c:pt idx="425">
                  <c:v>0.85089098532494756</c:v>
                </c:pt>
                <c:pt idx="426">
                  <c:v>0.8528930817610062</c:v>
                </c:pt>
                <c:pt idx="427">
                  <c:v>0.85489517819706495</c:v>
                </c:pt>
                <c:pt idx="428">
                  <c:v>0.8568972746331236</c:v>
                </c:pt>
                <c:pt idx="429">
                  <c:v>0.85889937106918235</c:v>
                </c:pt>
                <c:pt idx="430">
                  <c:v>0.86090146750524099</c:v>
                </c:pt>
                <c:pt idx="431">
                  <c:v>0.86290356394129974</c:v>
                </c:pt>
                <c:pt idx="432">
                  <c:v>0.86490566037735839</c:v>
                </c:pt>
                <c:pt idx="433">
                  <c:v>0.86690775681341714</c:v>
                </c:pt>
                <c:pt idx="434">
                  <c:v>0.86890985324947578</c:v>
                </c:pt>
                <c:pt idx="435">
                  <c:v>0.87091194968553454</c:v>
                </c:pt>
                <c:pt idx="436">
                  <c:v>0.87291404612159329</c:v>
                </c:pt>
                <c:pt idx="437">
                  <c:v>0.87491614255765193</c:v>
                </c:pt>
                <c:pt idx="438">
                  <c:v>0.87691823899371069</c:v>
                </c:pt>
                <c:pt idx="439">
                  <c:v>0.87892033542976933</c:v>
                </c:pt>
                <c:pt idx="440">
                  <c:v>0.88092243186582808</c:v>
                </c:pt>
                <c:pt idx="441">
                  <c:v>0.88292452830188672</c:v>
                </c:pt>
                <c:pt idx="442">
                  <c:v>0.88492662473794548</c:v>
                </c:pt>
                <c:pt idx="443">
                  <c:v>0.88692872117400412</c:v>
                </c:pt>
                <c:pt idx="444">
                  <c:v>0.88893081761006287</c:v>
                </c:pt>
                <c:pt idx="445">
                  <c:v>0.89093291404612152</c:v>
                </c:pt>
                <c:pt idx="446">
                  <c:v>0.89293501048218027</c:v>
                </c:pt>
                <c:pt idx="447">
                  <c:v>0.89493710691823891</c:v>
                </c:pt>
                <c:pt idx="448">
                  <c:v>0.89693920335429766</c:v>
                </c:pt>
                <c:pt idx="449">
                  <c:v>0.89894129979035631</c:v>
                </c:pt>
                <c:pt idx="450">
                  <c:v>0.90094339622641506</c:v>
                </c:pt>
                <c:pt idx="451">
                  <c:v>0.9029454926624737</c:v>
                </c:pt>
                <c:pt idx="452">
                  <c:v>0.90494758909853246</c:v>
                </c:pt>
                <c:pt idx="453">
                  <c:v>0.9069496855345911</c:v>
                </c:pt>
                <c:pt idx="454">
                  <c:v>0.90895178197064985</c:v>
                </c:pt>
                <c:pt idx="455">
                  <c:v>0.91095387840670849</c:v>
                </c:pt>
                <c:pt idx="456">
                  <c:v>0.91295597484276725</c:v>
                </c:pt>
                <c:pt idx="457">
                  <c:v>0.91495807127882589</c:v>
                </c:pt>
                <c:pt idx="458">
                  <c:v>0.91696016771488464</c:v>
                </c:pt>
                <c:pt idx="459">
                  <c:v>0.91896226415094329</c:v>
                </c:pt>
                <c:pt idx="460">
                  <c:v>0.92096436058700204</c:v>
                </c:pt>
                <c:pt idx="461">
                  <c:v>0.92296645702306079</c:v>
                </c:pt>
                <c:pt idx="462">
                  <c:v>0.92496855345911944</c:v>
                </c:pt>
                <c:pt idx="463">
                  <c:v>0.92697064989517819</c:v>
                </c:pt>
                <c:pt idx="464">
                  <c:v>0.92897274633123683</c:v>
                </c:pt>
                <c:pt idx="465">
                  <c:v>0.93097484276729559</c:v>
                </c:pt>
                <c:pt idx="466">
                  <c:v>0.93297693920335423</c:v>
                </c:pt>
                <c:pt idx="467">
                  <c:v>0.93497903563941298</c:v>
                </c:pt>
                <c:pt idx="468">
                  <c:v>0.93698113207547162</c:v>
                </c:pt>
                <c:pt idx="469">
                  <c:v>0.93898322851153038</c:v>
                </c:pt>
                <c:pt idx="470">
                  <c:v>0.94098532494758902</c:v>
                </c:pt>
                <c:pt idx="471">
                  <c:v>0.94298742138364777</c:v>
                </c:pt>
                <c:pt idx="472">
                  <c:v>0.94498951781970641</c:v>
                </c:pt>
                <c:pt idx="473">
                  <c:v>0.94699161425576517</c:v>
                </c:pt>
                <c:pt idx="474">
                  <c:v>0.94899371069182381</c:v>
                </c:pt>
                <c:pt idx="475">
                  <c:v>0.95099580712788256</c:v>
                </c:pt>
                <c:pt idx="476">
                  <c:v>0.95299790356394121</c:v>
                </c:pt>
                <c:pt idx="477">
                  <c:v>0.95499999999999996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D1-4CE9-8280-E9BC4E0F1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4781295"/>
        <c:axId val="1584781775"/>
      </c:lineChart>
      <c:catAx>
        <c:axId val="1584781295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b="1" dirty="0"/>
                  <a:t>Displacement</a:t>
                </a:r>
                <a:r>
                  <a:rPr lang="en-CA" b="1" baseline="0" dirty="0"/>
                  <a:t> along the Vessel (cm</a:t>
                </a:r>
                <a:r>
                  <a:rPr lang="en-CA" b="1" dirty="0"/>
                  <a:t>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crossAx val="1584781775"/>
        <c:crosses val="autoZero"/>
        <c:auto val="1"/>
        <c:lblAlgn val="ctr"/>
        <c:lblOffset val="100"/>
        <c:noMultiLvlLbl val="0"/>
      </c:catAx>
      <c:valAx>
        <c:axId val="158478177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Flowrate (mL/s)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84781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28C8E-7BAD-4C37-9F0B-8CBDB03D449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2E5A-F865-48ED-9E9D-E266E7C2AE0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288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Segars, William Paul, Jason Bond, John P.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Frush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Sylvia Hon, Christopher P. Eckersley, Cameron H. Williams,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Jianqiao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 Feng, Daniel Jacob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Tward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J. Tilak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Ratnanather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, M. I. Miller, Donald P.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Frush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 and Ehsan </a:t>
            </a:r>
            <a:r>
              <a:rPr lang="en-CA" b="0" i="0" dirty="0" err="1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Samei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. “Population of anatomically variable 4D XCAT adult phantoms for imaging research and optimization.” </a:t>
            </a:r>
            <a:r>
              <a:rPr lang="en-CA" b="0" i="1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Medical physics</a:t>
            </a:r>
            <a:r>
              <a:rPr lang="en-CA" b="0" i="0" dirty="0">
                <a:solidFill>
                  <a:srgbClr val="2E414F"/>
                </a:solidFill>
                <a:effectLst/>
                <a:latin typeface="Roboto" panose="020B0604020202020204" pitchFamily="2" charset="0"/>
              </a:rPr>
              <a:t> 40 4 (2013): 043701 .</a:t>
            </a: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02E5A-F865-48ED-9E9D-E266E7C2AE0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5957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9050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E854-16ED-E826-38F6-49D7D5E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73EFC-CC87-D3FE-E566-ED464A6A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82C9-367D-31E6-5D55-EA5DF6B69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1D modelling, what is it, how are vessels connected to each other, how does </a:t>
            </a:r>
            <a:r>
              <a:rPr lang="en-US" dirty="0" err="1"/>
              <a:t>bv</a:t>
            </a:r>
            <a:r>
              <a:rPr lang="en-US" dirty="0"/>
              <a:t> move down the vessels starting at the heart.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51CBB-A54C-D3B4-76CA-FC173625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2A1542-6F33-408E-AC39-5232C11A66FF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5299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92E4B-81BE-4B7A-B36D-25EE9615AC65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799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F68B-5CDA-45F8-8FC6-8CC31496F2C0}" type="datetime1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73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8C00-40B8-4EDA-BCF9-010BAB3E9B10}" type="datetime1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795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D93C-08CC-43D5-8845-C649925EFB70}" type="datetime1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338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09B4-FF6B-44BE-9FB1-59E724526725}" type="datetime1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150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EDB9F-AB4A-4644-B1B1-ADD488636EFD}" type="datetime1">
              <a:rPr lang="en-CA" smtClean="0"/>
              <a:t>2026-03-10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2496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69573-12B9-4DA2-AE6A-3DF248409BF9}" type="datetime1">
              <a:rPr lang="en-CA" smtClean="0"/>
              <a:t>2026-03-10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788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0FC2F-8CC7-4537-A6D2-E86E24CBE470}" type="datetime1">
              <a:rPr lang="en-CA" smtClean="0"/>
              <a:t>2026-03-10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4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20AF02B-F510-4E59-9F48-4A2B2B1C7CCC}" type="datetime1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153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96962-FC1B-4478-9758-77DD5C261549}" type="datetime1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57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7550-8411-4E2E-A2AF-8A063A660948}" type="datetime1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293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E27D-A925-4B3D-83F5-ECDB550EC939}" type="datetime1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13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F51464-522D-45AA-8684-534AFC039EDB}" type="datetime1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AA6517-F367-4EB3-AFA6-036DD26A3111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388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360-3016(95)00164-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3C5D5-559B-DB34-F551-872857D43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r"/>
            <a:r>
              <a:rPr lang="en-CA" dirty="0"/>
              <a:t>Committee Meeting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4DCCF-17DF-0EC1-4A6B-F7C87E1D8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en-CA" dirty="0"/>
              <a:t>Cassidy Northway</a:t>
            </a:r>
          </a:p>
          <a:p>
            <a:r>
              <a:rPr lang="en-CA" dirty="0"/>
              <a:t>PhD Candidate</a:t>
            </a:r>
          </a:p>
          <a:p>
            <a:r>
              <a:rPr lang="en-CA" dirty="0"/>
              <a:t>March XX, 2026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DB5DB-8369-9406-60F3-48F547A2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290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5876F-7321-AB1C-1311-FBA15F990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EB8A0-D3E8-31F9-6054-2B57F998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Review Thesis Question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Present Project 2 – Heterogeneity of Dose: Sweeping Co-60 TBI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Review Thesis Chapters: </a:t>
            </a:r>
            <a:r>
              <a:rPr lang="en-CA" sz="2400" i="1" dirty="0"/>
              <a:t>Seeking Committee Feedback</a:t>
            </a:r>
            <a:endParaRPr lang="en-CA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Graduation Timeline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Questions and Discussion</a:t>
            </a:r>
          </a:p>
          <a:p>
            <a:pPr marL="0" indent="0">
              <a:buNone/>
            </a:pPr>
            <a:r>
              <a:rPr lang="en-CA" dirty="0"/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C3F1F-161F-9BD6-659F-A051976A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st tubes with samples on a test tube rack">
            <a:extLst>
              <a:ext uri="{FF2B5EF4-FFF2-40B4-BE49-F238E27FC236}">
                <a16:creationId xmlns:a16="http://schemas.microsoft.com/office/drawing/2014/main" id="{ACC58218-B780-A68B-7D4D-DBFEAB365E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4118" b="16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BA7F1E-7AD8-E0BE-C6F1-CDFB9394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200"/>
              <a:t>How heterogenous is the dose delivered to the circulating blood volume during TBI?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5BB48-05EA-2CA9-E10C-CC8AF741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127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0988-6744-1734-F5BE-D27ADC30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CA" dirty="0"/>
              <a:t>Thesis Proposal: Reviewed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430AD-B666-A202-060D-B0383A6AD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n-US" dirty="0"/>
              <a:t>In-silico, track the flow of blood voxels through a </a:t>
            </a:r>
            <a:r>
              <a:rPr lang="en-US" u="sng" dirty="0"/>
              <a:t>whole-body phantom</a:t>
            </a:r>
            <a:r>
              <a:rPr lang="en-US" dirty="0"/>
              <a:t> undergoing TBI, calculate their cumulative dose, and compare the dose to the voxels.</a:t>
            </a:r>
          </a:p>
          <a:p>
            <a:r>
              <a:rPr lang="en-US" dirty="0"/>
              <a:t>Whole Body Phantom (4D XCAT) model unites a blood flow model and Monte Carlo (MC) Simulations to determine dose.</a:t>
            </a:r>
          </a:p>
          <a:p>
            <a:r>
              <a:rPr lang="en-US" dirty="0"/>
              <a:t>Model the following delivery methods in MC: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Sweeping Co-60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VMAT TBI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BCC – Vancouver Technique (POP + VMAT)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Variations (VMAT only, varying optimization goals)</a:t>
            </a:r>
          </a:p>
          <a:p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0263E8-46DC-95E0-079F-D585E49A6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65" r="1345"/>
          <a:stretch/>
        </p:blipFill>
        <p:spPr>
          <a:xfrm>
            <a:off x="8020570" y="1916318"/>
            <a:ext cx="3564878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4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3C22-B5E0-9F0C-ED4F-B14C6F43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CF76A-6B00-71A8-E7B8-930D4109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5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2BDCA1-A3B8-3F20-2A2D-94F719471BA8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A2945C-F032-4DED-3EC0-A2626EB973C4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32B113-F1DA-123F-4B2A-1CFCE3858FAC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E8D7DD-89F1-DBF4-2E8C-98011990DB6C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73198B-CF85-1091-BB1C-7ED0AC4D9C0B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B64D34-DA9A-9F8C-A80C-9995F2055B68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687A73-8DFF-EC7B-A648-0831E0BDB2C3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3803C2-8962-256C-1C21-B13BF7BCBD3B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148738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22C5-C2B5-23DF-BF45-19159172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dose sampled in the blood vessels?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D91EA4-614D-905C-2885-470C16C4E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899" y="1846263"/>
            <a:ext cx="6144528" cy="4022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64DB3-73DD-DC12-9EC0-102FD0E3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6</a:t>
            </a:fld>
            <a:endParaRPr lang="en-C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91F48-EF63-E670-5CB7-A02DA59D1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08" y="1737360"/>
            <a:ext cx="2118360" cy="392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DBBA-B4B5-5C24-2703-DC418BB5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40F4-8F37-FE15-D690-68425DD7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dose sampled in the 0D compartments?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86CAD-9390-940E-6488-F65CA2E5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7</a:t>
            </a:fld>
            <a:endParaRPr lang="en-CA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75ACD8-175F-2731-428F-130F97517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238" y="1846263"/>
            <a:ext cx="3965524" cy="4387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4A3601-BFDB-0D02-8260-77E7DC274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00" y="1738800"/>
            <a:ext cx="2115495" cy="392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8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B8130-042B-B4E1-C9AA-68BC013F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4CA3-D4E6-1779-B582-CDACDAEF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8</a:t>
            </a:fld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58722A-0186-76C8-81DB-DBCB03E12997}"/>
              </a:ext>
            </a:extLst>
          </p:cNvPr>
          <p:cNvSpPr/>
          <p:nvPr/>
        </p:nvSpPr>
        <p:spPr>
          <a:xfrm>
            <a:off x="2351314" y="751957"/>
            <a:ext cx="7489371" cy="200840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What is the heterogeneity of dose to the circulating blood volume during TBI?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69EA45-4B9B-A788-FC47-69F62B2EFCCD}"/>
              </a:ext>
            </a:extLst>
          </p:cNvPr>
          <p:cNvSpPr/>
          <p:nvPr/>
        </p:nvSpPr>
        <p:spPr>
          <a:xfrm>
            <a:off x="342000" y="395336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Determine dose deposition in time</a:t>
            </a:r>
            <a:endParaRPr lang="en-CA" sz="3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B3B9F3-CB13-05BF-F629-5A4735F3A304}"/>
              </a:ext>
            </a:extLst>
          </p:cNvPr>
          <p:cNvSpPr/>
          <p:nvPr/>
        </p:nvSpPr>
        <p:spPr>
          <a:xfrm>
            <a:off x="4497161" y="3961881"/>
            <a:ext cx="3197678" cy="22778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Track blood flow through the body</a:t>
            </a:r>
            <a:endParaRPr lang="en-CA" sz="3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9784DD-7BC5-8411-A8DD-A6866B6B3705}"/>
              </a:ext>
            </a:extLst>
          </p:cNvPr>
          <p:cNvSpPr/>
          <p:nvPr/>
        </p:nvSpPr>
        <p:spPr>
          <a:xfrm>
            <a:off x="8652322" y="3953360"/>
            <a:ext cx="3197678" cy="227783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Model various TBI treatments</a:t>
            </a:r>
            <a:endParaRPr lang="en-CA" sz="3600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0F56B8-79E3-0FDB-1B88-8599F40DDAB7}"/>
              </a:ext>
            </a:extLst>
          </p:cNvPr>
          <p:cNvCxnSpPr>
            <a:stCxn id="14" idx="0"/>
            <a:endCxn id="4" idx="2"/>
          </p:cNvCxnSpPr>
          <p:nvPr/>
        </p:nvCxnSpPr>
        <p:spPr>
          <a:xfrm flipV="1">
            <a:off x="1940839" y="2760366"/>
            <a:ext cx="4155161" cy="119299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A06013-D998-FFA0-934C-7F382C260B25}"/>
              </a:ext>
            </a:extLst>
          </p:cNvPr>
          <p:cNvCxnSpPr>
            <a:cxnSpLocks/>
            <a:stCxn id="15" idx="0"/>
            <a:endCxn id="4" idx="2"/>
          </p:cNvCxnSpPr>
          <p:nvPr/>
        </p:nvCxnSpPr>
        <p:spPr>
          <a:xfrm flipV="1">
            <a:off x="6096000" y="2760366"/>
            <a:ext cx="0" cy="1201515"/>
          </a:xfrm>
          <a:prstGeom prst="line">
            <a:avLst/>
          </a:prstGeom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68E942-D279-4FAC-52BB-6709C4675376}"/>
              </a:ext>
            </a:extLst>
          </p:cNvPr>
          <p:cNvCxnSpPr>
            <a:cxnSpLocks/>
            <a:stCxn id="17" idx="0"/>
            <a:endCxn id="4" idx="2"/>
          </p:cNvCxnSpPr>
          <p:nvPr/>
        </p:nvCxnSpPr>
        <p:spPr>
          <a:xfrm flipH="1" flipV="1">
            <a:off x="6096000" y="2760366"/>
            <a:ext cx="4155161" cy="119299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745A920-7684-4CF8-06D5-E318D761DA50}"/>
              </a:ext>
            </a:extLst>
          </p:cNvPr>
          <p:cNvSpPr txBox="1"/>
          <p:nvPr/>
        </p:nvSpPr>
        <p:spPr>
          <a:xfrm>
            <a:off x="4497161" y="3534032"/>
            <a:ext cx="319767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Presented at COMP 2025</a:t>
            </a:r>
          </a:p>
        </p:txBody>
      </p:sp>
    </p:spTree>
    <p:extLst>
      <p:ext uri="{BB962C8B-B14F-4D97-AF65-F5344CB8AC3E}">
        <p14:creationId xmlns:p14="http://schemas.microsoft.com/office/powerpoint/2010/main" val="25519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F005-D8FC-3965-09EF-C0002C95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Sweeping Co-60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7ED8643-5835-2426-FCF3-559F7D4DD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040" y="1825778"/>
            <a:ext cx="4704080" cy="398319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AFD76-019F-9BFE-F23A-7BC798F16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9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293EE-6355-47C9-B385-5139240142A0}"/>
              </a:ext>
            </a:extLst>
          </p:cNvPr>
          <p:cNvSpPr txBox="1"/>
          <p:nvPr/>
        </p:nvSpPr>
        <p:spPr>
          <a:xfrm>
            <a:off x="0" y="6411514"/>
            <a:ext cx="1076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S. Hussein and E. </a:t>
            </a:r>
            <a:r>
              <a:rPr lang="en-CA" sz="1200" dirty="0" err="1"/>
              <a:t>el</a:t>
            </a:r>
            <a:r>
              <a:rPr lang="en-CA" sz="1200" dirty="0"/>
              <a:t>-Khatib, “Total body irradiation with a sweeping 60Cobalt beam,” Int J </a:t>
            </a:r>
            <a:r>
              <a:rPr lang="en-CA" sz="1200" dirty="0" err="1"/>
              <a:t>Radiat</a:t>
            </a:r>
            <a:r>
              <a:rPr lang="en-CA" sz="1200" dirty="0"/>
              <a:t> Oncol Biol Phys, vol. 33, no. 2, pp. 493–497, Sept. 1995, </a:t>
            </a:r>
            <a:r>
              <a:rPr lang="en-CA" sz="1200" dirty="0" err="1"/>
              <a:t>doi</a:t>
            </a:r>
            <a:r>
              <a:rPr lang="en-CA" sz="1200" dirty="0"/>
              <a:t>: </a:t>
            </a:r>
            <a:r>
              <a:rPr lang="en-CA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10.1016/0360-3016(95)00164-T</a:t>
            </a:r>
            <a:r>
              <a:rPr lang="en-CA" sz="1200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C2F8C3-687B-3CA4-A929-FFDE1803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252" y="1825778"/>
            <a:ext cx="4677428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85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1BD1-4E07-89AD-E95B-E2FCF3F3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Set-Up: </a:t>
            </a:r>
            <a:r>
              <a:rPr lang="en-US" sz="4000" dirty="0"/>
              <a:t>Minimizing Stochastic Uncertainty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01A52-1201-D79F-3910-BF7CA817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sources of stochastic uncertainty:</a:t>
            </a:r>
            <a:endParaRPr lang="en-CA" dirty="0"/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4D Dose Simulations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CA" dirty="0"/>
              <a:t>Number of particles simulated</a:t>
            </a:r>
          </a:p>
          <a:p>
            <a:pPr marL="932688" lvl="2" indent="-457200"/>
            <a:r>
              <a:rPr lang="en-CA" dirty="0"/>
              <a:t>↑ the number of particles simulated = ↓ stochastic uncertainty = </a:t>
            </a:r>
            <a:r>
              <a:rPr lang="en-CA" b="1" dirty="0"/>
              <a:t>↑ simulation time </a:t>
            </a:r>
          </a:p>
          <a:p>
            <a:pPr marL="932688" lvl="2" indent="-457200"/>
            <a:r>
              <a:rPr lang="en-CA" b="1" dirty="0"/>
              <a:t>Solution: </a:t>
            </a:r>
            <a:r>
              <a:rPr lang="en-CA" dirty="0"/>
              <a:t> Run each sweep of the Co-60 head as its own simulation with 2E10 ???? Particles. Each sweep takes ~60 mins to calculate 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CA" dirty="0"/>
              <a:t>Size of time bin used to process the data</a:t>
            </a:r>
          </a:p>
          <a:p>
            <a:pPr marL="932688" lvl="2" indent="-457200"/>
            <a:r>
              <a:rPr lang="en-CA" dirty="0"/>
              <a:t>↑ time bin size = ↓ stochastic uncertainty = </a:t>
            </a:r>
            <a:r>
              <a:rPr lang="en-CA" b="1" dirty="0"/>
              <a:t>↓ time resolution = ↑ positional averaging </a:t>
            </a:r>
          </a:p>
          <a:p>
            <a:pPr marL="932688" lvl="2" indent="-457200"/>
            <a:r>
              <a:rPr lang="en-CA" b="1" dirty="0"/>
              <a:t>Solution: </a:t>
            </a:r>
            <a:r>
              <a:rPr lang="en-CA" dirty="0"/>
              <a:t>Determine the time bin which minimizes ?????????</a:t>
            </a:r>
            <a:endParaRPr lang="en-CA" b="1" dirty="0"/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Number of BVs Simulated</a:t>
            </a:r>
            <a:endParaRPr lang="en-US" dirty="0"/>
          </a:p>
          <a:p>
            <a:pPr marL="932688" lvl="2" indent="-457200"/>
            <a:r>
              <a:rPr lang="en-CA" dirty="0"/>
              <a:t>↑ the number of particles simulated = ↓ stochastic uncertainty = </a:t>
            </a:r>
            <a:r>
              <a:rPr lang="en-CA" b="1" dirty="0"/>
              <a:t>↑ simulation time </a:t>
            </a:r>
          </a:p>
          <a:p>
            <a:pPr marL="932688" lvl="2" indent="-457200"/>
            <a:r>
              <a:rPr lang="en-CA" b="1" dirty="0"/>
              <a:t>Solution: </a:t>
            </a:r>
            <a:r>
              <a:rPr lang="en-CA" dirty="0"/>
              <a:t>Characterize the mean and std of the dose to the BVs as a function of BV number</a:t>
            </a:r>
            <a:endParaRPr lang="en-CA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37BDC-2374-9C9A-6430-E0C96632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533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ED77B-6BF2-1082-1FF3-25EF66FDBB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Thesis Chapter 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D0E9B-5E79-2430-38F0-B7BA297DC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41E02-FA88-6CA8-C1F0-FA56D37E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020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047AA-E93E-D398-80E2-EE3511D6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12</a:t>
            </a:fld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44A77-A0BB-FE78-6EC9-38299DB6DA6A}"/>
              </a:ext>
            </a:extLst>
          </p:cNvPr>
          <p:cNvSpPr txBox="1"/>
          <p:nvPr/>
        </p:nvSpPr>
        <p:spPr>
          <a:xfrm>
            <a:off x="658761" y="462116"/>
            <a:ext cx="113300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sz="2000" dirty="0"/>
              <a:t>Introduction to thesis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Provide context for research and summarize the content of the thesis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Introduction to Radiation Therapy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Principles of RT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Treatment Devices (Co-60 and Linac)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Introduction to Total Body Irradiation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Hematological malignancies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History of TBI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Modern TBI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Developing a Whole-Body Blood Flow Model for Dosimetric Applications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Intro to Blood Flow Modelling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Methodology, Results, Discussion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Determining Dose to the Circulating Blood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Intro to Monte Carlo, </a:t>
            </a:r>
            <a:r>
              <a:rPr lang="en-CA" sz="2000" dirty="0" err="1"/>
              <a:t>EGSnrc</a:t>
            </a:r>
            <a:r>
              <a:rPr lang="en-CA" sz="2000" dirty="0"/>
              <a:t> and 4ddose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Methodology, Results, Discussion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Comparing Dose to Blood Achieved by Various TBI Delivery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Methods, Results, Discussion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000" dirty="0"/>
              <a:t>Future Work and Conclusion </a:t>
            </a:r>
          </a:p>
        </p:txBody>
      </p:sp>
    </p:spTree>
    <p:extLst>
      <p:ext uri="{BB962C8B-B14F-4D97-AF65-F5344CB8AC3E}">
        <p14:creationId xmlns:p14="http://schemas.microsoft.com/office/powerpoint/2010/main" val="114201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7106-55F0-72D6-E38C-FA3C69547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/>
              <a:t>Graduation Timeline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E0A3F-B2A3-D9DA-E0B8-BAD60169EA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9765-9749-4810-C154-9B68EF62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982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A03C-ECD6-AD9B-70ED-91279B51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DE98C-AF71-3EC2-1AA2-48A07353A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Began September 2020 -&gt; Deadline would be August 2026</a:t>
            </a:r>
          </a:p>
          <a:p>
            <a:r>
              <a:rPr lang="en-CA" dirty="0"/>
              <a:t>I would like to request an extension to this deadline (1 term)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Fall 2026 Graduation Deadlines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May 29: External Examiner Form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June 29: Thesis to Committee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July 13: Internal Examination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July 27: Dissertation Submitted for External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Sept 18: External Doctoral Examination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Oct 16: Acceptance of Final Dissertation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D6FCF-7365-8B41-934E-10F60AE6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117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983D-EBB6-683C-94AD-CAED3B79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Thank you.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B0118-3CE2-03A0-E7ED-D643FAD1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A6517-F367-4EB3-AFA6-036DD26A311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362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16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Steady State Identification</a:t>
            </a:r>
            <a:endParaRPr lang="en-C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/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CA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CA" sz="2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sz="240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p>
                                      </m:sSubSup>
                                      <m:r>
                                        <a:rPr lang="en-CA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%</m:t>
                                          </m:r>
                                          <m:r>
                                            <a:rPr lang="en-CA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𝐵𝑉</m:t>
                                          </m:r>
                                        </m:e>
                                        <m:sub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CA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CA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243EA1-286A-7FA5-EE0B-CBBCC185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8215" y="5081897"/>
                <a:ext cx="5293951" cy="11835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AF2DCD-1FEA-2374-F04B-D2C76AADB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6678" y="114299"/>
            <a:ext cx="7017026" cy="48487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53EA24-AA01-D04B-4477-0DF34E1A6E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000" y="575964"/>
            <a:ext cx="3068907" cy="5689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A8C40-19C4-785F-592F-B96D3B0198A2}"/>
              </a:ext>
            </a:extLst>
          </p:cNvPr>
          <p:cNvSpPr txBox="1"/>
          <p:nvPr/>
        </p:nvSpPr>
        <p:spPr>
          <a:xfrm>
            <a:off x="5194997" y="3723863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1%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6EE72-8663-E2CD-4FB2-D2AA94EDEE73}"/>
              </a:ext>
            </a:extLst>
          </p:cNvPr>
          <p:cNvSpPr txBox="1"/>
          <p:nvPr/>
        </p:nvSpPr>
        <p:spPr>
          <a:xfrm>
            <a:off x="6891130" y="748748"/>
            <a:ext cx="273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0000FF"/>
                </a:solidFill>
              </a:rPr>
              <a:t>All Blood Voxels Released</a:t>
            </a:r>
          </a:p>
        </p:txBody>
      </p:sp>
    </p:spTree>
    <p:extLst>
      <p:ext uri="{BB962C8B-B14F-4D97-AF65-F5344CB8AC3E}">
        <p14:creationId xmlns:p14="http://schemas.microsoft.com/office/powerpoint/2010/main" val="1351717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08F18-624E-72B0-2F9C-FAF6135E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3B9F-45E8-0432-FBDD-6C1EFD49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17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0681CE-DF11-4CB9-66AA-61F08C1B6123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Half Frame 9">
            <a:extLst>
              <a:ext uri="{FF2B5EF4-FFF2-40B4-BE49-F238E27FC236}">
                <a16:creationId xmlns:a16="http://schemas.microsoft.com/office/drawing/2014/main" id="{A4DA4C74-0F02-28AD-D7F1-ABA040AE41D9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74AE0-C253-63A5-9B51-D26A5C53E9DD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 Components – </a:t>
            </a:r>
            <a:r>
              <a:rPr lang="en-US" sz="2400" b="1" dirty="0"/>
              <a:t>Systemic Veins</a:t>
            </a:r>
            <a:endParaRPr lang="en-CA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1F85F-8D1F-980C-754F-DA009D2FA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01650"/>
            <a:ext cx="3068907" cy="568946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89BBE7-8CE1-AAA0-E56E-30EB999D7CE3}"/>
              </a:ext>
            </a:extLst>
          </p:cNvPr>
          <p:cNvSpPr/>
          <p:nvPr/>
        </p:nvSpPr>
        <p:spPr>
          <a:xfrm>
            <a:off x="5348300" y="627396"/>
            <a:ext cx="4991897" cy="1166896"/>
          </a:xfrm>
          <a:prstGeom prst="roundRect">
            <a:avLst/>
          </a:prstGeom>
          <a:solidFill>
            <a:srgbClr val="905AA6"/>
          </a:solidFill>
          <a:ln>
            <a:solidFill>
              <a:srgbClr val="905A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Doppler ultrasound and MRI flowrate data </a:t>
            </a:r>
            <a:endParaRPr lang="en-C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/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solidFill>
                <a:srgbClr val="E3D6E9"/>
              </a:solidFill>
              <a:ln>
                <a:solidFill>
                  <a:srgbClr val="905AA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CA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CA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9F72DB7-8238-1E69-2173-EC48A7FCF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475" y="5486266"/>
                <a:ext cx="4045783" cy="461665"/>
              </a:xfrm>
              <a:prstGeom prst="rect">
                <a:avLst/>
              </a:prstGeom>
              <a:blipFill>
                <a:blip r:embed="rId4"/>
                <a:stretch>
                  <a:fillRect b="-14103"/>
                </a:stretch>
              </a:blipFill>
              <a:ln>
                <a:solidFill>
                  <a:srgbClr val="905AA6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7E4B4D4-9F79-6698-665F-BDCC3927EE31}"/>
              </a:ext>
            </a:extLst>
          </p:cNvPr>
          <p:cNvGraphicFramePr>
            <a:graphicFrameLocks/>
          </p:cNvGraphicFramePr>
          <p:nvPr/>
        </p:nvGraphicFramePr>
        <p:xfrm>
          <a:off x="5558248" y="215893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94206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18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22130" y="6294440"/>
            <a:ext cx="11715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</a:rPr>
              <a:t>Jin, Young-Hoon, </a:t>
            </a:r>
            <a:r>
              <a:rPr lang="en-US" sz="1200" dirty="0"/>
              <a:t>and</a:t>
            </a:r>
            <a:r>
              <a:rPr lang="en-US" sz="1200" dirty="0">
                <a:effectLst/>
              </a:rPr>
              <a:t> Won-Hyung Lee. “Fast cylinder shape matching using random sample consensus in large Scale Point Cloud.” </a:t>
            </a:r>
            <a:r>
              <a:rPr lang="en-US" sz="1200" i="1" dirty="0">
                <a:effectLst/>
              </a:rPr>
              <a:t>Applied Sciences</a:t>
            </a:r>
            <a:r>
              <a:rPr lang="en-US" sz="1200" dirty="0">
                <a:effectLst/>
              </a:rPr>
              <a:t>,  9,  5, 2019.</a:t>
            </a:r>
          </a:p>
          <a:p>
            <a:r>
              <a:rPr lang="en-CA" sz="1200" dirty="0"/>
              <a:t>Watanabe, </a:t>
            </a:r>
            <a:r>
              <a:rPr lang="en-CA" sz="1200" dirty="0" err="1"/>
              <a:t>Sansuke</a:t>
            </a:r>
            <a:r>
              <a:rPr lang="en-CA" sz="1200" dirty="0"/>
              <a:t> M., Blanco, Pablo J., and </a:t>
            </a:r>
            <a:r>
              <a:rPr lang="en-CA" sz="1200" dirty="0" err="1"/>
              <a:t>Feijóo</a:t>
            </a:r>
            <a:r>
              <a:rPr lang="en-CA" sz="1200" dirty="0"/>
              <a:t>, Raúl A.. "Mathematical Model of Blood Flow in an Anatomically Detailed Arterial Network of the Arm." </a:t>
            </a:r>
            <a:r>
              <a:rPr lang="en-CA" sz="1200" i="1" dirty="0">
                <a:effectLst/>
              </a:rPr>
              <a:t>ESAIM: Mathematical   	Modelling and Numerical Analysis - </a:t>
            </a:r>
            <a:r>
              <a:rPr lang="en-CA" sz="1200" i="1" dirty="0" err="1">
                <a:effectLst/>
              </a:rPr>
              <a:t>Modélisation</a:t>
            </a:r>
            <a:r>
              <a:rPr lang="en-CA" sz="1200" i="1" dirty="0">
                <a:effectLst/>
              </a:rPr>
              <a:t> </a:t>
            </a:r>
            <a:r>
              <a:rPr lang="en-CA" sz="1200" i="1" dirty="0" err="1">
                <a:effectLst/>
              </a:rPr>
              <a:t>Mathématique</a:t>
            </a:r>
            <a:r>
              <a:rPr lang="en-CA" sz="1200" i="1" dirty="0">
                <a:effectLst/>
              </a:rPr>
              <a:t> et Analyse Numérique</a:t>
            </a:r>
            <a:r>
              <a:rPr lang="en-CA" sz="1200" dirty="0"/>
              <a:t> 47, 4, 2013.</a:t>
            </a:r>
            <a:endParaRPr lang="en-US" sz="1200" dirty="0">
              <a:effectLst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  <a:r>
              <a:rPr lang="en-CA" sz="2400" dirty="0" err="1"/>
              <a:t>imension</a:t>
            </a:r>
            <a:r>
              <a:rPr lang="en-CA" sz="2400" dirty="0"/>
              <a:t> Extraction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E0573126-EBCF-5DE9-B420-6770F516C707}"/>
              </a:ext>
            </a:extLst>
          </p:cNvPr>
          <p:cNvSpPr/>
          <p:nvPr/>
        </p:nvSpPr>
        <p:spPr>
          <a:xfrm rot="1392224">
            <a:off x="2418564" y="2133211"/>
            <a:ext cx="2700641" cy="2655983"/>
          </a:xfrm>
          <a:prstGeom prst="arc">
            <a:avLst>
              <a:gd name="adj1" fmla="val 12755381"/>
              <a:gd name="adj2" fmla="val 12687122"/>
            </a:avLst>
          </a:prstGeom>
          <a:ln w="76200">
            <a:solidFill>
              <a:srgbClr val="0DBFD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D6BBEFC-8A51-D0F5-9A64-B09A0495572A}"/>
              </a:ext>
            </a:extLst>
          </p:cNvPr>
          <p:cNvSpPr/>
          <p:nvPr/>
        </p:nvSpPr>
        <p:spPr>
          <a:xfrm rot="1392224">
            <a:off x="2418565" y="2133210"/>
            <a:ext cx="2700641" cy="2655983"/>
          </a:xfrm>
          <a:prstGeom prst="arc">
            <a:avLst>
              <a:gd name="adj1" fmla="val 12755381"/>
              <a:gd name="adj2" fmla="val 21052343"/>
            </a:avLst>
          </a:prstGeom>
          <a:ln w="76200">
            <a:solidFill>
              <a:srgbClr val="905A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BA0C3F-21DB-ED55-5967-798EB89EE961}"/>
              </a:ext>
            </a:extLst>
          </p:cNvPr>
          <p:cNvCxnSpPr>
            <a:cxnSpLocks/>
            <a:stCxn id="12" idx="0"/>
          </p:cNvCxnSpPr>
          <p:nvPr/>
        </p:nvCxnSpPr>
        <p:spPr>
          <a:xfrm>
            <a:off x="3013471" y="2349918"/>
            <a:ext cx="207995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D9307D-6C57-D380-33FF-9F70C81C64A2}"/>
              </a:ext>
            </a:extLst>
          </p:cNvPr>
          <p:cNvCxnSpPr>
            <a:cxnSpLocks/>
          </p:cNvCxnSpPr>
          <p:nvPr/>
        </p:nvCxnSpPr>
        <p:spPr>
          <a:xfrm>
            <a:off x="3013471" y="2348975"/>
            <a:ext cx="1459470" cy="0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C55116-67F3-5493-5627-2C8F4464B651}"/>
              </a:ext>
            </a:extLst>
          </p:cNvPr>
          <p:cNvCxnSpPr>
            <a:cxnSpLocks/>
          </p:cNvCxnSpPr>
          <p:nvPr/>
        </p:nvCxnSpPr>
        <p:spPr>
          <a:xfrm flipH="1" flipV="1">
            <a:off x="4472941" y="2371007"/>
            <a:ext cx="620486" cy="1307229"/>
          </a:xfrm>
          <a:prstGeom prst="line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4E8D8672-08F8-B93A-D89A-B4734AAA2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123684"/>
            <a:ext cx="2086385" cy="5149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37AAFA-CD46-A0E9-37ED-F57C9F49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712" y="1184687"/>
            <a:ext cx="1871451" cy="514963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48CDBB-64E2-31DF-D6E0-19555A4595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992" b="6968"/>
          <a:stretch/>
        </p:blipFill>
        <p:spPr>
          <a:xfrm>
            <a:off x="7371126" y="1046477"/>
            <a:ext cx="1871451" cy="51006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/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Superior Mesenteric Artery</a:t>
                </a:r>
              </a:p>
              <a:p>
                <a:endParaRPr lang="en-CA" i="1" dirty="0">
                  <a:latin typeface="Cambria Math" panose="02040503050406030204" pitchFamily="18" charset="0"/>
                </a:endParaRPr>
              </a:p>
              <a:p>
                <a:r>
                  <a:rPr lang="en-CA" dirty="0"/>
                  <a:t>Calculated length (N =12)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  <m:r>
                      <a:rPr lang="en-CA" b="0" i="1" smtClean="0">
                        <a:latin typeface="Cambria Math" panose="02040503050406030204" pitchFamily="18" charset="0"/>
                      </a:rPr>
                      <m:t>=220.84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33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</m:t>
                    </m:r>
                  </m:oMath>
                </a14:m>
                <a:r>
                  <a:rPr lang="en-CA" b="0" dirty="0">
                    <a:ea typeface="Cambria Math" panose="02040503050406030204" pitchFamily="18" charset="0"/>
                  </a:rPr>
                  <a:t> </a:t>
                </a:r>
              </a:p>
              <a:p>
                <a:endParaRPr lang="en-CA" dirty="0"/>
              </a:p>
              <a:p>
                <a:r>
                  <a:rPr lang="en-CA" dirty="0"/>
                  <a:t>Manually measured length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=212.75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r>
                  <a:rPr lang="en-CA" dirty="0" err="1"/>
                  <a:t>Hemolab</a:t>
                </a:r>
                <a:r>
                  <a:rPr lang="en-CA" dirty="0"/>
                  <a:t> Value: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=216.79 </m:t>
                    </m:r>
                  </m:oMath>
                </a14:m>
                <a:r>
                  <a:rPr lang="en-CA" dirty="0"/>
                  <a:t> mm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r>
                  <a:rPr lang="en-CA" dirty="0">
                    <a:latin typeface="Cambria Math" panose="02040503050406030204" pitchFamily="18" charset="0"/>
                  </a:rPr>
                  <a:t>Calculated radius (N = 12)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=1.79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2.79 %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=1.66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mm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18.67 %</m:t>
                    </m:r>
                  </m:oMath>
                </a14:m>
                <a:r>
                  <a:rPr lang="en-CA" b="0" dirty="0"/>
                  <a:t> </a:t>
                </a:r>
              </a:p>
              <a:p>
                <a:endParaRPr lang="en-CA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35ED0CC-8A7A-228E-07D7-83C709E2E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360" y="1277687"/>
                <a:ext cx="2855867" cy="4524315"/>
              </a:xfrm>
              <a:prstGeom prst="rect">
                <a:avLst/>
              </a:prstGeom>
              <a:blipFill>
                <a:blip r:embed="rId6"/>
                <a:stretch>
                  <a:fillRect l="-1706" t="-809"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CE217D-5F63-B2BF-8D2A-06B8E42D1B56}"/>
              </a:ext>
            </a:extLst>
          </p:cNvPr>
          <p:cNvCxnSpPr>
            <a:cxnSpLocks/>
          </p:cNvCxnSpPr>
          <p:nvPr/>
        </p:nvCxnSpPr>
        <p:spPr>
          <a:xfrm flipV="1">
            <a:off x="9079699" y="1706637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E53CA-C48B-1910-D20E-CAF02EC79EBF}"/>
              </a:ext>
            </a:extLst>
          </p:cNvPr>
          <p:cNvCxnSpPr>
            <a:cxnSpLocks/>
          </p:cNvCxnSpPr>
          <p:nvPr/>
        </p:nvCxnSpPr>
        <p:spPr>
          <a:xfrm flipV="1">
            <a:off x="9134359" y="4341854"/>
            <a:ext cx="2855867" cy="1965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91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B7EC2-71BA-402D-7669-A778C3CC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2793" y="6420757"/>
            <a:ext cx="2743200" cy="365125"/>
          </a:xfrm>
        </p:spPr>
        <p:txBody>
          <a:bodyPr/>
          <a:lstStyle/>
          <a:p>
            <a:fld id="{1E5564C7-97C0-40C1-9717-452594735347}" type="slidenum">
              <a:rPr lang="en-CA" smtClean="0"/>
              <a:t>19</a:t>
            </a:fld>
            <a:endParaRPr lang="en-C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9A71E-9C68-0132-D8FD-8A9DB6E41BDE}"/>
              </a:ext>
            </a:extLst>
          </p:cNvPr>
          <p:cNvCxnSpPr>
            <a:cxnSpLocks/>
          </p:cNvCxnSpPr>
          <p:nvPr/>
        </p:nvCxnSpPr>
        <p:spPr>
          <a:xfrm>
            <a:off x="166007" y="6356350"/>
            <a:ext cx="11859986" cy="0"/>
          </a:xfrm>
          <a:prstGeom prst="line">
            <a:avLst/>
          </a:prstGeom>
          <a:ln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F1282-B5C0-FA52-786E-5BC6A03931A6}"/>
              </a:ext>
            </a:extLst>
          </p:cNvPr>
          <p:cNvSpPr txBox="1"/>
          <p:nvPr/>
        </p:nvSpPr>
        <p:spPr>
          <a:xfrm>
            <a:off x="166007" y="6420757"/>
            <a:ext cx="11655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2E414F"/>
                </a:solidFill>
                <a:effectLst/>
              </a:rPr>
              <a:t>Olufsen, Mette Sofie. “Structured tree outflow condition for blood flow in larger systemic arteries.” </a:t>
            </a:r>
            <a:r>
              <a:rPr lang="en-US" sz="1200" b="0" i="1" dirty="0">
                <a:solidFill>
                  <a:srgbClr val="2E414F"/>
                </a:solidFill>
                <a:effectLst/>
              </a:rPr>
              <a:t>American journal of physiology. Heart and circulatory physiology</a:t>
            </a:r>
            <a:r>
              <a:rPr lang="en-US" sz="1200" b="0" i="0" dirty="0">
                <a:solidFill>
                  <a:srgbClr val="2E414F"/>
                </a:solidFill>
                <a:effectLst/>
              </a:rPr>
              <a:t> , 276,  1, 1999</a:t>
            </a:r>
            <a:r>
              <a:rPr lang="en-US" sz="1200" dirty="0">
                <a:solidFill>
                  <a:srgbClr val="2E414F"/>
                </a:solidFill>
              </a:rPr>
              <a:t>.</a:t>
            </a:r>
            <a:endParaRPr lang="en-CA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BBE0D6D3-13F9-2B97-D1DB-5C47044A0DF8}"/>
              </a:ext>
            </a:extLst>
          </p:cNvPr>
          <p:cNvSpPr>
            <a:spLocks noChangeAspect="1"/>
          </p:cNvSpPr>
          <p:nvPr/>
        </p:nvSpPr>
        <p:spPr>
          <a:xfrm>
            <a:off x="54000" y="54000"/>
            <a:ext cx="576000" cy="576000"/>
          </a:xfrm>
          <a:prstGeom prst="halfFrame">
            <a:avLst>
              <a:gd name="adj1" fmla="val 7127"/>
              <a:gd name="adj2" fmla="val 8806"/>
            </a:avLst>
          </a:prstGeom>
          <a:solidFill>
            <a:srgbClr val="905A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72DEE-4D6D-459E-6399-5DDE30903E99}"/>
              </a:ext>
            </a:extLst>
          </p:cNvPr>
          <p:cNvSpPr txBox="1"/>
          <p:nvPr/>
        </p:nvSpPr>
        <p:spPr>
          <a:xfrm>
            <a:off x="108857" y="114299"/>
            <a:ext cx="560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Network and Simplifications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38CB7F-0AFF-38AA-73E5-C682FE1B077A}"/>
              </a:ext>
            </a:extLst>
          </p:cNvPr>
          <p:cNvCxnSpPr/>
          <p:nvPr/>
        </p:nvCxnSpPr>
        <p:spPr>
          <a:xfrm flipV="1">
            <a:off x="1195251" y="1136469"/>
            <a:ext cx="0" cy="489857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E46859-D6D2-D990-CA2C-3ADDF7B42026}"/>
              </a:ext>
            </a:extLst>
          </p:cNvPr>
          <p:cNvCxnSpPr>
            <a:cxnSpLocks/>
          </p:cNvCxnSpPr>
          <p:nvPr/>
        </p:nvCxnSpPr>
        <p:spPr>
          <a:xfrm flipV="1">
            <a:off x="1195251" y="3261052"/>
            <a:ext cx="661851" cy="172429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86B578-3A27-11CD-0DBE-9D9422EDF378}"/>
              </a:ext>
            </a:extLst>
          </p:cNvPr>
          <p:cNvCxnSpPr>
            <a:cxnSpLocks/>
          </p:cNvCxnSpPr>
          <p:nvPr/>
        </p:nvCxnSpPr>
        <p:spPr>
          <a:xfrm flipH="1" flipV="1">
            <a:off x="439782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910EB-F1FD-F8BE-2F9A-58466EF45986}"/>
              </a:ext>
            </a:extLst>
          </p:cNvPr>
          <p:cNvCxnSpPr>
            <a:cxnSpLocks/>
          </p:cNvCxnSpPr>
          <p:nvPr/>
        </p:nvCxnSpPr>
        <p:spPr>
          <a:xfrm flipH="1" flipV="1">
            <a:off x="1476648" y="2981336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F0774D-CF89-C9FD-AC60-44764F6A270A}"/>
              </a:ext>
            </a:extLst>
          </p:cNvPr>
          <p:cNvCxnSpPr>
            <a:cxnSpLocks/>
          </p:cNvCxnSpPr>
          <p:nvPr/>
        </p:nvCxnSpPr>
        <p:spPr>
          <a:xfrm flipH="1">
            <a:off x="1476648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0B26D4-9099-02BE-20A0-AD3A198B2973}"/>
              </a:ext>
            </a:extLst>
          </p:cNvPr>
          <p:cNvCxnSpPr>
            <a:cxnSpLocks/>
          </p:cNvCxnSpPr>
          <p:nvPr/>
        </p:nvCxnSpPr>
        <p:spPr>
          <a:xfrm flipV="1">
            <a:off x="3509006" y="4985349"/>
            <a:ext cx="0" cy="1049691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97248EC-E49F-B417-0D64-7447699A262D}"/>
              </a:ext>
            </a:extLst>
          </p:cNvPr>
          <p:cNvCxnSpPr>
            <a:cxnSpLocks/>
          </p:cNvCxnSpPr>
          <p:nvPr/>
        </p:nvCxnSpPr>
        <p:spPr>
          <a:xfrm flipV="1">
            <a:off x="3509006" y="3261052"/>
            <a:ext cx="0" cy="164705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EBEB58-F2BC-6A7A-D8FD-B51E7513DC74}"/>
              </a:ext>
            </a:extLst>
          </p:cNvPr>
          <p:cNvCxnSpPr>
            <a:cxnSpLocks/>
          </p:cNvCxnSpPr>
          <p:nvPr/>
        </p:nvCxnSpPr>
        <p:spPr>
          <a:xfrm flipV="1">
            <a:off x="3487235" y="1168072"/>
            <a:ext cx="0" cy="1945015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62FF62E-9BAF-7952-1BBA-F0EF738654D1}"/>
              </a:ext>
            </a:extLst>
          </p:cNvPr>
          <p:cNvCxnSpPr>
            <a:cxnSpLocks/>
          </p:cNvCxnSpPr>
          <p:nvPr/>
        </p:nvCxnSpPr>
        <p:spPr>
          <a:xfrm flipH="1" flipV="1">
            <a:off x="2683870" y="1817801"/>
            <a:ext cx="755469" cy="1389017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E1C829-FBFC-FFD6-E03C-4CCE7CD60E78}"/>
              </a:ext>
            </a:extLst>
          </p:cNvPr>
          <p:cNvCxnSpPr>
            <a:cxnSpLocks/>
          </p:cNvCxnSpPr>
          <p:nvPr/>
        </p:nvCxnSpPr>
        <p:spPr>
          <a:xfrm flipV="1">
            <a:off x="3561805" y="4330337"/>
            <a:ext cx="254996" cy="619348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9DCEF6C-0D57-1AC9-95D8-0654564A9B31}"/>
              </a:ext>
            </a:extLst>
          </p:cNvPr>
          <p:cNvCxnSpPr>
            <a:cxnSpLocks/>
          </p:cNvCxnSpPr>
          <p:nvPr/>
        </p:nvCxnSpPr>
        <p:spPr>
          <a:xfrm flipV="1">
            <a:off x="3860071" y="3847351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D059B0-B9A5-9796-F4FC-734620244C4D}"/>
              </a:ext>
            </a:extLst>
          </p:cNvPr>
          <p:cNvCxnSpPr>
            <a:cxnSpLocks/>
          </p:cNvCxnSpPr>
          <p:nvPr/>
        </p:nvCxnSpPr>
        <p:spPr>
          <a:xfrm flipH="1">
            <a:off x="3892730" y="4226595"/>
            <a:ext cx="688249" cy="47493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BA19BB3-B8C8-6ABC-7620-52D254EF8C98}"/>
              </a:ext>
            </a:extLst>
          </p:cNvPr>
          <p:cNvCxnSpPr>
            <a:cxnSpLocks/>
          </p:cNvCxnSpPr>
          <p:nvPr/>
        </p:nvCxnSpPr>
        <p:spPr>
          <a:xfrm flipH="1" flipV="1">
            <a:off x="3807821" y="3037585"/>
            <a:ext cx="218803" cy="744160"/>
          </a:xfrm>
          <a:prstGeom prst="line">
            <a:avLst/>
          </a:prstGeom>
          <a:ln w="38100">
            <a:solidFill>
              <a:srgbClr val="905A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E1A42B-1A55-5F42-E926-B291BC121C8F}"/>
              </a:ext>
            </a:extLst>
          </p:cNvPr>
          <p:cNvCxnSpPr>
            <a:cxnSpLocks/>
          </p:cNvCxnSpPr>
          <p:nvPr/>
        </p:nvCxnSpPr>
        <p:spPr>
          <a:xfrm flipV="1">
            <a:off x="4064859" y="3364366"/>
            <a:ext cx="171995" cy="417379"/>
          </a:xfrm>
          <a:prstGeom prst="line">
            <a:avLst/>
          </a:prstGeom>
          <a:ln w="38100">
            <a:solidFill>
              <a:srgbClr val="0DBF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/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solidFill>
                <a:srgbClr val="905AA6">
                  <a:alpha val="25000"/>
                </a:srgbClr>
              </a:solidFill>
              <a:ln w="57150">
                <a:noFill/>
              </a:ln>
            </p:spPr>
            <p:txBody>
              <a:bodyPr wrap="square" lIns="108000" tIns="108000" rIns="108000" bIns="10800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  <m:sup>
                          <m:f>
                            <m:f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A" sz="3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6A62372-B7C3-B8D4-4CF4-7E5B0A40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80" y="842736"/>
                <a:ext cx="3456354" cy="16104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2618BB12-C664-E47E-1E47-3C0A9A7EFD53}"/>
              </a:ext>
            </a:extLst>
          </p:cNvPr>
          <p:cNvSpPr txBox="1"/>
          <p:nvPr/>
        </p:nvSpPr>
        <p:spPr>
          <a:xfrm>
            <a:off x="7660276" y="115496"/>
            <a:ext cx="4477723" cy="6240817"/>
          </a:xfrm>
          <a:prstGeom prst="rect">
            <a:avLst/>
          </a:prstGeom>
          <a:solidFill>
            <a:srgbClr val="905AA6">
              <a:alpha val="25000"/>
            </a:srgb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B7EA6-4DB5-4758-2C01-F016576210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1" r="2344"/>
          <a:stretch/>
        </p:blipFill>
        <p:spPr>
          <a:xfrm>
            <a:off x="7860361" y="196558"/>
            <a:ext cx="4158000" cy="330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D60C4-6156-DC97-38B2-CDB0BA2C9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186" b="-1"/>
          <a:stretch/>
        </p:blipFill>
        <p:spPr>
          <a:xfrm>
            <a:off x="7860362" y="3065992"/>
            <a:ext cx="4158000" cy="31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F6BC5E-1DDE-F4D9-128F-E5D89ADFB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89" y="344248"/>
            <a:ext cx="2066940" cy="5715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0AAB71-8CD8-E745-F20E-9893626DB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183" y="3153992"/>
            <a:ext cx="2066940" cy="5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1333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2903</TotalTime>
  <Words>915</Words>
  <Application>Microsoft Office PowerPoint</Application>
  <PresentationFormat>Widescreen</PresentationFormat>
  <Paragraphs>130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Cambria Math</vt:lpstr>
      <vt:lpstr>Roboto</vt:lpstr>
      <vt:lpstr>Retrospect</vt:lpstr>
      <vt:lpstr>Committee Meeting</vt:lpstr>
      <vt:lpstr>Agenda</vt:lpstr>
      <vt:lpstr>How heterogenous is the dose delivered to the circulating blood volume during TBI?</vt:lpstr>
      <vt:lpstr>Thesis Proposal: Reviewed</vt:lpstr>
      <vt:lpstr>PowerPoint Presentation</vt:lpstr>
      <vt:lpstr>How is dose sampled in the blood vessels?</vt:lpstr>
      <vt:lpstr>How is dose sampled in the 0D compartments?</vt:lpstr>
      <vt:lpstr>PowerPoint Presentation</vt:lpstr>
      <vt:lpstr>Sweeping Co-60</vt:lpstr>
      <vt:lpstr>Experimental Set-Up: Minimizing Stochastic Uncertainty </vt:lpstr>
      <vt:lpstr>Thesis Chapter Outline</vt:lpstr>
      <vt:lpstr>PowerPoint Presentation</vt:lpstr>
      <vt:lpstr>Graduation Timeline</vt:lpstr>
      <vt:lpstr>Timeline</vt:lpstr>
      <vt:lpstr>Thank you.</vt:lpstr>
      <vt:lpstr>PowerPoint Presentation</vt:lpstr>
      <vt:lpstr>PowerPoint Presentation</vt:lpstr>
      <vt:lpstr>PowerPoint Presentation</vt:lpstr>
      <vt:lpstr>PowerPoint Presentation</vt:lpstr>
    </vt:vector>
  </TitlesOfParts>
  <Company>BC Clinical and Support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Committee Meeting</dc:title>
  <dc:creator>Northway, Cassidy</dc:creator>
  <cp:lastModifiedBy>cbn@student.ubc.ca</cp:lastModifiedBy>
  <cp:revision>80</cp:revision>
  <dcterms:created xsi:type="dcterms:W3CDTF">2024-07-30T22:24:27Z</dcterms:created>
  <dcterms:modified xsi:type="dcterms:W3CDTF">2026-03-10T17:22:36Z</dcterms:modified>
</cp:coreProperties>
</file>