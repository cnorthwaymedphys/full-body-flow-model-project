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5"/>
  </p:notesMasterIdLst>
  <p:sldIdLst>
    <p:sldId id="256" r:id="rId2"/>
    <p:sldId id="257" r:id="rId3"/>
    <p:sldId id="260" r:id="rId4"/>
    <p:sldId id="261" r:id="rId5"/>
    <p:sldId id="329" r:id="rId6"/>
    <p:sldId id="330" r:id="rId7"/>
    <p:sldId id="331" r:id="rId8"/>
    <p:sldId id="305" r:id="rId9"/>
    <p:sldId id="298" r:id="rId10"/>
    <p:sldId id="302" r:id="rId11"/>
    <p:sldId id="332" r:id="rId12"/>
    <p:sldId id="328" r:id="rId13"/>
    <p:sldId id="326" r:id="rId14"/>
    <p:sldId id="327" r:id="rId15"/>
    <p:sldId id="304" r:id="rId16"/>
    <p:sldId id="306" r:id="rId17"/>
    <p:sldId id="324" r:id="rId18"/>
    <p:sldId id="307" r:id="rId19"/>
    <p:sldId id="292" r:id="rId20"/>
    <p:sldId id="276" r:id="rId21"/>
    <p:sldId id="289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794" autoAdjust="0"/>
  </p:normalViewPr>
  <p:slideViewPr>
    <p:cSldViewPr snapToGrid="0">
      <p:cViewPr varScale="1">
        <p:scale>
          <a:sx n="105" d="100"/>
          <a:sy n="105" d="100"/>
        </p:scale>
        <p:origin x="6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428C8E-7BAD-4C37-9F0B-8CBDB03D4496}" type="datetimeFigureOut">
              <a:rPr lang="en-CA" smtClean="0"/>
              <a:t>2026-03-03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A02E5A-F865-48ED-9E9D-E266E7C2A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7288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Segars, William Paul, Jason Bond, John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Sylvia Hon, Christopher P. Eckersley, Cameron H. Williams,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Jianqiao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Feng, Daniel Jacob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Tward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J. Tilak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Ratnanather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M. I. Miller, Donald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and Ehsan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Samei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. “Population of anatomically variable 4D XCAT adult phantoms for imaging research and optimization.” </a:t>
            </a:r>
            <a:r>
              <a:rPr lang="en-CA" b="0" i="1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Medical physics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 40 4 (2013): 043701 .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5957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90506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9E854-16ED-E826-38F6-49D7D5EA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73EFC-CC87-D3FE-E566-ED464A6A0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82C9-367D-31E6-5D55-EA5DF6B69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51CBB-A54C-D3B4-76CA-FC1736258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299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92E4B-81BE-4B7A-B36D-25EE9615AC65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7994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2F68B-5CDA-45F8-8FC6-8CC31496F2C0}" type="datetime1">
              <a:rPr lang="en-CA" smtClean="0"/>
              <a:t>2026-03-03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7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8C00-40B8-4EDA-BCF9-010BAB3E9B10}" type="datetime1">
              <a:rPr lang="en-CA" smtClean="0"/>
              <a:t>2026-03-03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795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BD93C-08CC-43D5-8845-C649925EFB70}" type="datetime1">
              <a:rPr lang="en-CA" smtClean="0"/>
              <a:t>2026-03-03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338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D09B4-FF6B-44BE-9FB1-59E724526725}" type="datetime1">
              <a:rPr lang="en-CA" smtClean="0"/>
              <a:t>2026-03-03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1507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EDB9F-AB4A-4644-B1B1-ADD488636EFD}" type="datetime1">
              <a:rPr lang="en-CA" smtClean="0"/>
              <a:t>2026-03-03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2496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69573-12B9-4DA2-AE6A-3DF248409BF9}" type="datetime1">
              <a:rPr lang="en-CA" smtClean="0"/>
              <a:t>2026-03-03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7880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0FC2F-8CC7-4537-A6D2-E86E24CBE470}" type="datetime1">
              <a:rPr lang="en-CA" smtClean="0"/>
              <a:t>2026-03-03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04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20AF02B-F510-4E59-9F48-4A2B2B1C7CCC}" type="datetime1">
              <a:rPr lang="en-CA" smtClean="0"/>
              <a:t>2026-03-03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15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96962-FC1B-4478-9758-77DD5C261549}" type="datetime1">
              <a:rPr lang="en-CA" smtClean="0"/>
              <a:t>2026-03-03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657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E7550-8411-4E2E-A2AF-8A063A660948}" type="datetime1">
              <a:rPr lang="en-CA" smtClean="0"/>
              <a:t>2026-03-03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2936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1E27D-A925-4B3D-83F5-ECDB550EC939}" type="datetime1">
              <a:rPr lang="en-CA" smtClean="0"/>
              <a:t>2026-03-03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92131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5F51464-522D-45AA-8684-534AFC039EDB}" type="datetime1">
              <a:rPr lang="en-CA" smtClean="0"/>
              <a:t>2026-03-03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38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0360-3016(95)00164-T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.xml"/><Relationship Id="rId4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3C5D5-559B-DB34-F551-872857D43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01" y="643467"/>
            <a:ext cx="6255026" cy="5054008"/>
          </a:xfrm>
        </p:spPr>
        <p:txBody>
          <a:bodyPr anchor="ctr">
            <a:normAutofit/>
          </a:bodyPr>
          <a:lstStyle/>
          <a:p>
            <a:pPr algn="r"/>
            <a:r>
              <a:rPr lang="en-CA" dirty="0"/>
              <a:t>Committee Meeting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4DCCF-17DF-0EC1-4A6B-F7C87E1D82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0995" y="643467"/>
            <a:ext cx="3341488" cy="5054008"/>
          </a:xfrm>
        </p:spPr>
        <p:txBody>
          <a:bodyPr anchor="ctr">
            <a:normAutofit/>
          </a:bodyPr>
          <a:lstStyle/>
          <a:p>
            <a:r>
              <a:rPr lang="en-CA" dirty="0"/>
              <a:t>Cassidy Northway</a:t>
            </a:r>
          </a:p>
          <a:p>
            <a:r>
              <a:rPr lang="en-CA" dirty="0"/>
              <a:t>PhD Candidate</a:t>
            </a:r>
          </a:p>
          <a:p>
            <a:r>
              <a:rPr lang="en-CA" dirty="0"/>
              <a:t>March XX, 2026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B5DB-8369-9406-60F3-48F547A2C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6290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5876F-7321-AB1C-1311-FBA15F99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B8A0-D3E8-31F9-6054-2B57F998B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Review Thesis Question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Present Project 2 – Heterogeneity of Dose: Sweeping Co-60 TBI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Review Thesis Intro Chapters: </a:t>
            </a:r>
            <a:r>
              <a:rPr lang="en-CA" sz="2400" i="1" dirty="0"/>
              <a:t>Seeking Committee Feedback</a:t>
            </a:r>
            <a:endParaRPr lang="en-CA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Graduation Timeline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Questions and Discussion</a:t>
            </a:r>
          </a:p>
          <a:p>
            <a:pPr marL="0" indent="0">
              <a:buNone/>
            </a:pPr>
            <a:r>
              <a:rPr lang="en-CA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C3F1F-161F-9BD6-659F-A051976AF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8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st tubes with samples on a test tube rack">
            <a:extLst>
              <a:ext uri="{FF2B5EF4-FFF2-40B4-BE49-F238E27FC236}">
                <a16:creationId xmlns:a16="http://schemas.microsoft.com/office/drawing/2014/main" id="{ACC58218-B780-A68B-7D4D-DBFEAB365E2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rcRect t="14118" b="161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BA7F1E-7AD8-E0BE-C6F1-CDFB9394A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200"/>
              <a:t>How heterogenous is the dose delivered to the circulating blood volume during TBI?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5BB48-05EA-2CA9-E10C-CC8AF741A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127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0988-6744-1734-F5BE-D27ADC304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CA" dirty="0"/>
              <a:t>Thesis Proposal: Reviewed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430AD-B666-A202-060D-B0383A6AD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>
            <a:normAutofit/>
          </a:bodyPr>
          <a:lstStyle/>
          <a:p>
            <a:r>
              <a:rPr lang="en-US" dirty="0"/>
              <a:t>In-silico, track the flow of blood voxels through a </a:t>
            </a:r>
            <a:r>
              <a:rPr lang="en-US" u="sng" dirty="0"/>
              <a:t>whole-body phantom</a:t>
            </a:r>
            <a:r>
              <a:rPr lang="en-US" dirty="0"/>
              <a:t> undergoing TBI, calculate their cumulative dose, and compare the dose to the voxels.</a:t>
            </a:r>
          </a:p>
          <a:p>
            <a:r>
              <a:rPr lang="en-US" dirty="0"/>
              <a:t>Whole Body Phantom (4D XCAT) model unites a blood flow model and Monte Carlo (MC) Simulations to determine dose.</a:t>
            </a:r>
          </a:p>
          <a:p>
            <a:r>
              <a:rPr lang="en-US" dirty="0"/>
              <a:t>Model the following delivery methods in MC: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Sweeping Co-60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VMAT TBI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BCC – Vancouver Technique (POP + VMAT)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Variations (VMAT only, varying optimization goals)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0263E8-46DC-95E0-079F-D585E49A64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65" r="1345"/>
          <a:stretch/>
        </p:blipFill>
        <p:spPr>
          <a:xfrm>
            <a:off x="8020570" y="1916318"/>
            <a:ext cx="3564878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444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13C22-B5E0-9F0C-ED4F-B14C6F43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CF76A-6B00-71A8-E7B8-930D4109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02BDCA1-A3B8-3F20-2A2D-94F719471BA8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A2945C-F032-4DED-3EC0-A2626EB973C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E32B113-F1DA-123F-4B2A-1CFCE3858FAC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0E8D7DD-89F1-DBF4-2E8C-98011990DB6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373198B-CF85-1091-BB1C-7ED0AC4D9C0B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B64D34-DA9A-9F8C-A80C-9995F2055B68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8687A73-8DFF-EC7B-A648-0831E0BDB2C3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43803C2-8962-256C-1C21-B13BF7BCBD3B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1487385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E22C5-C2B5-23DF-BF45-19159172D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dose sampled in the blood vessels?</a:t>
            </a:r>
            <a:endParaRPr lang="en-CA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9D91EA4-614D-905C-2885-470C16C4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899" y="1846263"/>
            <a:ext cx="6144528" cy="40227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64DB3-73DD-DC12-9EC0-102FD0E34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133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4DBBA-B4B5-5C24-2703-DC418BB5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C40F4-8F37-FE15-D690-68425DD7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dose sampled in the 0D compartments?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86CAD-9390-940E-6488-F65CA2E5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7</a:t>
            </a:fld>
            <a:endParaRPr lang="en-CA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075ACD8-175F-2731-428F-130F975178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238" y="1846263"/>
            <a:ext cx="3965524" cy="438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98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8130-042B-B4E1-C9AA-68BC013F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4CA3-D4E6-1779-B582-CDACDAEF0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8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58722A-0186-76C8-81DB-DBCB03E1299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69EA45-4B9B-A788-FC47-69F62B2EFCCD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B3B9F3-CB13-05BF-F629-5A4735F3A304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19784DD-7BC5-8411-A8DD-A6866B6B3705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D0F56B8-79E3-0FDB-1B88-8599F40DDAB7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A06013-D998-FFA0-934C-7F382C260B25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68E942-D279-4FAC-52BB-6709C4675376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745A920-7684-4CF8-06D5-E318D761DA50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255193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FF005-D8FC-3965-09EF-C0002C95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Sweeping Co-60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7ED8643-5835-2426-FCF3-559F7D4DD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9040" y="1825778"/>
            <a:ext cx="4704080" cy="398319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AFD76-019F-9BFE-F23A-7BC798F1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9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F293EE-6355-47C9-B385-5139240142A0}"/>
              </a:ext>
            </a:extLst>
          </p:cNvPr>
          <p:cNvSpPr txBox="1"/>
          <p:nvPr/>
        </p:nvSpPr>
        <p:spPr>
          <a:xfrm>
            <a:off x="0" y="6411514"/>
            <a:ext cx="10763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S. Hussein and E. </a:t>
            </a:r>
            <a:r>
              <a:rPr lang="en-CA" sz="1200" dirty="0" err="1"/>
              <a:t>el</a:t>
            </a:r>
            <a:r>
              <a:rPr lang="en-CA" sz="1200" dirty="0"/>
              <a:t>-Khatib, “Total body irradiation with a sweeping 60Cobalt beam,” Int J </a:t>
            </a:r>
            <a:r>
              <a:rPr lang="en-CA" sz="1200" dirty="0" err="1"/>
              <a:t>Radiat</a:t>
            </a:r>
            <a:r>
              <a:rPr lang="en-CA" sz="1200" dirty="0"/>
              <a:t> Oncol Biol Phys, vol. 33, no. 2, pp. 493–497, Sept. 1995, </a:t>
            </a:r>
            <a:r>
              <a:rPr lang="en-CA" sz="1200" dirty="0" err="1"/>
              <a:t>doi</a:t>
            </a:r>
            <a:r>
              <a:rPr lang="en-CA" sz="1200" dirty="0"/>
              <a:t>: </a:t>
            </a:r>
            <a:r>
              <a:rPr lang="en-CA" sz="12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10.1016/0360-3016(95)00164-T</a:t>
            </a:r>
            <a:r>
              <a:rPr lang="en-CA" sz="1200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C2F8C3-687B-3CA4-A929-FFDE180323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252" y="1825778"/>
            <a:ext cx="4677428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85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4EE16-A1D3-22CD-7446-48A3D420B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Prelim Dose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0ACFE-9686-E12C-F0E5-70869E1CF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10</a:t>
            </a:fld>
            <a:endParaRPr lang="en-CA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6BEA700C-1B2C-3F73-8257-68B799D05D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32215"/>
              </p:ext>
            </p:extLst>
          </p:nvPr>
        </p:nvGraphicFramePr>
        <p:xfrm>
          <a:off x="9046475" y="1912165"/>
          <a:ext cx="2675968" cy="402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37984">
                  <a:extLst>
                    <a:ext uri="{9D8B030D-6E8A-4147-A177-3AD203B41FA5}">
                      <a16:colId xmlns:a16="http://schemas.microsoft.com/office/drawing/2014/main" val="917422986"/>
                    </a:ext>
                  </a:extLst>
                </a:gridCol>
                <a:gridCol w="1337984">
                  <a:extLst>
                    <a:ext uri="{9D8B030D-6E8A-4147-A177-3AD203B41FA5}">
                      <a16:colId xmlns:a16="http://schemas.microsoft.com/office/drawing/2014/main" val="37366762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Blood Volumes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/>
                        <a:t>500</a:t>
                      </a:r>
                      <a:endParaRPr lang="en-CA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27557"/>
                  </a:ext>
                </a:extLst>
              </a:tr>
              <a:tr h="355711">
                <a:tc>
                  <a:txBody>
                    <a:bodyPr/>
                    <a:lstStyle/>
                    <a:p>
                      <a:r>
                        <a:rPr lang="en-US" dirty="0"/>
                        <a:t>Time step size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170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Steady State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2426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Delivery per Field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408.6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6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“Flip” Patient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52037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CEF275-1B5F-C739-6C10-D7C55BDA70BD}"/>
                  </a:ext>
                </a:extLst>
              </p:cNvPr>
              <p:cNvSpPr txBox="1"/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Monte Carlo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AP and PA fields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2 billion particles each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Produced 4D Dose files with vessels as VOI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Blood Flow Simulation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 smaller number of particles (&lt;1E5)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Only tracking dose delivered within the blood vessels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Scaled dose results with: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 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𝑓𝑖𝑒𝑙𝑑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𝑒𝑥𝑝𝑜𝑠𝑢𝑟𝑒</m:t>
                            </m:r>
                          </m:sub>
                        </m:sSub>
                      </m:den>
                    </m:f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CEF275-1B5F-C739-6C10-D7C55BDA7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blipFill>
                <a:blip r:embed="rId2"/>
                <a:stretch>
                  <a:fillRect l="-722" t="-1101" r="-2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2952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71BD1-4E07-89AD-E95B-E2FCF3F3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Set-Up: </a:t>
            </a:r>
            <a:r>
              <a:rPr lang="en-US" sz="4000" dirty="0"/>
              <a:t>Minimizing Stochastic Uncertainty 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01A52-1201-D79F-3910-BF7CA817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Two sources of stochastic uncertainty:</a:t>
            </a:r>
            <a:endParaRPr lang="en-CA" dirty="0"/>
          </a:p>
          <a:p>
            <a:pPr marL="457200" indent="-457200">
              <a:buFont typeface="+mj-lt"/>
              <a:buAutoNum type="arabicPeriod"/>
            </a:pPr>
            <a:r>
              <a:rPr lang="en-CA" dirty="0"/>
              <a:t>4D Dose Simulations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Number of particles simulated</a:t>
            </a:r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 Run each sweep of the Co-60 head as its own simulation with 2E10 ???? Particles. Each sweep takes 20-40 mins to calculate 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Size of time bin used to process the data</a:t>
            </a:r>
          </a:p>
          <a:p>
            <a:pPr marL="932688" lvl="2" indent="-457200"/>
            <a:r>
              <a:rPr lang="en-CA" dirty="0"/>
              <a:t>↑ time bin size = ↓ stochastic uncertainty = </a:t>
            </a:r>
            <a:r>
              <a:rPr lang="en-CA" b="1" dirty="0"/>
              <a:t>↓ time resolution = ↑ positional averaging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Determine the time bin which minimizes ?????????</a:t>
            </a:r>
            <a:endParaRPr lang="en-CA" b="1" dirty="0"/>
          </a:p>
          <a:p>
            <a:pPr marL="457200" indent="-457200">
              <a:buFont typeface="+mj-lt"/>
              <a:buAutoNum type="arabicPeriod"/>
            </a:pPr>
            <a:r>
              <a:rPr lang="en-CA" dirty="0"/>
              <a:t>Number of BVs Simulated</a:t>
            </a:r>
            <a:endParaRPr lang="en-US" dirty="0"/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Characterize the mean and std of the dose to the BVs as a function of BV number</a:t>
            </a:r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37BDC-2374-9C9A-6430-E0C96632A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5336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FADA9-538D-359B-7453-5298A6224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0B5-BBD3-2D04-1CF7-BC94BB8E0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Prelim Dose Results: Unscaled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5A72B-0DE5-BA42-032C-36EDA6B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12</a:t>
            </a:fld>
            <a:endParaRPr lang="en-CA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1FEC0F4-7F61-9D31-A62B-524B432E95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7855339"/>
              </p:ext>
            </p:extLst>
          </p:nvPr>
        </p:nvGraphicFramePr>
        <p:xfrm>
          <a:off x="9046475" y="1912165"/>
          <a:ext cx="2675968" cy="402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37984">
                  <a:extLst>
                    <a:ext uri="{9D8B030D-6E8A-4147-A177-3AD203B41FA5}">
                      <a16:colId xmlns:a16="http://schemas.microsoft.com/office/drawing/2014/main" val="917422986"/>
                    </a:ext>
                  </a:extLst>
                </a:gridCol>
                <a:gridCol w="1337984">
                  <a:extLst>
                    <a:ext uri="{9D8B030D-6E8A-4147-A177-3AD203B41FA5}">
                      <a16:colId xmlns:a16="http://schemas.microsoft.com/office/drawing/2014/main" val="37366762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Blood Volumes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/>
                        <a:t>500</a:t>
                      </a:r>
                      <a:endParaRPr lang="en-CA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27557"/>
                  </a:ext>
                </a:extLst>
              </a:tr>
              <a:tr h="355711">
                <a:tc>
                  <a:txBody>
                    <a:bodyPr/>
                    <a:lstStyle/>
                    <a:p>
                      <a:r>
                        <a:rPr lang="en-US" dirty="0"/>
                        <a:t>Time step size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170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Steady State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2426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Delivery per Field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408.6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6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“Flip” Patient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52037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4D99C5-9246-2276-889D-400EEC6BBB00}"/>
                  </a:ext>
                </a:extLst>
              </p:cNvPr>
              <p:cNvSpPr txBox="1"/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Monte Carlo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AP and PA fields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2 billion particles each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Produced 4D Dose files with vessels as VOI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Blood Flow Simulation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 smaller number of particles (&lt;1E5)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Only tracking dose delivered within the blood vessels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Scaled dose results with: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 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𝑓𝑖𝑒𝑙𝑑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𝑒𝑥𝑝𝑜𝑠𝑢𝑟𝑒</m:t>
                            </m:r>
                          </m:sub>
                        </m:sSub>
                      </m:den>
                    </m:f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4D99C5-9246-2276-889D-400EEC6BB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blipFill>
                <a:blip r:embed="rId2"/>
                <a:stretch>
                  <a:fillRect l="-722" t="-1101" r="-2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60861D9-A603-8073-3281-6BE23A1CD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459" y="1737360"/>
            <a:ext cx="5975697" cy="440355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555901-5776-9642-4A82-5D54EC671375}"/>
              </a:ext>
            </a:extLst>
          </p:cNvPr>
          <p:cNvSpPr/>
          <p:nvPr/>
        </p:nvSpPr>
        <p:spPr>
          <a:xfrm>
            <a:off x="3560812" y="5861437"/>
            <a:ext cx="1790833" cy="148176"/>
          </a:xfrm>
          <a:prstGeom prst="roundRect">
            <a:avLst/>
          </a:prstGeom>
          <a:solidFill>
            <a:schemeClr val="accent2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743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729D6-7118-2AD6-C347-1DF1F90B4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2470D-C81C-6F2B-6020-41AF8978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Prelim Dose Results: Scaled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3EFC6-3006-30E3-AC28-ED4776A53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13</a:t>
            </a:fld>
            <a:endParaRPr lang="en-CA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E5122EF-A248-5DCC-0797-283450E8EC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5702833"/>
              </p:ext>
            </p:extLst>
          </p:nvPr>
        </p:nvGraphicFramePr>
        <p:xfrm>
          <a:off x="9046475" y="1912165"/>
          <a:ext cx="2675968" cy="402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37984">
                  <a:extLst>
                    <a:ext uri="{9D8B030D-6E8A-4147-A177-3AD203B41FA5}">
                      <a16:colId xmlns:a16="http://schemas.microsoft.com/office/drawing/2014/main" val="917422986"/>
                    </a:ext>
                  </a:extLst>
                </a:gridCol>
                <a:gridCol w="1337984">
                  <a:extLst>
                    <a:ext uri="{9D8B030D-6E8A-4147-A177-3AD203B41FA5}">
                      <a16:colId xmlns:a16="http://schemas.microsoft.com/office/drawing/2014/main" val="37366762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Blood Volumes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/>
                        <a:t>500</a:t>
                      </a:r>
                      <a:endParaRPr lang="en-CA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27557"/>
                  </a:ext>
                </a:extLst>
              </a:tr>
              <a:tr h="355711">
                <a:tc>
                  <a:txBody>
                    <a:bodyPr/>
                    <a:lstStyle/>
                    <a:p>
                      <a:r>
                        <a:rPr lang="en-US" dirty="0"/>
                        <a:t>Time step size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170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Steady State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2426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Delivery per Field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408.6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6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“Flip” Patient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52037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065BF3-4A40-AB02-20A1-C039CFC400CF}"/>
                  </a:ext>
                </a:extLst>
              </p:cNvPr>
              <p:cNvSpPr txBox="1"/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Monte Carlo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AP and PA fields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2 billion particles each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Produced 4D Dose files with vessels as VOI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Blood Flow Simulation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 smaller number of particles (&lt;1E5)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Only tracking dose delivered within the blood vessels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Scaled dose results with: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 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𝑓𝑖𝑒𝑙𝑑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𝑒𝑥𝑝𝑜𝑠𝑢𝑟𝑒</m:t>
                            </m:r>
                          </m:sub>
                        </m:sSub>
                      </m:den>
                    </m:f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065BF3-4A40-AB02-20A1-C039CFC40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blipFill>
                <a:blip r:embed="rId2"/>
                <a:stretch>
                  <a:fillRect l="-722" t="-1101" r="-2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B38B58-6F54-90E7-E3D0-1D0779D39035}"/>
                  </a:ext>
                </a:extLst>
              </p:cNvPr>
              <p:cNvSpPr txBox="1"/>
              <p:nvPr/>
            </p:nvSpPr>
            <p:spPr>
              <a:xfrm>
                <a:off x="7274978" y="2030000"/>
                <a:ext cx="1617046" cy="697883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𝑓𝑖𝑒𝑙𝑑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𝑒𝑥𝑝𝑜𝑠𝑢𝑟𝑒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B38B58-6F54-90E7-E3D0-1D0779D390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78" y="2030000"/>
                <a:ext cx="1617046" cy="6978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84C5BEB6-F1E6-E9A4-7358-5DDE5DB87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305" y="1834019"/>
            <a:ext cx="6042222" cy="445258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64EF32-4DCE-47DD-2114-D871731619AF}"/>
              </a:ext>
            </a:extLst>
          </p:cNvPr>
          <p:cNvSpPr/>
          <p:nvPr/>
        </p:nvSpPr>
        <p:spPr>
          <a:xfrm>
            <a:off x="3520679" y="5982050"/>
            <a:ext cx="1723456" cy="193040"/>
          </a:xfrm>
          <a:prstGeom prst="roundRect">
            <a:avLst/>
          </a:prstGeom>
          <a:solidFill>
            <a:schemeClr val="accent2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9021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66419-326B-F236-88A9-861B52E71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F8C8D-AE5C-946D-F9E3-4C077A4A1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Prelim Dose Results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3CEAB17-B2EB-4346-9E6A-8EEC578AC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643" y="1845734"/>
            <a:ext cx="5787358" cy="426476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FA5DB-92E2-53F2-C662-C77BF28C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14</a:t>
            </a:fld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754CA8-E7C7-5C9D-CA4F-E3F69BEBEF59}"/>
              </a:ext>
            </a:extLst>
          </p:cNvPr>
          <p:cNvSpPr/>
          <p:nvPr/>
        </p:nvSpPr>
        <p:spPr>
          <a:xfrm>
            <a:off x="8642952" y="5821680"/>
            <a:ext cx="1723456" cy="193040"/>
          </a:xfrm>
          <a:prstGeom prst="roundRect">
            <a:avLst/>
          </a:prstGeom>
          <a:solidFill>
            <a:schemeClr val="accent2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B5961C8-B0F7-525C-AEDF-A5E1F1611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45734"/>
            <a:ext cx="5787358" cy="426476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6D7DC-F988-3424-44BE-24CC2660B2FA}"/>
              </a:ext>
            </a:extLst>
          </p:cNvPr>
          <p:cNvSpPr/>
          <p:nvPr/>
        </p:nvSpPr>
        <p:spPr>
          <a:xfrm>
            <a:off x="2397760" y="5821680"/>
            <a:ext cx="1463040" cy="193040"/>
          </a:xfrm>
          <a:prstGeom prst="roundRect">
            <a:avLst/>
          </a:prstGeom>
          <a:solidFill>
            <a:schemeClr val="accent2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BCB180CE-82E6-914F-1F0B-65478C6D8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017783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2161B-7CDF-F28C-41E7-F4D22FAAD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Anticipating Projects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F26EC-8641-6786-F377-F9E210E48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the following:</a:t>
            </a:r>
          </a:p>
          <a:p>
            <a:pPr lvl="1"/>
            <a:r>
              <a:rPr lang="en-US" dirty="0"/>
              <a:t>Extended POP: most common in Canada as of 2017  </a:t>
            </a:r>
          </a:p>
          <a:p>
            <a:pPr lvl="1"/>
            <a:r>
              <a:rPr lang="en-US" dirty="0"/>
              <a:t>TBI VMAT: as delivered at BC Cancer – Vancouver</a:t>
            </a:r>
          </a:p>
          <a:p>
            <a:pPr lvl="2"/>
            <a:r>
              <a:rPr lang="en-US" dirty="0"/>
              <a:t>Q: Are their variables we can vary during the treatment planning process?</a:t>
            </a:r>
          </a:p>
          <a:p>
            <a:r>
              <a:rPr lang="en-CA" dirty="0"/>
              <a:t>Compare the standard deviation of the dose to the BVs for all treatments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756F0E-AACC-4950-1B4D-D99BD134E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15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5CA64C-3F42-93AF-F7C6-81ACDD9AC1CE}"/>
              </a:ext>
            </a:extLst>
          </p:cNvPr>
          <p:cNvSpPr txBox="1"/>
          <p:nvPr/>
        </p:nvSpPr>
        <p:spPr>
          <a:xfrm>
            <a:off x="-76201" y="6411514"/>
            <a:ext cx="106203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R. C. N. Studinski, D. J. Fraser, R. S. Samant, and M. S. MacPherson, “Current practice in total-body irradiation: results of a Canada-wide survey,” Curr Oncol, vol. 24, no. 3, pp. 181–186, June 2017.</a:t>
            </a:r>
          </a:p>
        </p:txBody>
      </p:sp>
    </p:spTree>
    <p:extLst>
      <p:ext uri="{BB962C8B-B14F-4D97-AF65-F5344CB8AC3E}">
        <p14:creationId xmlns:p14="http://schemas.microsoft.com/office/powerpoint/2010/main" val="17035205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EF5C6-E751-BA09-05B4-81E901FCD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Publications Anticipated and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1E1CA-CE51-C89C-79CA-FD3BEA12F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Submitted Project 1 – Blood Flow Model to Physics in Medicine &amp; Biology and the paper was rejected.</a:t>
            </a:r>
          </a:p>
          <a:p>
            <a:r>
              <a:rPr lang="en-US" dirty="0"/>
              <a:t>The </a:t>
            </a:r>
            <a:r>
              <a:rPr lang="en-US" u="sng" dirty="0"/>
              <a:t>lack of dosimetric results </a:t>
            </a:r>
            <a:r>
              <a:rPr lang="en-US" dirty="0"/>
              <a:t>was a significant piece of feedback.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1F0E0-CD0C-229E-5D94-ADA60FEB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878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DDD84-5641-F71A-C05D-536E601B5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802E-A03A-8FA2-6ADC-CCED3F92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Publications Anticipated and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AFEF8-EA74-A617-8AE6-3A2063A11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Submitted Project 1 – Blood Flow Model to Physics in Medicine &amp; Biology and the paper was rejected.</a:t>
            </a:r>
          </a:p>
          <a:p>
            <a:r>
              <a:rPr lang="en-US" dirty="0"/>
              <a:t>The </a:t>
            </a:r>
            <a:r>
              <a:rPr lang="en-US" u="sng" dirty="0"/>
              <a:t>lack of dosimetric results </a:t>
            </a:r>
            <a:r>
              <a:rPr lang="en-US" dirty="0"/>
              <a:t>was a significant piece of feedback. </a:t>
            </a:r>
          </a:p>
          <a:p>
            <a:r>
              <a:rPr lang="en-US" dirty="0"/>
              <a:t>Options: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dirty="0"/>
              <a:t>Re-submit with additional focus on validation metrics 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dirty="0"/>
              <a:t>Combine Project 1 and Project 2 into a singular publication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B1131-8F79-7AEC-7E17-ECEDC79F9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2057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EC0F-8FB7-5780-47B9-FF7762017E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Big Question: Do you feel like the outlined work meets the requirement to fill the body of my thesis?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1CEBC-BCCE-7303-A4F1-D1D30EB13C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4D409-7197-5D88-7B2A-5228A145A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671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8983D-EBB6-683C-94AD-CAED3B79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Thank you.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CB0118-3CE2-03A0-E7ED-D643FAD19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19</a:t>
            </a:fld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852B46-B54C-4E6C-E740-7995F03FCA56}"/>
              </a:ext>
            </a:extLst>
          </p:cNvPr>
          <p:cNvSpPr txBox="1"/>
          <p:nvPr/>
        </p:nvSpPr>
        <p:spPr>
          <a:xfrm>
            <a:off x="1200150" y="2047875"/>
            <a:ext cx="9248750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Questions for you: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Thoughts on publication issue?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Thoughts on work and future work constituting a full thesis?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dirty="0"/>
              <a:t>Questions for me?</a:t>
            </a:r>
            <a:endParaRPr lang="en-CA" sz="2800" dirty="0"/>
          </a:p>
        </p:txBody>
      </p:sp>
    </p:spTree>
    <p:extLst>
      <p:ext uri="{BB962C8B-B14F-4D97-AF65-F5344CB8AC3E}">
        <p14:creationId xmlns:p14="http://schemas.microsoft.com/office/powerpoint/2010/main" val="40883626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20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sz="2400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sz="2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sz="24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96678" y="114299"/>
            <a:ext cx="7017026" cy="48487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53EA24-AA01-D04B-4477-0DF34E1A6E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000" y="575964"/>
            <a:ext cx="3068907" cy="56894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EA8C40-19C4-785F-592F-B96D3B0198A2}"/>
              </a:ext>
            </a:extLst>
          </p:cNvPr>
          <p:cNvSpPr txBox="1"/>
          <p:nvPr/>
        </p:nvSpPr>
        <p:spPr>
          <a:xfrm>
            <a:off x="5194997" y="3723863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6EE72-8663-E2CD-4FB2-D2AA94EDEE73}"/>
              </a:ext>
            </a:extLst>
          </p:cNvPr>
          <p:cNvSpPr txBox="1"/>
          <p:nvPr/>
        </p:nvSpPr>
        <p:spPr>
          <a:xfrm>
            <a:off x="6891130" y="748748"/>
            <a:ext cx="2730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0000FF"/>
                </a:solidFill>
              </a:rPr>
              <a:t>All Blood Voxels Released</a:t>
            </a:r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8F18-624E-72B0-2F9C-FAF6135E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B3B9F-45E8-0432-FBDD-6C1EFD49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21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681CE-DF11-4CB9-66AA-61F08C1B6123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A4DA4C74-0F02-28AD-D7F1-ABA040AE41D9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74AE0-C253-63A5-9B51-D26A5C53E9DD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1F85F-8D1F-980C-754F-DA009D2FA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789BBE7-8CE1-AAA0-E56E-30EB999D7CE3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/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blipFill>
                <a:blip r:embed="rId4"/>
                <a:stretch>
                  <a:fillRect b="-14103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47E4B4D4-9F79-6698-665F-BDCC3927EE31}"/>
              </a:ext>
            </a:extLst>
          </p:cNvPr>
          <p:cNvGraphicFramePr>
            <a:graphicFrameLocks/>
          </p:cNvGraphicFramePr>
          <p:nvPr/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94206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22130" y="6294440"/>
            <a:ext cx="11715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Jin, Young-Hoon, </a:t>
            </a:r>
            <a:r>
              <a:rPr lang="en-US" sz="1200" dirty="0"/>
              <a:t>and</a:t>
            </a:r>
            <a:r>
              <a:rPr lang="en-US" sz="1200" dirty="0">
                <a:effectLst/>
              </a:rPr>
              <a:t> Won-Hyung Lee. “Fast cylinder shape matching using random sample consensus in large Scale Point Cloud.” </a:t>
            </a:r>
            <a:r>
              <a:rPr lang="en-US" sz="1200" i="1" dirty="0">
                <a:effectLst/>
              </a:rPr>
              <a:t>Applied Sciences</a:t>
            </a:r>
            <a:r>
              <a:rPr lang="en-US" sz="1200" dirty="0">
                <a:effectLst/>
              </a:rPr>
              <a:t>,  9,  5, 2019.</a:t>
            </a:r>
          </a:p>
          <a:p>
            <a:r>
              <a:rPr lang="en-CA" sz="1200" dirty="0"/>
              <a:t>Watanabe, </a:t>
            </a:r>
            <a:r>
              <a:rPr lang="en-CA" sz="1200" dirty="0" err="1"/>
              <a:t>Sansuke</a:t>
            </a:r>
            <a:r>
              <a:rPr lang="en-CA" sz="1200" dirty="0"/>
              <a:t> M., Blanco, Pablo J., and </a:t>
            </a:r>
            <a:r>
              <a:rPr lang="en-CA" sz="1200" dirty="0" err="1"/>
              <a:t>Feijóo</a:t>
            </a:r>
            <a:r>
              <a:rPr lang="en-CA" sz="1200" dirty="0"/>
              <a:t>, Raúl A.. "Mathematical Model of Blood Flow in an Anatomically Detailed Arterial Network of the Arm." </a:t>
            </a:r>
            <a:r>
              <a:rPr lang="en-CA" sz="1200" i="1" dirty="0">
                <a:effectLst/>
              </a:rPr>
              <a:t>ESAIM: Mathematical   	Modelling and Numerical Analysis - </a:t>
            </a:r>
            <a:r>
              <a:rPr lang="en-CA" sz="1200" i="1" dirty="0" err="1">
                <a:effectLst/>
              </a:rPr>
              <a:t>Modélisation</a:t>
            </a:r>
            <a:r>
              <a:rPr lang="en-CA" sz="1200" i="1" dirty="0">
                <a:effectLst/>
              </a:rPr>
              <a:t> </a:t>
            </a:r>
            <a:r>
              <a:rPr lang="en-CA" sz="1200" i="1" dirty="0" err="1">
                <a:effectLst/>
              </a:rPr>
              <a:t>Mathématique</a:t>
            </a:r>
            <a:r>
              <a:rPr lang="en-CA" sz="1200" i="1" dirty="0">
                <a:effectLst/>
              </a:rPr>
              <a:t> et Analyse Numérique</a:t>
            </a:r>
            <a:r>
              <a:rPr lang="en-CA" sz="1200" dirty="0"/>
              <a:t> 47, 4, 2013.</a:t>
            </a:r>
            <a:endParaRPr lang="en-US" sz="1200" dirty="0">
              <a:effectLst/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</a:t>
            </a:r>
            <a:r>
              <a:rPr lang="en-CA" sz="2400" dirty="0" err="1"/>
              <a:t>imension</a:t>
            </a:r>
            <a:r>
              <a:rPr lang="en-CA" sz="2400" dirty="0"/>
              <a:t> Extraction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E0573126-EBCF-5DE9-B420-6770F516C707}"/>
              </a:ext>
            </a:extLst>
          </p:cNvPr>
          <p:cNvSpPr/>
          <p:nvPr/>
        </p:nvSpPr>
        <p:spPr>
          <a:xfrm rot="1392224">
            <a:off x="2418564" y="2133211"/>
            <a:ext cx="2700641" cy="2655983"/>
          </a:xfrm>
          <a:prstGeom prst="arc">
            <a:avLst>
              <a:gd name="adj1" fmla="val 12755381"/>
              <a:gd name="adj2" fmla="val 12687122"/>
            </a:avLst>
          </a:prstGeom>
          <a:ln w="76200">
            <a:solidFill>
              <a:srgbClr val="0DBFD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D6BBEFC-8A51-D0F5-9A64-B09A0495572A}"/>
              </a:ext>
            </a:extLst>
          </p:cNvPr>
          <p:cNvSpPr/>
          <p:nvPr/>
        </p:nvSpPr>
        <p:spPr>
          <a:xfrm rot="1392224">
            <a:off x="2418565" y="2133210"/>
            <a:ext cx="2700641" cy="2655983"/>
          </a:xfrm>
          <a:prstGeom prst="arc">
            <a:avLst>
              <a:gd name="adj1" fmla="val 12755381"/>
              <a:gd name="adj2" fmla="val 21052343"/>
            </a:avLst>
          </a:prstGeom>
          <a:ln w="76200">
            <a:solidFill>
              <a:srgbClr val="905AA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BA0C3F-21DB-ED55-5967-798EB89EE961}"/>
              </a:ext>
            </a:extLst>
          </p:cNvPr>
          <p:cNvCxnSpPr>
            <a:cxnSpLocks/>
            <a:stCxn id="12" idx="0"/>
          </p:cNvCxnSpPr>
          <p:nvPr/>
        </p:nvCxnSpPr>
        <p:spPr>
          <a:xfrm>
            <a:off x="3013471" y="2349918"/>
            <a:ext cx="207995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D9307D-6C57-D380-33FF-9F70C81C64A2}"/>
              </a:ext>
            </a:extLst>
          </p:cNvPr>
          <p:cNvCxnSpPr>
            <a:cxnSpLocks/>
          </p:cNvCxnSpPr>
          <p:nvPr/>
        </p:nvCxnSpPr>
        <p:spPr>
          <a:xfrm>
            <a:off x="3013471" y="2348975"/>
            <a:ext cx="1459470" cy="0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C55116-67F3-5493-5627-2C8F4464B651}"/>
              </a:ext>
            </a:extLst>
          </p:cNvPr>
          <p:cNvCxnSpPr>
            <a:cxnSpLocks/>
          </p:cNvCxnSpPr>
          <p:nvPr/>
        </p:nvCxnSpPr>
        <p:spPr>
          <a:xfrm flipH="1" flipV="1">
            <a:off x="4472941" y="2371007"/>
            <a:ext cx="62048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4E8D8672-08F8-B93A-D89A-B4734AAA2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" y="1123684"/>
            <a:ext cx="2086385" cy="51496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337AAFA-CD46-A0E9-37ED-F57C9F495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712" y="1184687"/>
            <a:ext cx="1871451" cy="514963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248CDBB-64E2-31DF-D6E0-19555A4595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992" b="6968"/>
          <a:stretch/>
     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/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Superior Mesenteric Artery</a:t>
                </a:r>
              </a:p>
              <a:p>
                <a:endParaRPr lang="en-CA" i="1" dirty="0">
                  <a:latin typeface="Cambria Math" panose="02040503050406030204" pitchFamily="18" charset="0"/>
                </a:endParaRPr>
              </a:p>
              <a:p>
                <a:r>
                  <a:rPr lang="en-CA" dirty="0"/>
                  <a:t>Calculated length (N =12)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CA" b="0" i="1" smtClean="0">
                        <a:latin typeface="Cambria Math" panose="02040503050406030204" pitchFamily="18" charset="0"/>
                      </a:rPr>
                      <m:t>=220.84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±0.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33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CA" b="0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CA" dirty="0"/>
              </a:p>
              <a:p>
                <a:r>
                  <a:rPr lang="en-CA" dirty="0"/>
                  <a:t>Manually measured length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=212.75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r>
                  <a:rPr lang="en-CA" dirty="0" err="1"/>
                  <a:t>Hemolab</a:t>
                </a:r>
                <a:r>
                  <a:rPr lang="en-CA" dirty="0"/>
                  <a:t> Value: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=216.79 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>
                    <a:latin typeface="Cambria Math" panose="02040503050406030204" pitchFamily="18" charset="0"/>
                  </a:rPr>
                  <a:t>Calculated radius (N = 12)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=1.79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2.79 %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=1.66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18.67 %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blipFill>
                <a:blip r:embed="rId6"/>
                <a:stretch>
                  <a:fillRect l="-1706" t="-809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CE217D-5F63-B2BF-8D2A-06B8E42D1B56}"/>
              </a:ext>
            </a:extLst>
          </p:cNvPr>
          <p:cNvCxnSpPr>
            <a:cxnSpLocks/>
          </p:cNvCxnSpPr>
          <p:nvPr/>
        </p:nvCxnSpPr>
        <p:spPr>
          <a:xfrm flipV="1">
            <a:off x="9079699" y="1706637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AE53CA-C48B-1910-D20E-CAF02EC79EBF}"/>
              </a:ext>
            </a:extLst>
          </p:cNvPr>
          <p:cNvCxnSpPr>
            <a:cxnSpLocks/>
          </p:cNvCxnSpPr>
          <p:nvPr/>
        </p:nvCxnSpPr>
        <p:spPr>
          <a:xfrm flipV="1">
            <a:off x="9134359" y="4341854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91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20757"/>
            <a:ext cx="1165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E414F"/>
                </a:solidFill>
                <a:effectLst/>
              </a:rPr>
              <a:t>Olufsen, Mette Sofie. “Structured tree outflow condition for blood flow in larger systemic arteries.” </a:t>
            </a:r>
            <a:r>
              <a:rPr lang="en-US" sz="1200" b="0" i="1" dirty="0">
                <a:solidFill>
                  <a:srgbClr val="2E414F"/>
                </a:solidFill>
                <a:effectLst/>
              </a:rPr>
              <a:t>American journal of physiology. Heart and circulatory physiology</a:t>
            </a:r>
            <a:r>
              <a:rPr lang="en-US" sz="1200" b="0" i="0" dirty="0">
                <a:solidFill>
                  <a:srgbClr val="2E414F"/>
                </a:solidFill>
                <a:effectLst/>
              </a:rPr>
              <a:t> , 276,  1, 1999</a:t>
            </a:r>
            <a:r>
              <a:rPr lang="en-US" sz="1200" dirty="0">
                <a:solidFill>
                  <a:srgbClr val="2E414F"/>
                </a:solidFill>
              </a:rPr>
              <a:t>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Network and Simplifications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8CB7F-0AFF-38AA-73E5-C682FE1B077A}"/>
              </a:ext>
            </a:extLst>
          </p:cNvPr>
          <p:cNvCxnSpPr/>
          <p:nvPr/>
        </p:nvCxnSpPr>
        <p:spPr>
          <a:xfrm flipV="1">
            <a:off x="1195251" y="1136469"/>
            <a:ext cx="0" cy="489857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EE46859-D6D2-D990-CA2C-3ADDF7B42026}"/>
              </a:ext>
            </a:extLst>
          </p:cNvPr>
          <p:cNvCxnSpPr>
            <a:cxnSpLocks/>
          </p:cNvCxnSpPr>
          <p:nvPr/>
        </p:nvCxnSpPr>
        <p:spPr>
          <a:xfrm flipV="1">
            <a:off x="1195251" y="3261052"/>
            <a:ext cx="661851" cy="172429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86B578-3A27-11CD-0DBE-9D9422EDF378}"/>
              </a:ext>
            </a:extLst>
          </p:cNvPr>
          <p:cNvCxnSpPr>
            <a:cxnSpLocks/>
          </p:cNvCxnSpPr>
          <p:nvPr/>
        </p:nvCxnSpPr>
        <p:spPr>
          <a:xfrm flipH="1" flipV="1">
            <a:off x="439782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C910EB-F1FD-F8BE-2F9A-58466EF45986}"/>
              </a:ext>
            </a:extLst>
          </p:cNvPr>
          <p:cNvCxnSpPr>
            <a:cxnSpLocks/>
          </p:cNvCxnSpPr>
          <p:nvPr/>
        </p:nvCxnSpPr>
        <p:spPr>
          <a:xfrm flipH="1" flipV="1">
            <a:off x="1476648" y="2981336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F0774D-CF89-C9FD-AC60-44764F6A270A}"/>
              </a:ext>
            </a:extLst>
          </p:cNvPr>
          <p:cNvCxnSpPr>
            <a:cxnSpLocks/>
          </p:cNvCxnSpPr>
          <p:nvPr/>
        </p:nvCxnSpPr>
        <p:spPr>
          <a:xfrm flipH="1">
            <a:off x="1476648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0B26D4-9099-02BE-20A0-AD3A198B2973}"/>
              </a:ext>
            </a:extLst>
          </p:cNvPr>
          <p:cNvCxnSpPr>
            <a:cxnSpLocks/>
          </p:cNvCxnSpPr>
          <p:nvPr/>
        </p:nvCxnSpPr>
        <p:spPr>
          <a:xfrm flipV="1">
            <a:off x="3509006" y="4985349"/>
            <a:ext cx="0" cy="104969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7248EC-E49F-B417-0D64-7447699A262D}"/>
              </a:ext>
            </a:extLst>
          </p:cNvPr>
          <p:cNvCxnSpPr>
            <a:cxnSpLocks/>
          </p:cNvCxnSpPr>
          <p:nvPr/>
        </p:nvCxnSpPr>
        <p:spPr>
          <a:xfrm flipV="1">
            <a:off x="3509006" y="3261052"/>
            <a:ext cx="0" cy="164705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EBEB58-F2BC-6A7A-D8FD-B51E7513DC74}"/>
              </a:ext>
            </a:extLst>
          </p:cNvPr>
          <p:cNvCxnSpPr>
            <a:cxnSpLocks/>
          </p:cNvCxnSpPr>
          <p:nvPr/>
        </p:nvCxnSpPr>
        <p:spPr>
          <a:xfrm flipV="1">
            <a:off x="3487235" y="1168072"/>
            <a:ext cx="0" cy="194501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FF62E-9BAF-7952-1BBA-F0EF738654D1}"/>
              </a:ext>
            </a:extLst>
          </p:cNvPr>
          <p:cNvCxnSpPr>
            <a:cxnSpLocks/>
          </p:cNvCxnSpPr>
          <p:nvPr/>
        </p:nvCxnSpPr>
        <p:spPr>
          <a:xfrm flipH="1" flipV="1">
            <a:off x="2683870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E1C829-FBFC-FFD6-E03C-4CCE7CD60E78}"/>
              </a:ext>
            </a:extLst>
          </p:cNvPr>
          <p:cNvCxnSpPr>
            <a:cxnSpLocks/>
          </p:cNvCxnSpPr>
          <p:nvPr/>
        </p:nvCxnSpPr>
        <p:spPr>
          <a:xfrm flipV="1">
            <a:off x="3561805" y="4330337"/>
            <a:ext cx="254996" cy="619348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9DCEF6C-0D57-1AC9-95D8-0654564A9B31}"/>
              </a:ext>
            </a:extLst>
          </p:cNvPr>
          <p:cNvCxnSpPr>
            <a:cxnSpLocks/>
          </p:cNvCxnSpPr>
          <p:nvPr/>
        </p:nvCxnSpPr>
        <p:spPr>
          <a:xfrm flipV="1">
            <a:off x="3860071" y="3847351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D059B0-B9A5-9796-F4FC-734620244C4D}"/>
              </a:ext>
            </a:extLst>
          </p:cNvPr>
          <p:cNvCxnSpPr>
            <a:cxnSpLocks/>
          </p:cNvCxnSpPr>
          <p:nvPr/>
        </p:nvCxnSpPr>
        <p:spPr>
          <a:xfrm flipH="1">
            <a:off x="3892730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A19BB3-B8C8-6ABC-7620-52D254EF8C98}"/>
              </a:ext>
            </a:extLst>
          </p:cNvPr>
          <p:cNvCxnSpPr>
            <a:cxnSpLocks/>
          </p:cNvCxnSpPr>
          <p:nvPr/>
        </p:nvCxnSpPr>
        <p:spPr>
          <a:xfrm flipH="1" flipV="1">
            <a:off x="3807821" y="3037585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E1A42B-1A55-5F42-E926-B291BC121C8F}"/>
              </a:ext>
            </a:extLst>
          </p:cNvPr>
          <p:cNvCxnSpPr>
            <a:cxnSpLocks/>
          </p:cNvCxnSpPr>
          <p:nvPr/>
        </p:nvCxnSpPr>
        <p:spPr>
          <a:xfrm flipV="1">
            <a:off x="4064859" y="3364366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/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lIns="108000" tIns="108000" rIns="108000" bIns="108000" rtlCol="0" anchor="ctr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den>
                          </m:f>
                        </m:e>
                        <m:sup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CA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2618BB12-C664-E47E-1E47-3C0A9A7EFD53}"/>
              </a:ext>
            </a:extLst>
          </p:cNvPr>
          <p:cNvSpPr txBox="1"/>
          <p:nvPr/>
        </p:nvSpPr>
        <p:spPr>
          <a:xfrm>
            <a:off x="7660276" y="115496"/>
            <a:ext cx="4477723" cy="6240817"/>
          </a:xfrm>
          <a:prstGeom prst="rect">
            <a:avLst/>
          </a:prstGeom>
          <a:solidFill>
            <a:srgbClr val="905AA6">
              <a:alpha val="25000"/>
            </a:srgbClr>
          </a:solidFill>
          <a:ln w="57150">
            <a:noFill/>
          </a:ln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FB7EA6-4DB5-4758-2C01-F01657621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1" r="2344"/>
          <a:stretch/>
        </p:blipFill>
        <p:spPr>
          <a:xfrm>
            <a:off x="7860361" y="196558"/>
            <a:ext cx="4158000" cy="330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CD60C4-6156-DC97-38B2-CDB0BA2C97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6" b="-1"/>
          <a:stretch/>
        </p:blipFill>
        <p:spPr>
          <a:xfrm>
            <a:off x="7860362" y="3065992"/>
            <a:ext cx="4158000" cy="3173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F6BC5E-1DDE-F4D9-128F-E5D89ADF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289" y="344248"/>
            <a:ext cx="2066940" cy="5715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0AAB71-8CD8-E745-F20E-9893626DB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183" y="3153992"/>
            <a:ext cx="2066940" cy="5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133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2563</TotalTime>
  <Words>1269</Words>
  <Application>Microsoft Office PowerPoint</Application>
  <PresentationFormat>Widescreen</PresentationFormat>
  <Paragraphs>191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Arial</vt:lpstr>
      <vt:lpstr>Calibri</vt:lpstr>
      <vt:lpstr>Calibri Light</vt:lpstr>
      <vt:lpstr>Cambria Math</vt:lpstr>
      <vt:lpstr>Roboto</vt:lpstr>
      <vt:lpstr>Retrospect</vt:lpstr>
      <vt:lpstr>Committee Meeting</vt:lpstr>
      <vt:lpstr>Agenda</vt:lpstr>
      <vt:lpstr>How heterogenous is the dose delivered to the circulating blood volume during TBI?</vt:lpstr>
      <vt:lpstr>Thesis Proposal: Reviewed</vt:lpstr>
      <vt:lpstr>PowerPoint Presentation</vt:lpstr>
      <vt:lpstr>How is dose sampled in the blood vessels?</vt:lpstr>
      <vt:lpstr>How is dose sampled in the 0D compartments?</vt:lpstr>
      <vt:lpstr>PowerPoint Presentation</vt:lpstr>
      <vt:lpstr>Sweeping Co-60</vt:lpstr>
      <vt:lpstr>Prelim Dose Results</vt:lpstr>
      <vt:lpstr>Experimental Set-Up: Minimizing Stochastic Uncertainty </vt:lpstr>
      <vt:lpstr>Prelim Dose Results: Unscaled</vt:lpstr>
      <vt:lpstr>Prelim Dose Results: Scaled</vt:lpstr>
      <vt:lpstr>Prelim Dose Results</vt:lpstr>
      <vt:lpstr>Anticipating Projects 3</vt:lpstr>
      <vt:lpstr>Publications Anticipated and Issues</vt:lpstr>
      <vt:lpstr>Publications Anticipated and Issues</vt:lpstr>
      <vt:lpstr>Big Question: Do you feel like the outlined work meets the requirement to fill the body of my thesis?</vt:lpstr>
      <vt:lpstr>Thank you.</vt:lpstr>
      <vt:lpstr>PowerPoint Presentation</vt:lpstr>
      <vt:lpstr>PowerPoint Presentation</vt:lpstr>
      <vt:lpstr>PowerPoint Presentation</vt:lpstr>
      <vt:lpstr>PowerPoint Presentation</vt:lpstr>
    </vt:vector>
  </TitlesOfParts>
  <Company>BC Clinical and Support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Committee Meeting</dc:title>
  <dc:creator>Northway, Cassidy</dc:creator>
  <cp:lastModifiedBy>cbn@student.ubc.ca</cp:lastModifiedBy>
  <cp:revision>70</cp:revision>
  <dcterms:created xsi:type="dcterms:W3CDTF">2024-07-30T22:24:27Z</dcterms:created>
  <dcterms:modified xsi:type="dcterms:W3CDTF">2026-03-03T18:26:18Z</dcterms:modified>
</cp:coreProperties>
</file>