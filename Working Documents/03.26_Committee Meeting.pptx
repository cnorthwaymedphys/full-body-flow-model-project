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sldIdLst>
    <p:sldId id="256" r:id="rId2"/>
    <p:sldId id="257" r:id="rId3"/>
    <p:sldId id="260" r:id="rId4"/>
    <p:sldId id="261" r:id="rId5"/>
    <p:sldId id="329" r:id="rId6"/>
    <p:sldId id="330" r:id="rId7"/>
    <p:sldId id="331" r:id="rId8"/>
    <p:sldId id="332" r:id="rId9"/>
    <p:sldId id="305" r:id="rId10"/>
    <p:sldId id="298" r:id="rId11"/>
    <p:sldId id="333" r:id="rId12"/>
    <p:sldId id="334" r:id="rId13"/>
    <p:sldId id="335" r:id="rId14"/>
    <p:sldId id="336" r:id="rId15"/>
    <p:sldId id="292" r:id="rId16"/>
    <p:sldId id="276" r:id="rId17"/>
    <p:sldId id="289" r:id="rId18"/>
    <p:sldId id="277" r:id="rId19"/>
    <p:sldId id="27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794" autoAdjust="0"/>
  </p:normalViewPr>
  <p:slideViewPr>
    <p:cSldViewPr snapToGrid="0">
      <p:cViewPr varScale="1">
        <p:scale>
          <a:sx n="101" d="100"/>
          <a:sy n="101" d="100"/>
        </p:scale>
        <p:origin x="7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428C8E-7BAD-4C37-9F0B-8CBDB03D4496}" type="datetimeFigureOut">
              <a:rPr lang="en-CA" smtClean="0"/>
              <a:t>27-Mar-2026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A02E5A-F865-48ED-9E9D-E266E7C2A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7288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Segars, William Paul, Jason Bond, John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Sylvia Hon, Christopher P. Eckersley, Cameron H. Williams,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Jianqiao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Feng, Daniel Jacob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Tward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J. Tilak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Ratnanather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M. I. Miller, Donald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and Ehsan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Samei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. “Population of anatomically variable 4D XCAT adult phantoms for imaging research and optimization.” </a:t>
            </a:r>
            <a:r>
              <a:rPr lang="en-CA" b="0" i="1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Medical physics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 40 4 (2013): 043701 .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5957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9E854-16ED-E826-38F6-49D7D5EA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73EFC-CC87-D3FE-E566-ED464A6A0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82C9-367D-31E6-5D55-EA5DF6B69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51CBB-A54C-D3B4-76CA-FC1736258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299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2F68B-5CDA-45F8-8FC6-8CC31496F2C0}" type="datetime1">
              <a:rPr lang="en-CA" smtClean="0"/>
              <a:t>27-Mar-2026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7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8C00-40B8-4EDA-BCF9-010BAB3E9B10}" type="datetime1">
              <a:rPr lang="en-CA" smtClean="0"/>
              <a:t>27-Mar-2026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95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BD93C-08CC-43D5-8845-C649925EFB70}" type="datetime1">
              <a:rPr lang="en-CA" smtClean="0"/>
              <a:t>27-Mar-2026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338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D09B4-FF6B-44BE-9FB1-59E724526725}" type="datetime1">
              <a:rPr lang="en-CA" smtClean="0"/>
              <a:t>27-Mar-2026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150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EDB9F-AB4A-4644-B1B1-ADD488636EFD}" type="datetime1">
              <a:rPr lang="en-CA" smtClean="0"/>
              <a:t>27-Mar-2026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249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9573-12B9-4DA2-AE6A-3DF248409BF9}" type="datetime1">
              <a:rPr lang="en-CA" smtClean="0"/>
              <a:t>27-Mar-2026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78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C2F-8CC7-4537-A6D2-E86E24CBE470}" type="datetime1">
              <a:rPr lang="en-CA" smtClean="0"/>
              <a:t>27-Mar-2026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04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20AF02B-F510-4E59-9F48-4A2B2B1C7CCC}" type="datetime1">
              <a:rPr lang="en-CA" smtClean="0"/>
              <a:t>27-Mar-2026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15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96962-FC1B-4478-9758-77DD5C261549}" type="datetime1">
              <a:rPr lang="en-CA" smtClean="0"/>
              <a:t>27-Mar-2026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657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E7550-8411-4E2E-A2AF-8A063A660948}" type="datetime1">
              <a:rPr lang="en-CA" smtClean="0"/>
              <a:t>27-Mar-2026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2936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1E27D-A925-4B3D-83F5-ECDB550EC939}" type="datetime1">
              <a:rPr lang="en-CA" smtClean="0"/>
              <a:t>27-Mar-2026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2131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5F51464-522D-45AA-8684-534AFC039EDB}" type="datetime1">
              <a:rPr lang="en-CA" smtClean="0"/>
              <a:t>27-Mar-2026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38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0360-3016(95)00164-T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.xml"/><Relationship Id="rId4" Type="http://schemas.openxmlformats.org/officeDocument/2006/relationships/image" Target="../media/image16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3C5D5-559B-DB34-F551-872857D43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01" y="643467"/>
            <a:ext cx="6255026" cy="5054008"/>
          </a:xfrm>
        </p:spPr>
        <p:txBody>
          <a:bodyPr anchor="ctr">
            <a:normAutofit/>
          </a:bodyPr>
          <a:lstStyle/>
          <a:p>
            <a:pPr algn="r"/>
            <a:r>
              <a:rPr lang="en-CA" dirty="0"/>
              <a:t>Committee Meeting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4DCCF-17DF-0EC1-4A6B-F7C87E1D8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0995" y="643467"/>
            <a:ext cx="3341488" cy="5054008"/>
          </a:xfrm>
        </p:spPr>
        <p:txBody>
          <a:bodyPr anchor="ctr">
            <a:normAutofit/>
          </a:bodyPr>
          <a:lstStyle/>
          <a:p>
            <a:r>
              <a:rPr lang="en-CA" dirty="0"/>
              <a:t>Cassidy Northway</a:t>
            </a:r>
          </a:p>
          <a:p>
            <a:r>
              <a:rPr lang="en-CA" dirty="0"/>
              <a:t>PhD Candidate</a:t>
            </a:r>
          </a:p>
          <a:p>
            <a:r>
              <a:rPr lang="en-CA" dirty="0"/>
              <a:t>March 30, 2026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B5DB-8369-9406-60F3-48F547A2C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6290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5876F-7321-AB1C-1311-FBA15F99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B8A0-D3E8-31F9-6054-2B57F998B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Review Thesis Question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Present Project 2 – Heterogeneity of Dose: Sweeping Co-60 TBI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Review Thesis Chapters: </a:t>
            </a:r>
            <a:r>
              <a:rPr lang="en-CA" sz="2400" i="1" dirty="0"/>
              <a:t>Seeking Committee Feedback</a:t>
            </a:r>
            <a:endParaRPr lang="en-CA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Graduation Timeline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Questions and Discussion</a:t>
            </a:r>
          </a:p>
          <a:p>
            <a:pPr marL="0" indent="0">
              <a:buNone/>
            </a:pPr>
            <a:r>
              <a:rPr lang="en-CA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C3F1F-161F-9BD6-659F-A051976AF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st tubes with samples on a test tube rack">
            <a:extLst>
              <a:ext uri="{FF2B5EF4-FFF2-40B4-BE49-F238E27FC236}">
                <a16:creationId xmlns:a16="http://schemas.microsoft.com/office/drawing/2014/main" id="{ACC58218-B780-A68B-7D4D-DBFEAB365E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rcRect t="14118" b="161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BA7F1E-7AD8-E0BE-C6F1-CDFB9394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200"/>
              <a:t>How heterogenous is the dose delivered to the circulating blood volume during TBI?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5BB48-05EA-2CA9-E10C-CC8AF741A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127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0988-6744-1734-F5BE-D27ADC304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CA" dirty="0"/>
              <a:t>Thesis Proposal: Reviewed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430AD-B666-A202-060D-B0383A6AD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>
            <a:normAutofit/>
          </a:bodyPr>
          <a:lstStyle/>
          <a:p>
            <a:r>
              <a:rPr lang="en-US" dirty="0"/>
              <a:t>In-silico, track the flow of blood voxels through a </a:t>
            </a:r>
            <a:r>
              <a:rPr lang="en-US" u="sng" dirty="0"/>
              <a:t>whole-body phantom</a:t>
            </a:r>
            <a:r>
              <a:rPr lang="en-US" dirty="0"/>
              <a:t> undergoing TBI, calculate their cumulative dose, and compare the dose to the voxels.</a:t>
            </a:r>
          </a:p>
          <a:p>
            <a:r>
              <a:rPr lang="en-US" dirty="0"/>
              <a:t>Whole Body Phantom (4D XCAT) model unites a blood flow model and Monte Carlo (MC) Simulations to determine dose.</a:t>
            </a:r>
          </a:p>
          <a:p>
            <a:r>
              <a:rPr lang="en-US" dirty="0"/>
              <a:t>Model the following delivery methods in MC: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Sweeping Co-60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VMAT TBI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BCC – Vancouver Technique (POP + VMAT)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Variations (VMAT only, varying optimization goals)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263E8-46DC-95E0-079F-D585E49A64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65" r="1345"/>
          <a:stretch/>
        </p:blipFill>
        <p:spPr>
          <a:xfrm>
            <a:off x="8020570" y="1916318"/>
            <a:ext cx="3564878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4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3C22-B5E0-9F0C-ED4F-B14C6F43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CF76A-6B00-71A8-E7B8-930D4109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2BDCA1-A3B8-3F20-2A2D-94F719471BA8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A2945C-F032-4DED-3EC0-A2626EB973C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32B113-F1DA-123F-4B2A-1CFCE3858FAC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0E8D7DD-89F1-DBF4-2E8C-98011990DB6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373198B-CF85-1091-BB1C-7ED0AC4D9C0B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B64D34-DA9A-9F8C-A80C-9995F2055B68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8687A73-8DFF-EC7B-A648-0831E0BDB2C3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3803C2-8962-256C-1C21-B13BF7BCBD3B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487385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E22C5-C2B5-23DF-BF45-19159172D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dose sampled in the blood vessels?</a:t>
            </a:r>
            <a:endParaRPr lang="en-CA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9D91EA4-614D-905C-2885-470C16C4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899" y="1846263"/>
            <a:ext cx="6144528" cy="40227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64DB3-73DD-DC12-9EC0-102FD0E34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6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E91F48-EF63-E670-5CB7-A02DA59D19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208" y="1737360"/>
            <a:ext cx="2118360" cy="39272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BCA739D-465C-AC0E-C157-56A2C62FA738}"/>
              </a:ext>
            </a:extLst>
          </p:cNvPr>
          <p:cNvSpPr/>
          <p:nvPr/>
        </p:nvSpPr>
        <p:spPr>
          <a:xfrm>
            <a:off x="3524250" y="5266215"/>
            <a:ext cx="5514975" cy="4610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8C1166-9EBE-934F-BEED-95AA3F6CA4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1588" y="5344320"/>
            <a:ext cx="462915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133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4DBBA-B4B5-5C24-2703-DC418BB5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C40F4-8F37-FE15-D690-68425DD7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dose sampled in the 0D compartments?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86CAD-9390-940E-6488-F65CA2E5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7</a:t>
            </a:fld>
            <a:endParaRPr lang="en-CA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075ACD8-175F-2731-428F-130F975178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238" y="1846263"/>
            <a:ext cx="3965524" cy="43873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4A3601-BFDB-0D02-8260-77E7DC274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00" y="1738800"/>
            <a:ext cx="2115495" cy="39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98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71BD1-4E07-89AD-E95B-E2FCF3F3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Set-Up: </a:t>
            </a:r>
            <a:r>
              <a:rPr lang="en-US" sz="4000" dirty="0"/>
              <a:t>Minimizing Uncertainty 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01A52-1201-D79F-3910-BF7CA817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Three sources of uncertainty:</a:t>
            </a:r>
            <a:endParaRPr lang="en-CA" dirty="0"/>
          </a:p>
          <a:p>
            <a:pPr marL="457200" indent="-457200">
              <a:buFont typeface="+mj-lt"/>
              <a:buAutoNum type="arabicPeriod"/>
            </a:pPr>
            <a:r>
              <a:rPr lang="en-CA" dirty="0"/>
              <a:t>4D Dose Simulations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Number of particles simulated (Stochastic)</a:t>
            </a:r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 Run each sweep of the Co-60 head as its own simulation with 2E11 particles. Each sweep takes ~20 hrs to calculate </a:t>
            </a:r>
          </a:p>
          <a:p>
            <a:pPr marL="749808" lvl="1" indent="-457200">
              <a:buFont typeface="+mj-lt"/>
              <a:buAutoNum type="arabicPeriod"/>
            </a:pPr>
            <a:r>
              <a:rPr lang="en-CA" dirty="0"/>
              <a:t>Size of time bin used to sample dose data</a:t>
            </a:r>
          </a:p>
          <a:p>
            <a:pPr marL="932688" lvl="2" indent="-457200"/>
            <a:r>
              <a:rPr lang="en-CA" dirty="0"/>
              <a:t>↑ time bin size = </a:t>
            </a:r>
            <a:r>
              <a:rPr lang="en-CA" b="1" dirty="0"/>
              <a:t>↓ time resolution = ↑ positional averaging &amp; ↑ particle number uncertainty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Determine the time bin which minimizes </a:t>
            </a:r>
            <a:endParaRPr lang="en-CA" b="1" dirty="0"/>
          </a:p>
          <a:p>
            <a:pPr marL="457200" indent="-457200">
              <a:buFont typeface="+mj-lt"/>
              <a:buAutoNum type="arabicPeriod"/>
            </a:pPr>
            <a:r>
              <a:rPr lang="en-CA" dirty="0"/>
              <a:t>Number of BVs Simulated (Stochastic)</a:t>
            </a:r>
            <a:endParaRPr lang="en-US" dirty="0"/>
          </a:p>
          <a:p>
            <a:pPr marL="932688" lvl="2" indent="-457200"/>
            <a:r>
              <a:rPr lang="en-CA" dirty="0"/>
              <a:t>↑ the number of particles simulated = ↓ stochastic uncertainty = </a:t>
            </a:r>
            <a:r>
              <a:rPr lang="en-CA" b="1" dirty="0"/>
              <a:t>↑ simulation time </a:t>
            </a:r>
          </a:p>
          <a:p>
            <a:pPr marL="932688" lvl="2" indent="-457200"/>
            <a:r>
              <a:rPr lang="en-CA" b="1" dirty="0"/>
              <a:t>Solution: </a:t>
            </a:r>
            <a:r>
              <a:rPr lang="en-CA" dirty="0"/>
              <a:t>Characterize the mean and std of the dose to the BVs as a function of BV number</a:t>
            </a:r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37BDC-2374-9C9A-6430-E0C96632A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5336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8130-042B-B4E1-C9AA-68BC013F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4CA3-D4E6-1779-B582-CDACDAEF0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9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58722A-0186-76C8-81DB-DBCB03E1299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69EA45-4B9B-A788-FC47-69F62B2EFCC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B3B9F3-CB13-05BF-F629-5A4735F3A304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9784DD-7BC5-8411-A8DD-A6866B6B3705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0F56B8-79E3-0FDB-1B88-8599F40DDAB7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A06013-D998-FFA0-934C-7F382C260B25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68E942-D279-4FAC-52BB-6709C4675376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745A920-7684-4CF8-06D5-E318D761DA5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255193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FF005-D8FC-3965-09EF-C0002C95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Sweeping Co-60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ED8643-5835-2426-FCF3-559F7D4DD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9040" y="1825778"/>
            <a:ext cx="4704080" cy="398319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AFD76-019F-9BFE-F23A-7BC798F1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10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F293EE-6355-47C9-B385-5139240142A0}"/>
              </a:ext>
            </a:extLst>
          </p:cNvPr>
          <p:cNvSpPr txBox="1"/>
          <p:nvPr/>
        </p:nvSpPr>
        <p:spPr>
          <a:xfrm>
            <a:off x="0" y="6411514"/>
            <a:ext cx="1076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S. Hussein and E. </a:t>
            </a:r>
            <a:r>
              <a:rPr lang="en-CA" sz="1200" dirty="0" err="1"/>
              <a:t>el</a:t>
            </a:r>
            <a:r>
              <a:rPr lang="en-CA" sz="1200" dirty="0"/>
              <a:t>-Khatib, “Total body irradiation with a sweeping 60Cobalt beam,” Int J </a:t>
            </a:r>
            <a:r>
              <a:rPr lang="en-CA" sz="1200" dirty="0" err="1"/>
              <a:t>Radiat</a:t>
            </a:r>
            <a:r>
              <a:rPr lang="en-CA" sz="1200" dirty="0"/>
              <a:t> Oncol Biol Phys, vol. 33, no. 2, pp. 493–497, Sept. 1995, </a:t>
            </a:r>
            <a:r>
              <a:rPr lang="en-CA" sz="1200" dirty="0" err="1"/>
              <a:t>doi</a:t>
            </a:r>
            <a:r>
              <a:rPr lang="en-CA" sz="1200" dirty="0"/>
              <a:t>: </a:t>
            </a:r>
            <a:r>
              <a:rPr lang="en-CA" sz="1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10.1016/0360-3016(95)00164-T</a:t>
            </a:r>
            <a:r>
              <a:rPr lang="en-CA" sz="1200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C2F8C3-687B-3CA4-A929-FFDE180323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252" y="1825778"/>
            <a:ext cx="4677428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85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ED77B-6BF2-1082-1FF3-25EF66FDBB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Thesis Chapter Outline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4D0E9B-5E79-2430-38F0-B7BA297DC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1E02-FA88-6CA8-C1F0-FA56D37E6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0205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047AA-E93E-D398-80E2-EE3511D69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12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44A77-A0BB-FE78-6EC9-38299DB6DA6A}"/>
              </a:ext>
            </a:extLst>
          </p:cNvPr>
          <p:cNvSpPr txBox="1"/>
          <p:nvPr/>
        </p:nvSpPr>
        <p:spPr>
          <a:xfrm>
            <a:off x="658761" y="462116"/>
            <a:ext cx="1133003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thesis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Provide context for research and summarize the content of the thesis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Radiation Therapy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Principles of RT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Treatment Devices (Co-60 and Linac)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Introduction to Total Body Irradiation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Hematological malignancies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History of TBI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Modern TBI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Developing a Whole-Body Blood Flow Model for Dosimetric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Blood Flow Modelling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Determining Dose to the Circulating Blood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Intro to Monte Carlo, </a:t>
            </a:r>
            <a:r>
              <a:rPr lang="en-CA" sz="2000" dirty="0" err="1"/>
              <a:t>EGSnrc</a:t>
            </a:r>
            <a:r>
              <a:rPr lang="en-CA" sz="2000" dirty="0"/>
              <a:t> and 4ddose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Comparing Dose to Blood Achieved by Various TBI Delivery Methods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Methods, Results, Discussion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2000" dirty="0"/>
              <a:t>Future Work and Conclusion </a:t>
            </a:r>
          </a:p>
        </p:txBody>
      </p:sp>
    </p:spTree>
    <p:extLst>
      <p:ext uri="{BB962C8B-B14F-4D97-AF65-F5344CB8AC3E}">
        <p14:creationId xmlns:p14="http://schemas.microsoft.com/office/powerpoint/2010/main" val="114201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106-55F0-72D6-E38C-FA3C695471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/>
              <a:t>Graduation Timeline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9E0A3F-B2A3-D9DA-E0B8-BAD60169EA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9765-9749-4810-C154-9B68EF62C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9825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5A03C-ECD6-AD9B-70ED-91279B51D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DE98C-AF71-3EC2-1AA2-48A07353A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Began September 2020 -&gt; Deadline would be August 2026</a:t>
            </a:r>
          </a:p>
          <a:p>
            <a:r>
              <a:rPr lang="en-CA" dirty="0"/>
              <a:t>Request an extension to this deadline (2 term)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D6FCF-7365-8B41-934E-10F60AE6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6117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8983D-EBB6-683C-94AD-CAED3B79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Thank you.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CB0118-3CE2-03A0-E7ED-D643FAD1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88362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sz="2400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sz="2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sz="24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96678" y="114299"/>
            <a:ext cx="7017026" cy="48487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53EA24-AA01-D04B-4477-0DF34E1A6E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000" y="575964"/>
            <a:ext cx="3068907" cy="5689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A8C40-19C4-785F-592F-B96D3B0198A2}"/>
              </a:ext>
            </a:extLst>
          </p:cNvPr>
          <p:cNvSpPr txBox="1"/>
          <p:nvPr/>
        </p:nvSpPr>
        <p:spPr>
          <a:xfrm>
            <a:off x="5194997" y="3723863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6EE72-8663-E2CD-4FB2-D2AA94EDEE73}"/>
              </a:ext>
            </a:extLst>
          </p:cNvPr>
          <p:cNvSpPr txBox="1"/>
          <p:nvPr/>
        </p:nvSpPr>
        <p:spPr>
          <a:xfrm>
            <a:off x="6891130" y="748748"/>
            <a:ext cx="2730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0000FF"/>
                </a:solidFill>
              </a:rPr>
              <a:t>All Blood Voxels Released</a:t>
            </a:r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8F18-624E-72B0-2F9C-FAF6135E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B3B9F-45E8-0432-FBDD-6C1EFD49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681CE-DF11-4CB9-66AA-61F08C1B6123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A4DA4C74-0F02-28AD-D7F1-ABA040AE41D9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74AE0-C253-63A5-9B51-D26A5C53E9DD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1F85F-8D1F-980C-754F-DA009D2FA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789BBE7-8CE1-AAA0-E56E-30EB999D7CE3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/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blipFill>
                <a:blip r:embed="rId4"/>
                <a:stretch>
                  <a:fillRect b="-14103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47E4B4D4-9F79-6698-665F-BDCC3927EE31}"/>
              </a:ext>
            </a:extLst>
          </p:cNvPr>
          <p:cNvGraphicFramePr>
            <a:graphicFrameLocks/>
          </p:cNvGraphicFramePr>
          <p:nvPr/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942064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3178</TotalTime>
  <Words>873</Words>
  <Application>Microsoft Office PowerPoint</Application>
  <PresentationFormat>Widescreen</PresentationFormat>
  <Paragraphs>123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Cambria Math</vt:lpstr>
      <vt:lpstr>Roboto</vt:lpstr>
      <vt:lpstr>Retrospect</vt:lpstr>
      <vt:lpstr>Committee Meeting</vt:lpstr>
      <vt:lpstr>Agenda</vt:lpstr>
      <vt:lpstr>How heterogenous is the dose delivered to the circulating blood volume during TBI?</vt:lpstr>
      <vt:lpstr>Thesis Proposal: Reviewed</vt:lpstr>
      <vt:lpstr>PowerPoint Presentation</vt:lpstr>
      <vt:lpstr>How is dose sampled in the blood vessels?</vt:lpstr>
      <vt:lpstr>How is dose sampled in the 0D compartments?</vt:lpstr>
      <vt:lpstr>Experimental Set-Up: Minimizing Uncertainty </vt:lpstr>
      <vt:lpstr>PowerPoint Presentation</vt:lpstr>
      <vt:lpstr>Sweeping Co-60</vt:lpstr>
      <vt:lpstr>Thesis Chapter Outline</vt:lpstr>
      <vt:lpstr>PowerPoint Presentation</vt:lpstr>
      <vt:lpstr>Graduation Timeline</vt:lpstr>
      <vt:lpstr>Timeline</vt:lpstr>
      <vt:lpstr>Thank you.</vt:lpstr>
      <vt:lpstr>PowerPoint Presentation</vt:lpstr>
      <vt:lpstr>PowerPoint Presentation</vt:lpstr>
      <vt:lpstr>PowerPoint Presentation</vt:lpstr>
      <vt:lpstr>PowerPoint Presentation</vt:lpstr>
    </vt:vector>
  </TitlesOfParts>
  <Company>BC Clinical and Support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Committee Meeting</dc:title>
  <dc:creator>Northway, Cassidy</dc:creator>
  <cp:lastModifiedBy>Northway, Cassidy</cp:lastModifiedBy>
  <cp:revision>87</cp:revision>
  <dcterms:created xsi:type="dcterms:W3CDTF">2024-07-30T22:24:27Z</dcterms:created>
  <dcterms:modified xsi:type="dcterms:W3CDTF">2026-03-27T22:19:58Z</dcterms:modified>
</cp:coreProperties>
</file>