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0"/>
  </p:notesMasterIdLst>
  <p:sldIdLst>
    <p:sldId id="256" r:id="rId2"/>
    <p:sldId id="257" r:id="rId3"/>
    <p:sldId id="260" r:id="rId4"/>
    <p:sldId id="261" r:id="rId5"/>
    <p:sldId id="329" r:id="rId6"/>
    <p:sldId id="347" r:id="rId7"/>
    <p:sldId id="331" r:id="rId8"/>
    <p:sldId id="330" r:id="rId9"/>
    <p:sldId id="332" r:id="rId10"/>
    <p:sldId id="344" r:id="rId11"/>
    <p:sldId id="346" r:id="rId12"/>
    <p:sldId id="333" r:id="rId13"/>
    <p:sldId id="334" r:id="rId14"/>
    <p:sldId id="337" r:id="rId15"/>
    <p:sldId id="338" r:id="rId16"/>
    <p:sldId id="339" r:id="rId17"/>
    <p:sldId id="342" r:id="rId18"/>
    <p:sldId id="343" r:id="rId19"/>
    <p:sldId id="341" r:id="rId20"/>
    <p:sldId id="335" r:id="rId21"/>
    <p:sldId id="336" r:id="rId22"/>
    <p:sldId id="292" r:id="rId23"/>
    <p:sldId id="298" r:id="rId24"/>
    <p:sldId id="305" r:id="rId25"/>
    <p:sldId id="276" r:id="rId26"/>
    <p:sldId id="289" r:id="rId27"/>
    <p:sldId id="277" r:id="rId28"/>
    <p:sldId id="278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794" autoAdjust="0"/>
  </p:normalViewPr>
  <p:slideViewPr>
    <p:cSldViewPr snapToGrid="0">
      <p:cViewPr varScale="1">
        <p:scale>
          <a:sx n="105" d="100"/>
          <a:sy n="105" d="100"/>
        </p:scale>
        <p:origin x="6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428C8E-7BAD-4C37-9F0B-8CBDB03D4496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A02E5A-F865-48ED-9E9D-E266E7C2A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7288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Segars, William Paul, Jason Bond, John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Sylvia Hon, Christopher P. Eckersley, Cameron H. Williams,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Jianqiao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Feng, Daniel Jacob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Tward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J. Tilak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Ratnanather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M. I. Miller, Donald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and Ehsan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Samei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. “Population of anatomically variable 4D XCAT adult phantoms for imaging research and optimization.” </a:t>
            </a:r>
            <a:r>
              <a:rPr lang="en-CA" b="0" i="1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Medical physics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 40 4 (2013): 043701 .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57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2F68B-5CDA-45F8-8FC6-8CC31496F2C0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7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8C00-40B8-4EDA-BCF9-010BAB3E9B10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95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BD93C-08CC-43D5-8845-C649925EFB70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338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D09B4-FF6B-44BE-9FB1-59E724526725}" type="datetime1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150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EDB9F-AB4A-4644-B1B1-ADD488636EFD}" type="datetime1">
              <a:rPr lang="en-CA" smtClean="0"/>
              <a:t>2026-03-30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249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9573-12B9-4DA2-AE6A-3DF248409BF9}" type="datetime1">
              <a:rPr lang="en-CA" smtClean="0"/>
              <a:t>2026-03-30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78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C2F-8CC7-4537-A6D2-E86E24CBE470}" type="datetime1">
              <a:rPr lang="en-CA" smtClean="0"/>
              <a:t>2026-03-30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4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20AF02B-F510-4E59-9F48-4A2B2B1C7CCC}" type="datetime1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15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96962-FC1B-4478-9758-77DD5C261549}" type="datetime1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657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E7550-8411-4E2E-A2AF-8A063A660948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93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1E27D-A925-4B3D-83F5-ECDB550EC939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2131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5F51464-522D-45AA-8684-534AFC039EDB}" type="datetime1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38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0360-3016(95)00164-T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.xml"/><Relationship Id="rId4" Type="http://schemas.openxmlformats.org/officeDocument/2006/relationships/image" Target="../media/image16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3C5D5-559B-DB34-F551-872857D43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1" y="643467"/>
            <a:ext cx="6255026" cy="5054008"/>
          </a:xfrm>
        </p:spPr>
        <p:txBody>
          <a:bodyPr anchor="ctr">
            <a:normAutofit/>
          </a:bodyPr>
          <a:lstStyle/>
          <a:p>
            <a:pPr algn="r"/>
            <a:r>
              <a:rPr lang="en-CA" dirty="0"/>
              <a:t>Committee Meeting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4DCCF-17DF-0EC1-4A6B-F7C87E1D8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0995" y="643467"/>
            <a:ext cx="3341488" cy="5054008"/>
          </a:xfrm>
        </p:spPr>
        <p:txBody>
          <a:bodyPr anchor="ctr">
            <a:normAutofit/>
          </a:bodyPr>
          <a:lstStyle/>
          <a:p>
            <a:r>
              <a:rPr lang="en-CA" dirty="0"/>
              <a:t>Cassidy Northway</a:t>
            </a:r>
          </a:p>
          <a:p>
            <a:r>
              <a:rPr lang="en-CA" dirty="0"/>
              <a:t>PhD Candidate</a:t>
            </a:r>
          </a:p>
          <a:p>
            <a:r>
              <a:rPr lang="en-CA" dirty="0"/>
              <a:t>March 30, 2026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B5DB-8369-9406-60F3-48F547A2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629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876F-7321-AB1C-1311-FBA15F99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B8A0-D3E8-31F9-6054-2B57F998B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Question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Present Current Methodology: Determining Dose to Circulating Blood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Chapters: </a:t>
            </a:r>
            <a:r>
              <a:rPr lang="en-CA" sz="2400" i="1" dirty="0"/>
              <a:t>Seeking Committee Feedback</a:t>
            </a:r>
            <a:endParaRPr lang="en-CA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Graduation Timeline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Questions and Discussion</a:t>
            </a:r>
          </a:p>
          <a:p>
            <a:pPr marL="0" indent="0">
              <a:buNone/>
            </a:pPr>
            <a:r>
              <a:rPr lang="en-CA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C3F1F-161F-9BD6-659F-A051976A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st tubes with samples on a test tube rack">
            <a:extLst>
              <a:ext uri="{FF2B5EF4-FFF2-40B4-BE49-F238E27FC236}">
                <a16:creationId xmlns:a16="http://schemas.microsoft.com/office/drawing/2014/main" id="{ACC58218-B780-A68B-7D4D-DBFEAB365E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rcRect t="14118" b="161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BA7F1E-7AD8-E0BE-C6F1-CDFB9394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200"/>
              <a:t>How heterogenous is the dose delivered to the circulating blood volume during TBI?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5BB48-05EA-2CA9-E10C-CC8AF741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127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0988-6744-1734-F5BE-D27ADC30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CA" dirty="0"/>
              <a:t>Thesis Proposal: Reviewed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430AD-B666-A202-060D-B0383A6AD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en-US" dirty="0"/>
              <a:t>In-silico, track the flow of blood voxels through a </a:t>
            </a:r>
            <a:r>
              <a:rPr lang="en-US" u="sng" dirty="0"/>
              <a:t>whole-body phantom</a:t>
            </a:r>
            <a:r>
              <a:rPr lang="en-US" dirty="0"/>
              <a:t> undergoing TBI, calculate their cumulative dose, and compare the dose to the voxels.</a:t>
            </a:r>
          </a:p>
          <a:p>
            <a:r>
              <a:rPr lang="en-US" dirty="0"/>
              <a:t>Whole Body Phantom (4D XCAT) model unites a blood flow model and Monte Carlo (MC) Simulations to determine dose.</a:t>
            </a:r>
          </a:p>
          <a:p>
            <a:r>
              <a:rPr lang="en-US" dirty="0"/>
              <a:t>Model the following delivery methods in MC: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Sweeping Co-60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VMAT TBI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BCC – Vancouver Technique (POP + VMAT)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Variations (VMAT only, varying optimization goals)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263E8-46DC-95E0-079F-D585E49A6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65" r="1345"/>
          <a:stretch/>
        </p:blipFill>
        <p:spPr>
          <a:xfrm>
            <a:off x="8020570" y="1916318"/>
            <a:ext cx="3564878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4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3C22-B5E0-9F0C-ED4F-B14C6F43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F76A-6B00-71A8-E7B8-930D4109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2BDCA1-A3B8-3F20-2A2D-94F719471BA8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A2945C-F032-4DED-3EC0-A2626EB973C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32B113-F1DA-123F-4B2A-1CFCE3858FAC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0E8D7DD-89F1-DBF4-2E8C-98011990DB6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73198B-CF85-1091-BB1C-7ED0AC4D9C0B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B64D34-DA9A-9F8C-A80C-9995F2055B68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8687A73-8DFF-EC7B-A648-0831E0BDB2C3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3803C2-8962-256C-1C21-B13BF7BCBD3B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487385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05E1-63E5-295F-73E3-EEDEBE708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4ddose Outputs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5038A-3470-6D62-6068-E96098B7D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6</a:t>
            </a:fld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F1C6F4-AC38-4FFB-DD4F-8C42A2BB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963" y="2184167"/>
            <a:ext cx="10058400" cy="334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94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4DBBA-B4B5-5C24-2703-DC418BB5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C40F4-8F37-FE15-D690-68425DD7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0D compartments?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86CAD-9390-940E-6488-F65CA2E5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7</a:t>
            </a:fld>
            <a:endParaRPr lang="en-CA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075ACD8-175F-2731-428F-130F975178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238" y="1846263"/>
            <a:ext cx="3965524" cy="4387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4A3601-BFDB-0D02-8260-77E7DC274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00" y="1738800"/>
            <a:ext cx="2115495" cy="39261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1529F1-B6F8-7DFA-0E00-D95097C5C022}"/>
              </a:ext>
            </a:extLst>
          </p:cNvPr>
          <p:cNvSpPr txBox="1"/>
          <p:nvPr/>
        </p:nvSpPr>
        <p:spPr>
          <a:xfrm>
            <a:off x="7347242" y="5664964"/>
            <a:ext cx="48916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900" dirty="0" err="1"/>
              <a:t>dst</a:t>
            </a:r>
            <a:r>
              <a:rPr lang="en-CA" sz="900" dirty="0"/>
              <a:t> (s)</a:t>
            </a:r>
          </a:p>
        </p:txBody>
      </p:sp>
    </p:spTree>
    <p:extLst>
      <p:ext uri="{BB962C8B-B14F-4D97-AF65-F5344CB8AC3E}">
        <p14:creationId xmlns:p14="http://schemas.microsoft.com/office/powerpoint/2010/main" val="246598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E22C5-C2B5-23DF-BF45-19159172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blood vessels?</a:t>
            </a:r>
            <a:endParaRPr lang="en-CA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D91EA4-614D-905C-2885-470C16C4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899" y="1846263"/>
            <a:ext cx="6144528" cy="4022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64DB3-73DD-DC12-9EC0-102FD0E34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8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91F48-EF63-E670-5CB7-A02DA59D19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208" y="1737360"/>
            <a:ext cx="2118360" cy="39272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BCA739D-465C-AC0E-C157-56A2C62FA738}"/>
              </a:ext>
            </a:extLst>
          </p:cNvPr>
          <p:cNvSpPr/>
          <p:nvPr/>
        </p:nvSpPr>
        <p:spPr>
          <a:xfrm>
            <a:off x="3515106" y="5202205"/>
            <a:ext cx="5546598" cy="558515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8C1166-9EBE-934F-BEED-95AA3F6CA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5284" y="5315346"/>
            <a:ext cx="462915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725778-BB2F-3217-7DFA-3524179E705C}"/>
              </a:ext>
            </a:extLst>
          </p:cNvPr>
          <p:cNvSpPr txBox="1"/>
          <p:nvPr/>
        </p:nvSpPr>
        <p:spPr>
          <a:xfrm>
            <a:off x="7717536" y="4169664"/>
            <a:ext cx="37490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900" dirty="0" err="1"/>
              <a:t>dst</a:t>
            </a:r>
            <a:endParaRPr lang="en-CA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68D3C7-4AC7-6725-4E0C-81953EE78B57}"/>
              </a:ext>
            </a:extLst>
          </p:cNvPr>
          <p:cNvSpPr txBox="1"/>
          <p:nvPr/>
        </p:nvSpPr>
        <p:spPr>
          <a:xfrm>
            <a:off x="6229768" y="5315346"/>
            <a:ext cx="3447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900" dirty="0" err="1"/>
              <a:t>dst</a:t>
            </a:r>
            <a:r>
              <a:rPr lang="en-CA" sz="900" dirty="0"/>
              <a:t> (s) </a:t>
            </a:r>
          </a:p>
        </p:txBody>
      </p:sp>
    </p:spTree>
    <p:extLst>
      <p:ext uri="{BB962C8B-B14F-4D97-AF65-F5344CB8AC3E}">
        <p14:creationId xmlns:p14="http://schemas.microsoft.com/office/powerpoint/2010/main" val="3781331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71BD1-4E07-89AD-E95B-E2FCF3F3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Set-Up: </a:t>
            </a:r>
            <a:r>
              <a:rPr lang="en-US" sz="4000" dirty="0"/>
              <a:t>Minimizing Uncertainty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01A52-1201-D79F-3910-BF7CA817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Three sources of uncertainty:</a:t>
            </a: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4D Dose Simulations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Number of particles simulated (Stochastic)</a:t>
            </a:r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 Run each sweep of the Co-60 head as its own simulation with 2E11 particles. Each sweep takes ~20 hrs to calculate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37BDC-2374-9C9A-6430-E0C96632A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5336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F5BA-8435-EA26-BCCC-AAA4FEE1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56004-3CD9-59E3-5A19-7DE88765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Set-Up: </a:t>
            </a:r>
            <a:r>
              <a:rPr lang="en-US" sz="4000" dirty="0"/>
              <a:t>Minimizing Uncertainty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DB4EF-0212-2016-6BF2-04E263BB5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Three sources of uncertainty:</a:t>
            </a: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4D Dose Simulations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Number of particles simulated (Stochastic)</a:t>
            </a:r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 Run each sweep of the Co-60 head as its own simulation with 2E11 particles. Each sweep takes ~20 hrs to calculate 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Size of time bin used to sample dose data</a:t>
            </a:r>
          </a:p>
          <a:p>
            <a:pPr marL="932688" lvl="2" indent="-457200"/>
            <a:r>
              <a:rPr lang="en-CA" dirty="0"/>
              <a:t>↑ time bin size = </a:t>
            </a:r>
            <a:r>
              <a:rPr lang="en-CA" b="1" dirty="0"/>
              <a:t>↓ time resolution = ↑ positional averaging &amp; ↑ particle number / dose uncertainty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Determine the significance of </a:t>
            </a:r>
            <a:r>
              <a:rPr lang="en-CA" dirty="0" err="1"/>
              <a:t>dst</a:t>
            </a:r>
            <a:r>
              <a:rPr lang="en-CA" dirty="0"/>
              <a:t> on mean and std of dose (</a:t>
            </a:r>
            <a:r>
              <a:rPr lang="en-CA" u="sng" dirty="0"/>
              <a:t>Currently running</a:t>
            </a:r>
            <a:r>
              <a:rPr lang="en-CA" dirty="0"/>
              <a:t>)</a:t>
            </a:r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A5639-9999-F0A3-F08C-FDEF11C2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10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BE2713-BD67-2697-28FE-61BE0204C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277" y="4139155"/>
            <a:ext cx="3023878" cy="664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EB94F9-1184-4A38-46DC-97F696BCD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277" y="5046657"/>
            <a:ext cx="3258005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117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6567-C529-FCB0-255E-44AA63A9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C4AD7-4A49-3C80-0449-C8CAEE929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Set-Up: </a:t>
            </a:r>
            <a:r>
              <a:rPr lang="en-US" sz="4000" dirty="0"/>
              <a:t>Minimizing Uncertainty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D4F49-86CD-0B8A-2F61-0586155C0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Three sources of uncertainty:</a:t>
            </a: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4D Dose Simulations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Number of particles simulated (Stochastic)</a:t>
            </a:r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 Run each sweep of the Co-60 head as its own simulation with 2E11 particles. Each sweep takes ~20 hrs to calculate 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Size of time bin used to sample dose data</a:t>
            </a:r>
          </a:p>
          <a:p>
            <a:pPr marL="932688" lvl="2" indent="-457200"/>
            <a:r>
              <a:rPr lang="en-CA" dirty="0"/>
              <a:t>↑ time bin size = </a:t>
            </a:r>
            <a:r>
              <a:rPr lang="en-CA" b="1" dirty="0"/>
              <a:t>↓ time resolution = ↑ positional averaging &amp; ↑ particle number / dose uncertainty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Determine the significance of </a:t>
            </a:r>
            <a:r>
              <a:rPr lang="en-CA" dirty="0" err="1"/>
              <a:t>dst</a:t>
            </a:r>
            <a:r>
              <a:rPr lang="en-CA" dirty="0"/>
              <a:t> on mean and std of dose</a:t>
            </a:r>
            <a:endParaRPr lang="en-CA" b="1" dirty="0"/>
          </a:p>
          <a:p>
            <a:pPr marL="457200" indent="-457200">
              <a:buFont typeface="+mj-lt"/>
              <a:buAutoNum type="arabicPeriod" startAt="3"/>
            </a:pPr>
            <a:r>
              <a:rPr lang="en-CA" dirty="0"/>
              <a:t>Number of BVs Simulated (Stochastic)</a:t>
            </a:r>
            <a:endParaRPr lang="en-US" dirty="0"/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Characterize the mean and std of the dose to the BVs as a function of BV number</a:t>
            </a:r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857D01-9AEA-DDB0-91F7-5C37DAEB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1860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ED77B-6BF2-1082-1FF3-25EF66FDBB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Thesis Chapter Outline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4D0E9B-5E79-2430-38F0-B7BA297DC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1E02-FA88-6CA8-C1F0-FA56D37E6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0205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47AA-E93E-D398-80E2-EE3511D69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13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44A77-A0BB-FE78-6EC9-38299DB6DA6A}"/>
              </a:ext>
            </a:extLst>
          </p:cNvPr>
          <p:cNvSpPr txBox="1"/>
          <p:nvPr/>
        </p:nvSpPr>
        <p:spPr>
          <a:xfrm>
            <a:off x="658761" y="462116"/>
            <a:ext cx="113300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14201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E1E28-CDF4-5828-1932-32D2E1A7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76D73-A64A-39FC-DEE5-3BBD1173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14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36CB5-B843-E191-FCA6-12F750F5A63E}"/>
              </a:ext>
            </a:extLst>
          </p:cNvPr>
          <p:cNvSpPr txBox="1"/>
          <p:nvPr/>
        </p:nvSpPr>
        <p:spPr>
          <a:xfrm>
            <a:off x="658761" y="462116"/>
            <a:ext cx="113300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854346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56909-D316-2C14-A198-FF28B389B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30A5-3034-78E5-871E-60255914D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15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363CF-DC55-CC7F-A4F8-BFF50C00CA19}"/>
              </a:ext>
            </a:extLst>
          </p:cNvPr>
          <p:cNvSpPr txBox="1"/>
          <p:nvPr/>
        </p:nvSpPr>
        <p:spPr>
          <a:xfrm>
            <a:off x="658761" y="462116"/>
            <a:ext cx="1133003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396822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C970F-1B9A-0341-AA79-42626611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95354-C190-6285-D056-5062B8173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16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39E709-3AC0-BBC0-BF82-662F13FA8C7E}"/>
              </a:ext>
            </a:extLst>
          </p:cNvPr>
          <p:cNvSpPr txBox="1"/>
          <p:nvPr/>
        </p:nvSpPr>
        <p:spPr>
          <a:xfrm>
            <a:off x="658761" y="462116"/>
            <a:ext cx="113300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Developing a Whole-Body Blood Flow Model for Dosimetric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Blood Flow Modelling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</p:txBody>
      </p:sp>
    </p:spTree>
    <p:extLst>
      <p:ext uri="{BB962C8B-B14F-4D97-AF65-F5344CB8AC3E}">
        <p14:creationId xmlns:p14="http://schemas.microsoft.com/office/powerpoint/2010/main" val="4232539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265EF-ACBA-ED1B-8505-7BFCB32E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F4CF4-3CFA-1DD1-4A01-CD5228FD6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17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101632-1576-40E0-45F2-2B0E5B1D4F74}"/>
              </a:ext>
            </a:extLst>
          </p:cNvPr>
          <p:cNvSpPr txBox="1"/>
          <p:nvPr/>
        </p:nvSpPr>
        <p:spPr>
          <a:xfrm>
            <a:off x="658761" y="462116"/>
            <a:ext cx="1133003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Developing a Whole-Body Blood Flow Model for Dosimetric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Blood Flow Modelling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Determining Dose to the Circulating Blood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Monte Carlo, </a:t>
            </a:r>
            <a:r>
              <a:rPr lang="en-CA" sz="2000" dirty="0" err="1"/>
              <a:t>EGSnrc</a:t>
            </a:r>
            <a:r>
              <a:rPr lang="en-CA" sz="2000" dirty="0"/>
              <a:t> and 4ddose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</p:txBody>
      </p:sp>
    </p:spTree>
    <p:extLst>
      <p:ext uri="{BB962C8B-B14F-4D97-AF65-F5344CB8AC3E}">
        <p14:creationId xmlns:p14="http://schemas.microsoft.com/office/powerpoint/2010/main" val="299325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28489-79B6-FB87-9AEE-77403C3F5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8B34F-1D75-5862-5F16-6C5773F00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18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CCEE3-7A38-FBB3-7D09-43C0D2D5FF21}"/>
              </a:ext>
            </a:extLst>
          </p:cNvPr>
          <p:cNvSpPr txBox="1"/>
          <p:nvPr/>
        </p:nvSpPr>
        <p:spPr>
          <a:xfrm>
            <a:off x="658761" y="462116"/>
            <a:ext cx="11330039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Developing a Whole-Body Blood Flow Model for Dosimetric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Blood Flow Modelling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Determining Dose to the Circulating Blood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Monte Carlo, </a:t>
            </a:r>
            <a:r>
              <a:rPr lang="en-CA" sz="2000" dirty="0" err="1"/>
              <a:t>EGSnrc</a:t>
            </a:r>
            <a:r>
              <a:rPr lang="en-CA" sz="2000" dirty="0"/>
              <a:t> and 4ddose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Comparing Dose to Blood Achieved by Various TBI Delivery Methods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Methods, Results, Discussion</a:t>
            </a:r>
          </a:p>
        </p:txBody>
      </p:sp>
    </p:spTree>
    <p:extLst>
      <p:ext uri="{BB962C8B-B14F-4D97-AF65-F5344CB8AC3E}">
        <p14:creationId xmlns:p14="http://schemas.microsoft.com/office/powerpoint/2010/main" val="4283616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5E25F-0FEA-C46A-D7B5-0D75365D7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A47ED-8994-B80A-6EB4-1D1067446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19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7C81F9-6851-EBEF-4A33-D2BC824DFF4C}"/>
              </a:ext>
            </a:extLst>
          </p:cNvPr>
          <p:cNvSpPr txBox="1"/>
          <p:nvPr/>
        </p:nvSpPr>
        <p:spPr>
          <a:xfrm>
            <a:off x="658761" y="462116"/>
            <a:ext cx="1133003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Developing a Whole-Body Blood Flow Model for Dosimetric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Blood Flow Modelling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Determining Dose to the Circulating Blood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Monte Carlo, </a:t>
            </a:r>
            <a:r>
              <a:rPr lang="en-CA" sz="2000" dirty="0" err="1"/>
              <a:t>EGSnrc</a:t>
            </a:r>
            <a:r>
              <a:rPr lang="en-CA" sz="2000" dirty="0"/>
              <a:t> and 4ddose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Comparing Dose to Blood Achieved by Various TBI Delivery Methods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Methods,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Future Work and Conclusion </a:t>
            </a:r>
          </a:p>
        </p:txBody>
      </p:sp>
    </p:spTree>
    <p:extLst>
      <p:ext uri="{BB962C8B-B14F-4D97-AF65-F5344CB8AC3E}">
        <p14:creationId xmlns:p14="http://schemas.microsoft.com/office/powerpoint/2010/main" val="3878184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106-55F0-72D6-E38C-FA3C695471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Timeline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9E0A3F-B2A3-D9DA-E0B8-BAD60169EA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9765-9749-4810-C154-9B68EF62C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9825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5A03C-ECD6-AD9B-70ED-91279B51D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DE98C-AF71-3EC2-1AA2-48A07353A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Began September 2020 -&gt; Deadline would be August 2026</a:t>
            </a:r>
          </a:p>
          <a:p>
            <a:r>
              <a:rPr lang="en-CA" dirty="0"/>
              <a:t>Request an extension to this deadline (2 term)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lvl="1">
              <a:buFont typeface="Arial" panose="020B0604020202020204" pitchFamily="34" charset="0"/>
              <a:buChar char="•"/>
            </a:pP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D6FCF-7365-8B41-934E-10F60AE6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6117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8983D-EBB6-683C-94AD-CAED3B79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Thank you.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B0118-3CE2-03A0-E7ED-D643FAD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8362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F005-D8FC-3965-09EF-C0002C9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Sweeping Co-60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ED8643-5835-2426-FCF3-559F7D4DD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9040" y="1825778"/>
            <a:ext cx="4704080" cy="398319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AFD76-019F-9BFE-F23A-7BC798F1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23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F293EE-6355-47C9-B385-5139240142A0}"/>
              </a:ext>
            </a:extLst>
          </p:cNvPr>
          <p:cNvSpPr txBox="1"/>
          <p:nvPr/>
        </p:nvSpPr>
        <p:spPr>
          <a:xfrm>
            <a:off x="0" y="6411514"/>
            <a:ext cx="1076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S. Hussein and E. </a:t>
            </a:r>
            <a:r>
              <a:rPr lang="en-CA" sz="1200" dirty="0" err="1"/>
              <a:t>el</a:t>
            </a:r>
            <a:r>
              <a:rPr lang="en-CA" sz="1200" dirty="0"/>
              <a:t>-Khatib, “Total body irradiation with a sweeping 60Cobalt beam,” Int J </a:t>
            </a:r>
            <a:r>
              <a:rPr lang="en-CA" sz="1200" dirty="0" err="1"/>
              <a:t>Radiat</a:t>
            </a:r>
            <a:r>
              <a:rPr lang="en-CA" sz="1200" dirty="0"/>
              <a:t> Oncol Biol Phys, vol. 33, no. 2, pp. 493–497, Sept. 1995, </a:t>
            </a:r>
            <a:r>
              <a:rPr lang="en-CA" sz="1200" dirty="0" err="1"/>
              <a:t>doi</a:t>
            </a:r>
            <a:r>
              <a:rPr lang="en-CA" sz="1200" dirty="0"/>
              <a:t>: </a:t>
            </a:r>
            <a:r>
              <a:rPr lang="en-CA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10.1016/0360-3016(95)00164-T</a:t>
            </a:r>
            <a:r>
              <a:rPr lang="en-CA" sz="120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C2F8C3-687B-3CA4-A929-FFDE18032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252" y="1825778"/>
            <a:ext cx="4677428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858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8130-042B-B4E1-C9AA-68BC013F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4CA3-D4E6-1779-B582-CDACDAEF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24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58722A-0186-76C8-81DB-DBCB03E1299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69EA45-4B9B-A788-FC47-69F62B2EFCC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B3B9F3-CB13-05BF-F629-5A4735F3A304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9784DD-7BC5-8411-A8DD-A6866B6B3705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0F56B8-79E3-0FDB-1B88-8599F40DDAB7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A06013-D998-FFA0-934C-7F382C260B25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68E942-D279-4FAC-52BB-6709C4675376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45A920-7684-4CF8-06D5-E318D761DA5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2551937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3423</TotalTime>
  <Words>1373</Words>
  <Application>Microsoft Office PowerPoint</Application>
  <PresentationFormat>Widescreen</PresentationFormat>
  <Paragraphs>214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Cambria Math</vt:lpstr>
      <vt:lpstr>Roboto</vt:lpstr>
      <vt:lpstr>Retrospect</vt:lpstr>
      <vt:lpstr>Committee Meeting</vt:lpstr>
      <vt:lpstr>Agenda</vt:lpstr>
      <vt:lpstr>How heterogenous is the dose delivered to the circulating blood volume during TBI?</vt:lpstr>
      <vt:lpstr>Thesis Proposal: Reviewed</vt:lpstr>
      <vt:lpstr>PowerPoint Presentation</vt:lpstr>
      <vt:lpstr>4ddose Outputs</vt:lpstr>
      <vt:lpstr>How is dose sampled in the 0D compartments?</vt:lpstr>
      <vt:lpstr>How is dose sampled in the blood vessels?</vt:lpstr>
      <vt:lpstr>Experimental Set-Up: Minimizing Uncertainty </vt:lpstr>
      <vt:lpstr>Experimental Set-Up: Minimizing Uncertainty </vt:lpstr>
      <vt:lpstr>Experimental Set-Up: Minimizing Uncertainty </vt:lpstr>
      <vt:lpstr>Thesis Chapter 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Timeline Update</vt:lpstr>
      <vt:lpstr>Timeline</vt:lpstr>
      <vt:lpstr>Thank you.</vt:lpstr>
      <vt:lpstr>Sweeping Co-60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BC Clinical and Support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Committee Meeting</dc:title>
  <dc:creator>Northway, Cassidy</dc:creator>
  <cp:lastModifiedBy>cbn@student.ubc.ca</cp:lastModifiedBy>
  <cp:revision>106</cp:revision>
  <dcterms:created xsi:type="dcterms:W3CDTF">2024-07-30T22:24:27Z</dcterms:created>
  <dcterms:modified xsi:type="dcterms:W3CDTF">2026-03-30T21:03:05Z</dcterms:modified>
</cp:coreProperties>
</file>