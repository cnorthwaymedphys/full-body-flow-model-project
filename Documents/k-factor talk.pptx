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2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F245F-A45B-8AB3-EFB7-3EC5C08EB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02FA8C-C329-9D23-11D7-5D0366CCC0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A30E6F-E6D1-4DE9-1637-302A46DBC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58985-4D7F-4278-B75C-6C390E2C1ADD}" type="datetimeFigureOut">
              <a:rPr lang="en-CA" smtClean="0"/>
              <a:t>12-Aug-2026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772F3-8508-BD34-4A5D-168CC074C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C5316-DB01-B5CA-E2DC-97911B2DD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C7BBB-8FC5-498C-A23A-BD197EC03E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15789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E9371-302F-027A-5CA2-15C35310D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06A4B-197E-943C-B72C-F681B8D9D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B13538-769E-278B-B3A7-74FAAF656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58985-4D7F-4278-B75C-6C390E2C1ADD}" type="datetimeFigureOut">
              <a:rPr lang="en-CA" smtClean="0"/>
              <a:t>12-Aug-2026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5FCD1E-B8C6-145E-8E85-ACFFB6103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EB645-8B2D-2C9C-92A9-B8576D3C3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C7BBB-8FC5-498C-A23A-BD197EC03E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21830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6E0AA-D85A-E12C-5C61-5FD9290CB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874402-43B2-2636-4306-D685E79F9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16CBB-73A5-AADE-E8A2-5EB17164B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58985-4D7F-4278-B75C-6C390E2C1ADD}" type="datetimeFigureOut">
              <a:rPr lang="en-CA" smtClean="0"/>
              <a:t>12-Aug-2026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2A29C5-34CC-4F8C-5351-AA769988F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20B0D7-C97E-9C2C-74E7-1F481A967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C7BBB-8FC5-498C-A23A-BD197EC03E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53637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70CDA-D8C3-5EA4-BA50-32BB03AD6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23D4F-3079-20B2-FCF6-1C3C7D02C2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7B021B-0B23-3A54-9F5E-0C41F15947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3BBB93-8401-D753-3296-54D67C1AF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58985-4D7F-4278-B75C-6C390E2C1ADD}" type="datetimeFigureOut">
              <a:rPr lang="en-CA" smtClean="0"/>
              <a:t>12-Aug-2026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3B8A58-B7F7-9964-27A8-AC402124F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4EE40-1F0F-256A-68D1-5681F52BA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C7BBB-8FC5-498C-A23A-BD197EC03E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64571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F4875-6DCB-5A99-50B2-F194268AE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B43E8D-5E4E-0ECD-287B-5C51C1657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6A8168-953C-B3C6-1900-2F55AB9450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F9F3D0-6255-8C32-50C4-DF0067ABD2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2D3B6B-35FE-0CEE-2531-28E449F57C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9B3EAE-161E-8948-E4E8-D2505CB75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58985-4D7F-4278-B75C-6C390E2C1ADD}" type="datetimeFigureOut">
              <a:rPr lang="en-CA" smtClean="0"/>
              <a:t>12-Aug-2026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CA01EB-9A63-CBD0-9C0F-506611676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48E283-2D32-2A83-4E7E-B87DFB272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C7BBB-8FC5-498C-A23A-BD197EC03E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12482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84E74-421E-7628-AB33-70E1D4262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90E91B-37A9-BBD9-93F3-8F848966D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58985-4D7F-4278-B75C-6C390E2C1ADD}" type="datetimeFigureOut">
              <a:rPr lang="en-CA" smtClean="0"/>
              <a:t>12-Aug-2026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D0E25E-CDD6-B9D4-2BAD-D7FFBE951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6B3DEA-43F2-236F-F3D0-4FE3F98E9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C7BBB-8FC5-498C-A23A-BD197EC03E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27703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72CEB0-1B6A-B627-EBA5-5BC04C1B1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58985-4D7F-4278-B75C-6C390E2C1ADD}" type="datetimeFigureOut">
              <a:rPr lang="en-CA" smtClean="0"/>
              <a:t>12-Aug-2026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23FBD2-C557-09D4-C7A6-EFE8F5A0E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067BE3-0D0B-F0E7-C618-08055392A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C7BBB-8FC5-498C-A23A-BD197EC03E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6979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DA1DE-0047-2E0A-B91E-B7FB26E59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AF31E-B13F-B206-20FC-F939A4BBDC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5A99DF-028D-0CD1-EF92-5432782EBE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938526-E9E3-652B-F565-FF9DCB40C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58985-4D7F-4278-B75C-6C390E2C1ADD}" type="datetimeFigureOut">
              <a:rPr lang="en-CA" smtClean="0"/>
              <a:t>12-Aug-2026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EAB8B6-8B78-09AD-AC28-887F2F9C7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B4BC39-209A-062D-60F4-4CCD888E6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C7BBB-8FC5-498C-A23A-BD197EC03E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05032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4FCFA-A072-88B4-43C5-E1EADB5E6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03BCA8-29AB-9B0F-6B0B-E48E6C7BF7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37A12C-C8B3-325B-0ABC-1EFBBB9638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5D7300-5266-4745-5060-C36EE1126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58985-4D7F-4278-B75C-6C390E2C1ADD}" type="datetimeFigureOut">
              <a:rPr lang="en-CA" smtClean="0"/>
              <a:t>12-Aug-2026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A0DE06-273B-8720-C2E5-288E07010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C49EBD-9700-2692-0CFE-6EE897847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C7BBB-8FC5-498C-A23A-BD197EC03E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11173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01FA5-2D8A-B62F-E785-8AD410BCD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4EB6BD-74C0-C48C-072A-350AE5393E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5286C-0E08-8578-F96F-86AFDBEAC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58985-4D7F-4278-B75C-6C390E2C1ADD}" type="datetimeFigureOut">
              <a:rPr lang="en-CA" smtClean="0"/>
              <a:t>12-Aug-2026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7A20A-6C1F-0649-2435-86014B6A3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4D64C-74A1-D405-9149-B46E7E214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C7BBB-8FC5-498C-A23A-BD197EC03E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33659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70AF15-000D-0237-FFD6-BD7AA9A600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FEDF54-2FD6-526E-8E29-370F1EF3C8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EBF6E-5DE7-2F7B-4E3C-48B555606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58985-4D7F-4278-B75C-6C390E2C1ADD}" type="datetimeFigureOut">
              <a:rPr lang="en-CA" smtClean="0"/>
              <a:t>12-Aug-2026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7F9A0-6FB6-1D21-6760-935D4D7B1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CABC9-652F-CF5C-7176-EECFA8204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C7BBB-8FC5-498C-A23A-BD197EC03E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97658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16C1ED-6DED-959C-249A-187FCC4E1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E81D7D-CC2B-6D3F-9A76-B606AFA72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D4824F-DAF1-892E-9B69-EBFD280E08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558985-4D7F-4278-B75C-6C390E2C1ADD}" type="datetimeFigureOut">
              <a:rPr lang="en-CA" smtClean="0"/>
              <a:t>12-Aug-2026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8F01C-71CA-3457-30E0-AF8386C871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E5A45C-6CE4-973F-4F3F-7BDC432809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8C7BBB-8FC5-498C-A23A-BD197EC03E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99227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08A3F-9E5C-54F6-8C85-8EBCC46B68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K factor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2D88B3-7D86-9C09-A1A3-376FE0CC5E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905619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4741E-DF04-603E-0B56-5A2FF9184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My Initial Set-Up (TG-51)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3AEF40-EA52-CD10-097C-50EA45F76092}"/>
              </a:ext>
            </a:extLst>
          </p:cNvPr>
          <p:cNvSpPr/>
          <p:nvPr/>
        </p:nvSpPr>
        <p:spPr>
          <a:xfrm>
            <a:off x="358346" y="4094204"/>
            <a:ext cx="3641128" cy="26361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4487EDE3-C752-E41B-6954-DAC369A4B1A9}"/>
              </a:ext>
            </a:extLst>
          </p:cNvPr>
          <p:cNvSpPr/>
          <p:nvPr/>
        </p:nvSpPr>
        <p:spPr>
          <a:xfrm>
            <a:off x="963827" y="1235676"/>
            <a:ext cx="2331308" cy="2858529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63648F4-947E-6FAF-3A75-A8DEB41569BD}"/>
              </a:ext>
            </a:extLst>
          </p:cNvPr>
          <p:cNvCxnSpPr>
            <a:endCxn id="5" idx="3"/>
          </p:cNvCxnSpPr>
          <p:nvPr/>
        </p:nvCxnSpPr>
        <p:spPr>
          <a:xfrm>
            <a:off x="2117124" y="1235676"/>
            <a:ext cx="12357" cy="285852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78B06BA-0014-B8BA-9629-CBD537606103}"/>
              </a:ext>
            </a:extLst>
          </p:cNvPr>
          <p:cNvSpPr txBox="1"/>
          <p:nvPr/>
        </p:nvSpPr>
        <p:spPr>
          <a:xfrm>
            <a:off x="1534296" y="2883243"/>
            <a:ext cx="119036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80 cm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4350C46-AA89-A16F-7326-9452E957BF28}"/>
              </a:ext>
            </a:extLst>
          </p:cNvPr>
          <p:cNvSpPr/>
          <p:nvPr/>
        </p:nvSpPr>
        <p:spPr>
          <a:xfrm>
            <a:off x="2051220" y="4894734"/>
            <a:ext cx="156519" cy="140043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55E9FE1-BE16-3417-97B3-A5A75C4CC9E2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2129479" y="4094205"/>
            <a:ext cx="1" cy="800529"/>
          </a:xfrm>
          <a:prstGeom prst="straightConnector1">
            <a:avLst/>
          </a:prstGeom>
          <a:ln>
            <a:solidFill>
              <a:srgbClr val="FFFF00"/>
            </a:solidFill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A7DCCBD-C280-355B-E29B-33F0749F42A9}"/>
              </a:ext>
            </a:extLst>
          </p:cNvPr>
          <p:cNvSpPr txBox="1"/>
          <p:nvPr/>
        </p:nvSpPr>
        <p:spPr>
          <a:xfrm>
            <a:off x="1521939" y="4309803"/>
            <a:ext cx="119036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10 cm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B69147A-6C82-A5AE-48F5-7B2309F32DFF}"/>
              </a:ext>
            </a:extLst>
          </p:cNvPr>
          <p:cNvCxnSpPr>
            <a:stCxn id="5" idx="2"/>
          </p:cNvCxnSpPr>
          <p:nvPr/>
        </p:nvCxnSpPr>
        <p:spPr>
          <a:xfrm>
            <a:off x="963827" y="4094205"/>
            <a:ext cx="233130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437645D-D911-9109-2252-0C97EA39E183}"/>
              </a:ext>
            </a:extLst>
          </p:cNvPr>
          <p:cNvSpPr txBox="1"/>
          <p:nvPr/>
        </p:nvSpPr>
        <p:spPr>
          <a:xfrm>
            <a:off x="2307629" y="3832593"/>
            <a:ext cx="756848" cy="26161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1050" dirty="0"/>
              <a:t>10 cm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D8C424-7A4A-586D-1FEC-C187B5C9C14D}"/>
              </a:ext>
            </a:extLst>
          </p:cNvPr>
          <p:cNvSpPr txBox="1"/>
          <p:nvPr/>
        </p:nvSpPr>
        <p:spPr>
          <a:xfrm>
            <a:off x="4802659" y="1690688"/>
            <a:ext cx="620309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Replicated the TG-51 geometry for Co-60 in MC, took voxels approx. equal to cavity radius (0.305)</a:t>
            </a:r>
          </a:p>
          <a:p>
            <a:r>
              <a:rPr lang="en-CA" dirty="0"/>
              <a:t>Ran sim x 10 -&gt; 2.0892E-15 Gy/Particle </a:t>
            </a:r>
          </a:p>
          <a:p>
            <a:r>
              <a:rPr lang="en-CA" dirty="0"/>
              <a:t>Took Aug 2020 source abs dosimetry</a:t>
            </a:r>
          </a:p>
          <a:p>
            <a:endParaRPr lang="en-CA" dirty="0"/>
          </a:p>
          <a:p>
            <a:r>
              <a:rPr lang="en-CA" dirty="0"/>
              <a:t>k = 9.76 E 14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548FF5D-CDD8-5246-6E3F-322FF4977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7014" y="4269710"/>
            <a:ext cx="6697010" cy="44773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B9E4018-8FB6-DD4A-0A1D-70E6593A6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7014" y="4767206"/>
            <a:ext cx="3381847" cy="40010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A4B6FC0-DC77-E513-6842-9D3D61226ECD}"/>
              </a:ext>
            </a:extLst>
          </p:cNvPr>
          <p:cNvSpPr txBox="1"/>
          <p:nvPr/>
        </p:nvSpPr>
        <p:spPr>
          <a:xfrm>
            <a:off x="4607014" y="5167312"/>
            <a:ext cx="5340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Dose Rate (SSD =80, 10x10, d=10) = 203.61 </a:t>
            </a:r>
            <a:r>
              <a:rPr lang="en-CA" dirty="0" err="1"/>
              <a:t>cGy</a:t>
            </a:r>
            <a:r>
              <a:rPr lang="en-CA" dirty="0"/>
              <a:t>/min</a:t>
            </a:r>
          </a:p>
        </p:txBody>
      </p:sp>
    </p:spTree>
    <p:extLst>
      <p:ext uri="{BB962C8B-B14F-4D97-AF65-F5344CB8AC3E}">
        <p14:creationId xmlns:p14="http://schemas.microsoft.com/office/powerpoint/2010/main" val="461924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4C2AE-96FD-3B2B-C16A-BD9DF2FE3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Levi’s TGI-51 Measurement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F2D33-7767-E73F-F957-0FA9B17AF4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Single run, single voxel</a:t>
            </a:r>
          </a:p>
          <a:p>
            <a:r>
              <a:rPr lang="en-CA" dirty="0"/>
              <a:t>K =   8.78 E14 (smaller than mine)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36E9F5-61C0-F8E9-852E-B70D1909E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8510" y="1949780"/>
            <a:ext cx="2992808" cy="255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837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E924E-EFD4-7569-0D6B-DA9EFAE3E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Levi’s Extended Sweeping w/ Flattening Filter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390EF-7DDD-051E-DD14-9C92EA26D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Using TGI-51 vs “Treatment” </a:t>
            </a:r>
            <a:r>
              <a:rPr lang="en-CA" dirty="0" err="1"/>
              <a:t>rdg</a:t>
            </a:r>
            <a:r>
              <a:rPr lang="en-CA" dirty="0"/>
              <a:t> ratio to convert dose rate (2020) from TG51 </a:t>
            </a:r>
            <a:r>
              <a:rPr lang="en-CA" dirty="0" err="1"/>
              <a:t>geometery</a:t>
            </a:r>
            <a:r>
              <a:rPr lang="en-CA" dirty="0"/>
              <a:t> to Treatment </a:t>
            </a:r>
          </a:p>
          <a:p>
            <a:endParaRPr lang="en-CA" dirty="0"/>
          </a:p>
          <a:p>
            <a:pPr marL="0" indent="0">
              <a:buNone/>
            </a:pPr>
            <a:r>
              <a:rPr lang="en-CA" dirty="0"/>
              <a:t>Dose rate = 11.825 </a:t>
            </a:r>
            <a:r>
              <a:rPr lang="en-CA" dirty="0" err="1"/>
              <a:t>cGy</a:t>
            </a:r>
            <a:r>
              <a:rPr lang="en-CA" dirty="0"/>
              <a:t>/min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Levi modelled sweeping  (10 sweeps)</a:t>
            </a:r>
          </a:p>
          <a:p>
            <a:r>
              <a:rPr lang="en-CA" dirty="0"/>
              <a:t>k = 9.94 E 14 (slightly larger than my value)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07EF5D-BC78-B096-AE2D-B2EDA863B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001" y="4275439"/>
            <a:ext cx="3350487" cy="359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042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D0FC1-B846-5136-EDF2-92EB4B80E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Supporting evidence to increased particles with treatment geometry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124E09-2AA5-35F9-5068-036C33490D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0810" y="1690688"/>
            <a:ext cx="5096586" cy="292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571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16ED-92E1-A18F-52EC-961C2E6F8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Other numbers on the wind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0B965-AB92-1B0F-95B2-2C897CE77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K = 1.17 E 15 (thesis) “Treatment Setup” but 5 sweeps? </a:t>
            </a:r>
          </a:p>
          <a:p>
            <a:r>
              <a:rPr lang="en-CA" dirty="0"/>
              <a:t>K = 1.1531 E 15 (instructions)</a:t>
            </a:r>
          </a:p>
        </p:txBody>
      </p:sp>
    </p:spTree>
    <p:extLst>
      <p:ext uri="{BB962C8B-B14F-4D97-AF65-F5344CB8AC3E}">
        <p14:creationId xmlns:p14="http://schemas.microsoft.com/office/powerpoint/2010/main" val="1141208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A43C6-048F-B4C0-91B0-1125DED93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5182E-99F0-217B-9474-150D40A17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Use my existing value (9.76E14)</a:t>
            </a:r>
          </a:p>
          <a:p>
            <a:pPr marL="0" indent="0">
              <a:buNone/>
            </a:pPr>
            <a:r>
              <a:rPr lang="en-US" dirty="0"/>
              <a:t>Use the measured dose rates from LB and run my own sweeping sim to recompute (?)</a:t>
            </a:r>
          </a:p>
          <a:p>
            <a:pPr marL="0" indent="0">
              <a:buNone/>
            </a:pPr>
            <a:r>
              <a:rPr lang="en-US" dirty="0"/>
              <a:t>Use Levi’s sweeping value (9.94E14)</a:t>
            </a:r>
          </a:p>
          <a:p>
            <a:pPr marL="0" indent="0">
              <a:buNone/>
            </a:pPr>
            <a:r>
              <a:rPr lang="en-CA" dirty="0"/>
              <a:t>Tune the value to achieve Rx </a:t>
            </a:r>
            <a:r>
              <a:rPr lang="en-CA"/>
              <a:t>at Rx </a:t>
            </a:r>
            <a:r>
              <a:rPr lang="en-CA" dirty="0"/>
              <a:t>point (?)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823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220</Words>
  <Application>Microsoft Office PowerPoint</Application>
  <PresentationFormat>Widescreen</PresentationFormat>
  <Paragraphs>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K factor</vt:lpstr>
      <vt:lpstr>My Initial Set-Up (TG-51)</vt:lpstr>
      <vt:lpstr>Levi’s TGI-51 Measurement</vt:lpstr>
      <vt:lpstr>Levi’s Extended Sweeping w/ Flattening Filter</vt:lpstr>
      <vt:lpstr>Supporting evidence to increased particles with treatment geometry</vt:lpstr>
      <vt:lpstr>Other numbers on the wind</vt:lpstr>
      <vt:lpstr>Options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Northway, Cassidy</dc:creator>
  <cp:lastModifiedBy>Northway, Cassidy</cp:lastModifiedBy>
  <cp:revision>5</cp:revision>
  <dcterms:created xsi:type="dcterms:W3CDTF">2026-08-06T21:48:14Z</dcterms:created>
  <dcterms:modified xsi:type="dcterms:W3CDTF">2026-08-12T17:57:28Z</dcterms:modified>
</cp:coreProperties>
</file>